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fntdata" ContentType="application/x-fontdata"/>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custom"/>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mbeddedFontLst>
    <p:embeddedFont>
      <p:font typeface="Geist" charset="0" pitchFamily="34"/>
      <p:regular r:id="rId54" uniqueId="{AEF5E271-9345-4E21-9894-2AD8A374ADA0}"/>
      <p:bold r:id="rId55" uniqueId="{C833CB93-73C5-46F6-8217-7E3231B6D9AE}"/>
    </p:embeddedFont>
    <p:embeddedFont>
      <p:font typeface="Geist ExtraBold" charset="0" pitchFamily="34"/>
      <p:regular r:id="rId56" uniqueId="{94DCD17E-4BC1-4641-9F12-F79B888F2A28}"/>
    </p:embeddedFont>
    <p:embeddedFont>
      <p:font typeface="DM Sans" charset="0" pitchFamily="34"/>
      <p:regular r:id="rId57" uniqueId="{C205D328-76D4-46A7-813A-FC2CFB4235E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font" Target="fonts/font1.fntdata"/>
<Relationship Id="rId55" Type="http://schemas.openxmlformats.org/officeDocument/2006/relationships/font" Target="fonts/font2.fntdata"/>
<Relationship Id="rId56" Type="http://schemas.openxmlformats.org/officeDocument/2006/relationships/font" Target="fonts/font3.fntdata"/>
<Relationship Id="rId57" Type="http://schemas.openxmlformats.org/officeDocument/2006/relationships/font" Target="fonts/font4.fntdata"/>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joekarlsson.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joekarlsson.co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067681" y="5400"/>
            <a:ext cx="4121400" cy="6858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4" name="TextBox 3"/>
          <p:cNvSpPr txBox="1"/>
          <p:nvPr/>
        </p:nvSpPr>
        <p:spPr>
          <a:xfrm>
            <a:off x="685628" y="1280000"/>
            <a:ext cx="5803500" cy="300000"/>
          </a:xfrm>
          <a:prstGeom prst="rect">
            <a:avLst/>
          </a:prstGeom>
          <a:noFill/>
        </p:spPr>
        <p:txBody>
          <a:bodyPr wrap="square">
            <a:spAutoFit/>
          </a:bodyPr>
          <a:lstStyle/>
          <a:p>
            <a:pPr algn="l"/>
            <a:r>
              <a:rPr sz="1200" b="1" i="0">
                <a:solidFill>
                  <a:srgbClr val="1A1A1A"/>
                </a:solidFill>
                <a:latin typeface="DM Sans"/>
              </a:rPr>
              <a:t>CDATA FINAL ROUND  ·  MAY 2026</a:t>
            </a:r>
          </a:p>
        </p:txBody>
      </p:sp>
      <p:sp>
        <p:nvSpPr>
          <p:cNvPr id="5" name="TextBox 4"/>
          <p:cNvSpPr txBox="1"/>
          <p:nvPr/>
        </p:nvSpPr>
        <p:spPr>
          <a:xfrm>
            <a:off x="685628" y="1680000"/>
            <a:ext cx="5803500" cy="1600000"/>
          </a:xfrm>
          <a:prstGeom prst="rect">
            <a:avLst/>
          </a:prstGeom>
          <a:noFill/>
        </p:spPr>
        <p:txBody>
          <a:bodyPr wrap="square">
            <a:spAutoFit/>
          </a:bodyPr>
          <a:lstStyle/>
          <a:p>
            <a:pPr algn="l"/>
            <a:r>
              <a:rPr sz="4400" b="0" i="0">
                <a:solidFill>
                  <a:srgbClr val="1A1A1A"/>
                </a:solidFill>
                <a:latin typeface="Geist ExtraBold"/>
              </a:rPr>
              <a:t>CData Connect AI — Developer GTM</a:t>
            </a:r>
          </a:p>
        </p:txBody>
      </p:sp>
      <p:sp>
        <p:nvSpPr>
          <p:cNvPr id="6" name="TextBox 5"/>
          <p:cNvSpPr txBox="1"/>
          <p:nvPr/>
        </p:nvSpPr>
        <p:spPr>
          <a:xfrm>
            <a:off x="685628" y="3450000"/>
            <a:ext cx="5803500" cy="900000"/>
          </a:xfrm>
          <a:prstGeom prst="rect">
            <a:avLst/>
          </a:prstGeom>
          <a:noFill/>
        </p:spPr>
        <p:txBody>
          <a:bodyPr wrap="square">
            <a:spAutoFit/>
          </a:bodyPr>
          <a:lstStyle/>
          <a:p>
            <a:pPr algn="l"/>
            <a:r>
              <a:rPr sz="1700" b="0" i="0">
                <a:solidFill>
                  <a:srgbClr val="808080"/>
                </a:solidFill>
                <a:latin typeface="Geist"/>
              </a:rPr>
              <a:t>A 30-minute look at the audience, the audit, and the plan.</a:t>
            </a:r>
          </a:p>
        </p:txBody>
      </p:sp>
      <p:sp>
        <p:nvSpPr>
          <p:cNvPr id="7" name="TextBox 6"/>
          <p:cNvSpPr txBox="1"/>
          <p:nvPr/>
        </p:nvSpPr>
        <p:spPr>
          <a:xfrm>
            <a:off x="685628" y="4700000"/>
            <a:ext cx="5803500" cy="370000"/>
          </a:xfrm>
          <a:prstGeom prst="rect">
            <a:avLst/>
          </a:prstGeom>
          <a:noFill/>
        </p:spPr>
        <p:txBody>
          <a:bodyPr wrap="square">
            <a:spAutoFit/>
          </a:bodyPr>
          <a:lstStyle/>
          <a:p>
            <a:pPr algn="l"/>
            <a:r>
              <a:rPr sz="1600" b="0" i="0">
                <a:solidFill>
                  <a:srgbClr val="1A1A1A"/>
                </a:solidFill>
                <a:latin typeface="Geist ExtraBold"/>
              </a:rPr>
              <a:t>Joe Karlsson</a:t>
            </a:r>
          </a:p>
        </p:txBody>
      </p:sp>
      <p:sp>
        <p:nvSpPr>
          <p:cNvPr id="8" name="TextBox 7"/>
          <p:cNvSpPr txBox="1"/>
          <p:nvPr/>
        </p:nvSpPr>
        <p:spPr>
          <a:xfrm>
            <a:off x="685628" y="5100000"/>
            <a:ext cx="5803500" cy="330000"/>
          </a:xfrm>
          <a:prstGeom prst="rect">
            <a:avLst/>
          </a:prstGeom>
          <a:noFill/>
        </p:spPr>
        <p:txBody>
          <a:bodyPr wrap="square">
            <a:spAutoFit/>
          </a:bodyPr>
          <a:lstStyle/>
          <a:p>
            <a:pPr algn="l"/>
            <a:r>
              <a:rPr sz="1300" b="0" i="0" u="none">
                <a:solidFill>
                  <a:srgbClr val="808080"/>
                </a:solidFill>
                <a:latin typeface="Geist"/>
                <a:hlinkClick r:id="rId3"/>
              </a:rPr>
              <a:t>joekarlsson.com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2400000"/>
            <a:ext cx="10820744" cy="3000000"/>
          </a:xfrm>
          <a:prstGeom prst="rect">
            <a:avLst/>
          </a:prstGeom>
          <a:noFill/>
        </p:spPr>
        <p:txBody>
          <a:bodyPr wrap="square">
            <a:spAutoFit/>
          </a:bodyPr>
          <a:lstStyle/>
          <a:p>
            <a:pPr algn="l"/>
            <a:r>
              <a:rPr sz="4400" b="0" i="0">
                <a:solidFill>
                  <a:srgbClr val="FFFFFF"/>
                </a:solidFill>
                <a:latin typeface="Geist ExtraBold"/>
              </a:rPr>
              <a:t>Before the strategy — let me show you what I built.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0" y="2529000"/>
            <a:ext cx="12192000" cy="700000"/>
          </a:xfrm>
          <a:prstGeom prst="rect">
            <a:avLst/>
          </a:prstGeom>
          <a:noFill/>
        </p:spPr>
        <p:txBody>
          <a:bodyPr wrap="square">
            <a:spAutoFit/>
          </a:bodyPr>
          <a:lstStyle/>
          <a:p>
            <a:pPr algn="ctr"/>
            <a:r>
              <a:rPr sz="4400" b="0" i="0">
                <a:solidFill>
                  <a:srgbClr val="FFE500"/>
                </a:solidFill>
                <a:latin typeface="Geist ExtraBold"/>
              </a:rPr>
              <a:t>▶</a:t>
            </a:r>
          </a:p>
        </p:txBody>
      </p:sp>
      <p:sp>
        <p:nvSpPr>
          <p:cNvPr id="4" name="TextBox 3"/>
          <p:cNvSpPr txBox="1"/>
          <p:nvPr/>
        </p:nvSpPr>
        <p:spPr>
          <a:xfrm>
            <a:off x="0" y="3279000"/>
            <a:ext cx="12192000" cy="400000"/>
          </a:xfrm>
          <a:prstGeom prst="rect">
            <a:avLst/>
          </a:prstGeom>
          <a:noFill/>
        </p:spPr>
        <p:txBody>
          <a:bodyPr wrap="square">
            <a:spAutoFit/>
          </a:bodyPr>
          <a:lstStyle/>
          <a:p>
            <a:pPr algn="ctr"/>
            <a:r>
              <a:rPr sz="1400" b="1" i="0">
                <a:solidFill>
                  <a:srgbClr val="FFE500"/>
                </a:solidFill>
                <a:latin typeface="DM Sans"/>
              </a:rPr>
              <a:t>LIVE DEMO</a:t>
            </a:r>
          </a:p>
        </p:txBody>
      </p:sp>
      <p:sp>
        <p:nvSpPr>
          <p:cNvPr id="5" name="TextBox 4"/>
          <p:cNvSpPr txBox="1"/>
          <p:nvPr/>
        </p:nvSpPr>
        <p:spPr>
          <a:xfrm>
            <a:off x="0" y="3729000"/>
            <a:ext cx="12192000" cy="500000"/>
          </a:xfrm>
          <a:prstGeom prst="rect">
            <a:avLst/>
          </a:prstGeom>
          <a:noFill/>
        </p:spPr>
        <p:txBody>
          <a:bodyPr wrap="square">
            <a:spAutoFit/>
          </a:bodyPr>
          <a:lstStyle/>
          <a:p>
            <a:pPr algn="ctr"/>
            <a:r>
              <a:rPr sz="2800" b="0" i="0">
                <a:solidFill>
                  <a:srgbClr val="F0F0F0"/>
                </a:solidFill>
                <a:latin typeface="Geist ExtraBold"/>
              </a:rPr>
              <a:t>Connect AI Agent</a:t>
            </a:r>
          </a:p>
        </p:txBody>
      </p:sp>
      <p:sp>
        <p:nvSpPr>
          <p:cNvPr id="6" name="Rounded Rectangle 5"/>
          <p:cNvSpPr/>
          <p:nvPr/>
        </p:nvSpPr>
        <p:spPr>
          <a:xfrm>
            <a:off x="1485628" y="4379000"/>
            <a:ext cx="9220744" cy="48000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85628" y="4499000"/>
            <a:ext cx="8820744" cy="270000"/>
          </a:xfrm>
          <a:prstGeom prst="rect">
            <a:avLst/>
          </a:prstGeom>
          <a:noFill/>
        </p:spPr>
        <p:txBody>
          <a:bodyPr wrap="none">
            <a:spAutoFit/>
          </a:bodyPr>
          <a:lstStyle/>
          <a:p>
            <a:pPr algn="l"/>
            <a:r>
              <a:rPr sz="1300" b="0" i="0">
                <a:solidFill>
                  <a:srgbClr val="FFE500"/>
                </a:solidFill>
                <a:latin typeface="Courier New"/>
              </a:rPr>
              <a:t>python main.py "show me the top 5 customers by total order value"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2000000"/>
            <a:ext cx="10820744" cy="1800000"/>
          </a:xfrm>
          <a:prstGeom prst="rect">
            <a:avLst/>
          </a:prstGeom>
          <a:noFill/>
        </p:spPr>
        <p:txBody>
          <a:bodyPr wrap="square">
            <a:spAutoFit/>
          </a:bodyPr>
          <a:lstStyle/>
          <a:p>
            <a:pPr algn="l"/>
            <a:r>
              <a:rPr sz="3800" b="0" i="0">
                <a:solidFill>
                  <a:srgbClr val="FFFFFF"/>
                </a:solidFill>
                <a:latin typeface="Geist ExtraBold"/>
              </a:rPr>
              <a:t>That agent just queried live enterprise data through Connect AI's MCP server.</a:t>
            </a:r>
          </a:p>
        </p:txBody>
      </p:sp>
      <p:sp>
        <p:nvSpPr>
          <p:cNvPr id="4" name="TextBox 3"/>
          <p:cNvSpPr txBox="1"/>
          <p:nvPr/>
        </p:nvSpPr>
        <p:spPr>
          <a:xfrm>
            <a:off x="685628" y="4000000"/>
            <a:ext cx="10820744" cy="700000"/>
          </a:xfrm>
          <a:prstGeom prst="rect">
            <a:avLst/>
          </a:prstGeom>
          <a:noFill/>
        </p:spPr>
        <p:txBody>
          <a:bodyPr wrap="square">
            <a:spAutoFit/>
          </a:bodyPr>
          <a:lstStyle/>
          <a:p>
            <a:pPr algn="l"/>
            <a:r>
              <a:rPr sz="2800" b="0" i="0">
                <a:solidFill>
                  <a:srgbClr val="FFE500"/>
                </a:solidFill>
                <a:latin typeface="Geist"/>
              </a:rPr>
              <a:t>No custom connector. No SQL written by hand.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E500"/>
        </a:solidFill>
        <a:effectLst/>
      </p:bgPr>
    </p:bg>
    <p:spTree>
      <p:nvGrpSpPr>
        <p:cNvPr id="1" name=""/>
        <p:cNvGrpSpPr/>
        <p:nvPr/>
      </p:nvGrpSpPr>
      <p:grpSpPr/>
      <p:pic>
        <p:nvPicPr>
          <p:cNvPr id="2" name="Picture 1" descr="cdata-logo-yellow.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400000"/>
            <a:ext cx="10820744" cy="900000"/>
          </a:xfrm>
          <a:prstGeom prst="rect">
            <a:avLst/>
          </a:prstGeom>
          <a:noFill/>
        </p:spPr>
        <p:txBody>
          <a:bodyPr wrap="square">
            <a:spAutoFit/>
          </a:bodyPr>
          <a:lstStyle/>
          <a:p>
            <a:pPr algn="l"/>
            <a:r>
              <a:rPr sz="5600" b="0" i="0">
                <a:solidFill>
                  <a:srgbClr val="1A1A1A"/>
                </a:solidFill>
                <a:latin typeface="Geist ExtraBold"/>
              </a:rPr>
              <a:t>I built it.</a:t>
            </a:r>
          </a:p>
        </p:txBody>
      </p:sp>
      <p:sp>
        <p:nvSpPr>
          <p:cNvPr id="4" name="TextBox 3"/>
          <p:cNvSpPr txBox="1"/>
          <p:nvPr/>
        </p:nvSpPr>
        <p:spPr>
          <a:xfrm>
            <a:off x="685628" y="2400000"/>
            <a:ext cx="10820744" cy="900000"/>
          </a:xfrm>
          <a:prstGeom prst="rect">
            <a:avLst/>
          </a:prstGeom>
          <a:noFill/>
        </p:spPr>
        <p:txBody>
          <a:bodyPr wrap="square">
            <a:spAutoFit/>
          </a:bodyPr>
          <a:lstStyle/>
          <a:p>
            <a:pPr algn="l"/>
            <a:r>
              <a:rPr sz="5600" b="0" i="0">
                <a:solidFill>
                  <a:srgbClr val="1A1A1A"/>
                </a:solidFill>
                <a:latin typeface="Geist ExtraBold"/>
              </a:rPr>
              <a:t>Then I broke it.</a:t>
            </a:r>
          </a:p>
        </p:txBody>
      </p:sp>
      <p:sp>
        <p:nvSpPr>
          <p:cNvPr id="5" name="TextBox 4"/>
          <p:cNvSpPr txBox="1"/>
          <p:nvPr/>
        </p:nvSpPr>
        <p:spPr>
          <a:xfrm>
            <a:off x="685628" y="3500000"/>
            <a:ext cx="10820744" cy="700000"/>
          </a:xfrm>
          <a:prstGeom prst="rect">
            <a:avLst/>
          </a:prstGeom>
          <a:noFill/>
        </p:spPr>
        <p:txBody>
          <a:bodyPr wrap="square">
            <a:spAutoFit/>
          </a:bodyPr>
          <a:lstStyle/>
          <a:p>
            <a:pPr algn="l"/>
            <a:r>
              <a:rPr sz="3200" b="0" i="0">
                <a:solidFill>
                  <a:srgbClr val="1A1A1A"/>
                </a:solidFill>
                <a:latin typeface="Geist"/>
              </a:rPr>
              <a:t>Here's what I found.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PART 1: THE OPPORTUNITY</a:t>
            </a:r>
          </a:p>
        </p:txBody>
      </p:sp>
      <p:sp>
        <p:nvSpPr>
          <p:cNvPr id="4" name="TextBox 3"/>
          <p:cNvSpPr txBox="1"/>
          <p:nvPr/>
        </p:nvSpPr>
        <p:spPr>
          <a:xfrm>
            <a:off x="685628" y="1400000"/>
            <a:ext cx="10820744" cy="1400000"/>
          </a:xfrm>
          <a:prstGeom prst="rect">
            <a:avLst/>
          </a:prstGeom>
          <a:noFill/>
        </p:spPr>
        <p:txBody>
          <a:bodyPr wrap="square">
            <a:spAutoFit/>
          </a:bodyPr>
          <a:lstStyle/>
          <a:p>
            <a:pPr algn="l"/>
            <a:r>
              <a:rPr sz="3000" b="0" i="0">
                <a:solidFill>
                  <a:srgbClr val="1A1A1A"/>
                </a:solidFill>
                <a:latin typeface="Geist ExtraBold"/>
              </a:rPr>
              <a:t>There is a developer right now building an AI agent that needs to query Salesforce and NetSuite together.</a:t>
            </a:r>
          </a:p>
        </p:txBody>
      </p:sp>
      <p:sp>
        <p:nvSpPr>
          <p:cNvPr id="5" name="TextBox 4"/>
          <p:cNvSpPr txBox="1"/>
          <p:nvPr/>
        </p:nvSpPr>
        <p:spPr>
          <a:xfrm>
            <a:off x="685628" y="3000000"/>
            <a:ext cx="10820744" cy="700000"/>
          </a:xfrm>
          <a:prstGeom prst="rect">
            <a:avLst/>
          </a:prstGeom>
          <a:noFill/>
        </p:spPr>
        <p:txBody>
          <a:bodyPr wrap="square">
            <a:spAutoFit/>
          </a:bodyPr>
          <a:lstStyle/>
          <a:p>
            <a:pPr algn="l"/>
            <a:r>
              <a:rPr sz="2400" b="0" i="0">
                <a:solidFill>
                  <a:srgbClr val="4A4A4A"/>
                </a:solidFill>
                <a:latin typeface="Geist"/>
              </a:rPr>
              <a:t>They Googled it. They asked Claude. They checked GitHub.</a:t>
            </a:r>
          </a:p>
        </p:txBody>
      </p:sp>
      <p:sp>
        <p:nvSpPr>
          <p:cNvPr id="6" name="TextBox 5"/>
          <p:cNvSpPr txBox="1"/>
          <p:nvPr/>
        </p:nvSpPr>
        <p:spPr>
          <a:xfrm>
            <a:off x="685628" y="3800000"/>
            <a:ext cx="10820744" cy="600000"/>
          </a:xfrm>
          <a:prstGeom prst="rect">
            <a:avLst/>
          </a:prstGeom>
          <a:noFill/>
        </p:spPr>
        <p:txBody>
          <a:bodyPr wrap="square">
            <a:spAutoFit/>
          </a:bodyPr>
          <a:lstStyle/>
          <a:p>
            <a:pPr algn="l"/>
            <a:r>
              <a:rPr sz="2400" b="0" i="0">
                <a:solidFill>
                  <a:srgbClr val="4A4A4A"/>
                </a:solidFill>
                <a:latin typeface="Geist"/>
              </a:rPr>
              <a:t>Composio came up. Custom connector tutorials came up.</a:t>
            </a:r>
          </a:p>
        </p:txBody>
      </p:sp>
      <p:sp>
        <p:nvSpPr>
          <p:cNvPr id="7" name="TextBox 6"/>
          <p:cNvSpPr txBox="1"/>
          <p:nvPr/>
        </p:nvSpPr>
        <p:spPr>
          <a:xfrm>
            <a:off x="685628" y="4550000"/>
            <a:ext cx="10820744" cy="580000"/>
          </a:xfrm>
          <a:prstGeom prst="rect">
            <a:avLst/>
          </a:prstGeom>
          <a:noFill/>
        </p:spPr>
        <p:txBody>
          <a:bodyPr wrap="square">
            <a:spAutoFit/>
          </a:bodyPr>
          <a:lstStyle/>
          <a:p>
            <a:pPr algn="l"/>
            <a:r>
              <a:rPr sz="2800" b="0" i="0">
                <a:solidFill>
                  <a:srgbClr val="1A1A1A"/>
                </a:solidFill>
                <a:latin typeface="Geist ExtraBold"/>
              </a:rPr>
              <a:t>CData didn't come up.</a:t>
            </a:r>
          </a:p>
        </p:txBody>
      </p:sp>
      <p:sp>
        <p:nvSpPr>
          <p:cNvPr id="8" name="Rectangle 7"/>
          <p:cNvSpPr/>
          <p:nvPr/>
        </p:nvSpPr>
        <p:spPr>
          <a:xfrm>
            <a:off x="685628" y="5280000"/>
            <a:ext cx="10820744" cy="34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628" y="5380000"/>
            <a:ext cx="10820744" cy="480000"/>
          </a:xfrm>
          <a:prstGeom prst="rect">
            <a:avLst/>
          </a:prstGeom>
          <a:noFill/>
        </p:spPr>
        <p:txBody>
          <a:bodyPr wrap="square">
            <a:spAutoFit/>
          </a:bodyPr>
          <a:lstStyle/>
          <a:p>
            <a:pPr algn="l"/>
            <a:r>
              <a:rPr sz="1600" b="0" i="0">
                <a:solidFill>
                  <a:srgbClr val="1A1A1A"/>
                </a:solidFill>
                <a:latin typeface="Geist"/>
              </a:rPr>
              <a:t>CData Connect AI is exactly what they need. They just can't find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600000"/>
            <a:ext cx="10820744" cy="1800000"/>
          </a:xfrm>
          <a:prstGeom prst="rect">
            <a:avLst/>
          </a:prstGeom>
          <a:noFill/>
        </p:spPr>
        <p:txBody>
          <a:bodyPr wrap="square">
            <a:spAutoFit/>
          </a:bodyPr>
          <a:lstStyle/>
          <a:p>
            <a:pPr algn="l"/>
            <a:r>
              <a:rPr sz="3000" b="0" i="0">
                <a:solidFill>
                  <a:srgbClr val="1A1A1A"/>
                </a:solidFill>
                <a:latin typeface="Geist ExtraBold"/>
              </a:rPr>
              <a:t>They want their AI agent to answer questions about Salesforce pipeline and NetSuite financials in one query.</a:t>
            </a:r>
          </a:p>
        </p:txBody>
      </p:sp>
      <p:sp>
        <p:nvSpPr>
          <p:cNvPr id="4" name="TextBox 3"/>
          <p:cNvSpPr txBox="1"/>
          <p:nvPr/>
        </p:nvSpPr>
        <p:spPr>
          <a:xfrm>
            <a:off x="685628" y="3600000"/>
            <a:ext cx="10820744" cy="800000"/>
          </a:xfrm>
          <a:prstGeom prst="rect">
            <a:avLst/>
          </a:prstGeom>
          <a:noFill/>
        </p:spPr>
        <p:txBody>
          <a:bodyPr wrap="square">
            <a:spAutoFit/>
          </a:bodyPr>
          <a:lstStyle/>
          <a:p>
            <a:pPr algn="l"/>
            <a:r>
              <a:rPr sz="2200" b="0" i="0">
                <a:solidFill>
                  <a:srgbClr val="4A4A4A"/>
                </a:solidFill>
                <a:latin typeface="Geist"/>
              </a:rPr>
              <a:t>Two different auth models.  Two different APIs.  A maintenance burden they own forever.</a:t>
            </a:r>
          </a:p>
        </p:txBody>
      </p:sp>
      <p:sp>
        <p:nvSpPr>
          <p:cNvPr id="5" name="TextBox 4"/>
          <p:cNvSpPr txBox="1"/>
          <p:nvPr/>
        </p:nvSpPr>
        <p:spPr>
          <a:xfrm>
            <a:off x="685628" y="4500000"/>
            <a:ext cx="10820744" cy="600000"/>
          </a:xfrm>
          <a:prstGeom prst="rect">
            <a:avLst/>
          </a:prstGeom>
          <a:noFill/>
        </p:spPr>
        <p:txBody>
          <a:bodyPr wrap="square">
            <a:spAutoFit/>
          </a:bodyPr>
          <a:lstStyle/>
          <a:p>
            <a:pPr algn="l"/>
            <a:r>
              <a:rPr sz="2200" b="0" i="0">
                <a:solidFill>
                  <a:srgbClr val="1A1A1A"/>
                </a:solidFill>
                <a:latin typeface="Geist ExtraBold"/>
              </a:rPr>
              <a:t>Unless someone has already solved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000000"/>
            <a:ext cx="10820744" cy="1000000"/>
          </a:xfrm>
          <a:prstGeom prst="rect">
            <a:avLst/>
          </a:prstGeom>
          <a:noFill/>
        </p:spPr>
        <p:txBody>
          <a:bodyPr wrap="none">
            <a:spAutoFit/>
          </a:bodyPr>
          <a:lstStyle/>
          <a:p>
            <a:pPr algn="l"/>
            <a:r>
              <a:rPr sz="5200" b="0" i="0">
                <a:solidFill>
                  <a:srgbClr val="FFFFFF"/>
                </a:solidFill>
                <a:latin typeface="Geist ExtraBold"/>
              </a:rPr>
              <a:t>Salesforce.</a:t>
            </a:r>
          </a:p>
        </p:txBody>
      </p:sp>
      <p:sp>
        <p:nvSpPr>
          <p:cNvPr id="4" name="TextBox 3"/>
          <p:cNvSpPr txBox="1"/>
          <p:nvPr/>
        </p:nvSpPr>
        <p:spPr>
          <a:xfrm>
            <a:off x="685628" y="2200000"/>
            <a:ext cx="10820744" cy="1000000"/>
          </a:xfrm>
          <a:prstGeom prst="rect">
            <a:avLst/>
          </a:prstGeom>
          <a:noFill/>
        </p:spPr>
        <p:txBody>
          <a:bodyPr wrap="none">
            <a:spAutoFit/>
          </a:bodyPr>
          <a:lstStyle/>
          <a:p>
            <a:pPr algn="l"/>
            <a:r>
              <a:rPr sz="5200" b="0" i="0">
                <a:solidFill>
                  <a:srgbClr val="FFFFFF"/>
                </a:solidFill>
                <a:latin typeface="Geist ExtraBold"/>
              </a:rPr>
              <a:t>SAP.</a:t>
            </a:r>
          </a:p>
        </p:txBody>
      </p:sp>
      <p:sp>
        <p:nvSpPr>
          <p:cNvPr id="5" name="TextBox 4"/>
          <p:cNvSpPr txBox="1"/>
          <p:nvPr/>
        </p:nvSpPr>
        <p:spPr>
          <a:xfrm>
            <a:off x="685628" y="3400000"/>
            <a:ext cx="10820744" cy="1000000"/>
          </a:xfrm>
          <a:prstGeom prst="rect">
            <a:avLst/>
          </a:prstGeom>
          <a:noFill/>
        </p:spPr>
        <p:txBody>
          <a:bodyPr wrap="none">
            <a:spAutoFit/>
          </a:bodyPr>
          <a:lstStyle/>
          <a:p>
            <a:pPr algn="l"/>
            <a:r>
              <a:rPr sz="5200" b="0" i="0">
                <a:solidFill>
                  <a:srgbClr val="FFFFFF"/>
                </a:solidFill>
                <a:latin typeface="Geist ExtraBold"/>
              </a:rPr>
              <a:t>Workday.</a:t>
            </a:r>
          </a:p>
        </p:txBody>
      </p:sp>
      <p:sp>
        <p:nvSpPr>
          <p:cNvPr id="6" name="TextBox 5"/>
          <p:cNvSpPr txBox="1"/>
          <p:nvPr/>
        </p:nvSpPr>
        <p:spPr>
          <a:xfrm>
            <a:off x="685628" y="4600000"/>
            <a:ext cx="10820744" cy="1000000"/>
          </a:xfrm>
          <a:prstGeom prst="rect">
            <a:avLst/>
          </a:prstGeom>
          <a:noFill/>
        </p:spPr>
        <p:txBody>
          <a:bodyPr wrap="none">
            <a:spAutoFit/>
          </a:bodyPr>
          <a:lstStyle/>
          <a:p>
            <a:pPr algn="l"/>
            <a:r>
              <a:rPr sz="5200" b="0" i="0">
                <a:solidFill>
                  <a:srgbClr val="FFFFFF"/>
                </a:solidFill>
                <a:latin typeface="Geist ExtraBold"/>
              </a:rPr>
              <a:t>NetSuite.</a:t>
            </a:r>
          </a:p>
        </p:txBody>
      </p:sp>
      <p:sp>
        <p:nvSpPr>
          <p:cNvPr id="7" name="TextBox 6"/>
          <p:cNvSpPr txBox="1"/>
          <p:nvPr/>
        </p:nvSpPr>
        <p:spPr>
          <a:xfrm>
            <a:off x="685628" y="5800000"/>
            <a:ext cx="10820744" cy="500000"/>
          </a:xfrm>
          <a:prstGeom prst="rect">
            <a:avLst/>
          </a:prstGeom>
          <a:noFill/>
        </p:spPr>
        <p:txBody>
          <a:bodyPr wrap="square">
            <a:spAutoFit/>
          </a:bodyPr>
          <a:lstStyle/>
          <a:p>
            <a:pPr algn="l"/>
            <a:r>
              <a:rPr sz="1500" b="0" i="0">
                <a:solidFill>
                  <a:srgbClr val="808080"/>
                </a:solidFill>
                <a:latin typeface="Geist"/>
              </a:rPr>
              <a:t>The data that runs their business, connected to the AI agents they're building.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900000"/>
            <a:ext cx="10820744" cy="1600000"/>
          </a:xfrm>
          <a:prstGeom prst="rect">
            <a:avLst/>
          </a:prstGeom>
          <a:noFill/>
        </p:spPr>
        <p:txBody>
          <a:bodyPr wrap="square">
            <a:spAutoFit/>
          </a:bodyPr>
          <a:lstStyle/>
          <a:p>
            <a:pPr algn="l"/>
            <a:r>
              <a:rPr sz="4000" b="0" i="0">
                <a:solidFill>
                  <a:srgbClr val="1A1A1A"/>
                </a:solidFill>
                <a:latin typeface="Geist ExtraBold"/>
              </a:rPr>
              <a:t>CData has nearly two decades of enterprise connector experience.</a:t>
            </a:r>
          </a:p>
        </p:txBody>
      </p:sp>
      <p:sp>
        <p:nvSpPr>
          <p:cNvPr id="4" name="TextBox 3"/>
          <p:cNvSpPr txBox="1"/>
          <p:nvPr/>
        </p:nvSpPr>
        <p:spPr>
          <a:xfrm>
            <a:off x="685628" y="3700000"/>
            <a:ext cx="10820744" cy="900000"/>
          </a:xfrm>
          <a:prstGeom prst="rect">
            <a:avLst/>
          </a:prstGeom>
          <a:noFill/>
        </p:spPr>
        <p:txBody>
          <a:bodyPr wrap="square">
            <a:spAutoFit/>
          </a:bodyPr>
          <a:lstStyle/>
          <a:p>
            <a:pPr algn="l"/>
            <a:r>
              <a:rPr sz="2200" b="0" i="0">
                <a:solidFill>
                  <a:srgbClr val="4A4A4A"/>
                </a:solidFill>
                <a:latin typeface="Geist"/>
              </a:rPr>
              <a:t>More sources, more security, more production reliability than anyone else in this space.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700000"/>
            <a:ext cx="10820744" cy="1400000"/>
          </a:xfrm>
          <a:prstGeom prst="rect">
            <a:avLst/>
          </a:prstGeom>
          <a:noFill/>
        </p:spPr>
        <p:txBody>
          <a:bodyPr wrap="square">
            <a:spAutoFit/>
          </a:bodyPr>
          <a:lstStyle/>
          <a:p>
            <a:pPr algn="l"/>
            <a:r>
              <a:rPr sz="3200" b="0" i="0">
                <a:solidFill>
                  <a:srgbClr val="1A1A1A"/>
                </a:solidFill>
                <a:latin typeface="Geist ExtraBold"/>
              </a:rPr>
              <a:t>CData built that reputation talking to enterprise buyers and the driver community.</a:t>
            </a:r>
          </a:p>
        </p:txBody>
      </p:sp>
      <p:sp>
        <p:nvSpPr>
          <p:cNvPr id="4" name="Rectangle 3"/>
          <p:cNvSpPr/>
          <p:nvPr/>
        </p:nvSpPr>
        <p:spPr>
          <a:xfrm>
            <a:off x="685628" y="3400000"/>
            <a:ext cx="120000" cy="12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628" y="3370000"/>
            <a:ext cx="10520744" cy="700000"/>
          </a:xfrm>
          <a:prstGeom prst="rect">
            <a:avLst/>
          </a:prstGeom>
          <a:noFill/>
        </p:spPr>
        <p:txBody>
          <a:bodyPr wrap="square">
            <a:spAutoFit/>
          </a:bodyPr>
          <a:lstStyle/>
          <a:p>
            <a:pPr algn="l"/>
            <a:r>
              <a:rPr sz="2800" b="0" i="0">
                <a:solidFill>
                  <a:srgbClr val="1A1A1A"/>
                </a:solidFill>
                <a:latin typeface="Geist ExtraBold"/>
              </a:rPr>
              <a:t>This AI developer audience hasn't been reached yet.</a:t>
            </a:r>
          </a:p>
        </p:txBody>
      </p:sp>
      <p:sp>
        <p:nvSpPr>
          <p:cNvPr id="6" name="TextBox 5"/>
          <p:cNvSpPr txBox="1"/>
          <p:nvPr/>
        </p:nvSpPr>
        <p:spPr>
          <a:xfrm>
            <a:off x="685628" y="4250000"/>
            <a:ext cx="10820744" cy="600000"/>
          </a:xfrm>
          <a:prstGeom prst="rect">
            <a:avLst/>
          </a:prstGeom>
          <a:noFill/>
        </p:spPr>
        <p:txBody>
          <a:bodyPr wrap="square">
            <a:spAutoFit/>
          </a:bodyPr>
          <a:lstStyle/>
          <a:p>
            <a:pPr algn="l"/>
            <a:r>
              <a:rPr sz="2200" b="0" i="0">
                <a:solidFill>
                  <a:srgbClr val="4A4A4A"/>
                </a:solidFill>
                <a:latin typeface="Geist"/>
              </a:rPr>
              <a:t>That's the opportunity.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FFE500"/>
                </a:solidFill>
                <a:latin typeface="DM Sans"/>
              </a:rPr>
              <a:t>THE AUDIENCE</a:t>
            </a:r>
          </a:p>
        </p:txBody>
      </p:sp>
      <p:sp>
        <p:nvSpPr>
          <p:cNvPr id="4" name="TextBox 3"/>
          <p:cNvSpPr txBox="1"/>
          <p:nvPr/>
        </p:nvSpPr>
        <p:spPr>
          <a:xfrm>
            <a:off x="685628" y="2000000"/>
            <a:ext cx="10820744" cy="2600000"/>
          </a:xfrm>
          <a:prstGeom prst="rect">
            <a:avLst/>
          </a:prstGeom>
          <a:noFill/>
        </p:spPr>
        <p:txBody>
          <a:bodyPr wrap="square">
            <a:spAutoFit/>
          </a:bodyPr>
          <a:lstStyle/>
          <a:p>
            <a:pPr algn="l"/>
            <a:r>
              <a:rPr sz="4800" b="0" i="0">
                <a:solidFill>
                  <a:srgbClr val="FFFFFF"/>
                </a:solidFill>
                <a:latin typeface="Geist ExtraBold"/>
              </a:rPr>
              <a:t>Three distinct audiences. Three completely different ways they find us.</a:t>
            </a:r>
          </a:p>
        </p:txBody>
      </p:sp>
      <p:sp>
        <p:nvSpPr>
          <p:cNvPr id="5" name="TextBox 4"/>
          <p:cNvSpPr txBox="1"/>
          <p:nvPr/>
        </p:nvSpPr>
        <p:spPr>
          <a:xfrm>
            <a:off x="685628" y="4800000"/>
            <a:ext cx="10820744" cy="800000"/>
          </a:xfrm>
          <a:prstGeom prst="rect">
            <a:avLst/>
          </a:prstGeom>
          <a:noFill/>
        </p:spPr>
        <p:txBody>
          <a:bodyPr wrap="square">
            <a:spAutoFit/>
          </a:bodyPr>
          <a:lstStyle/>
          <a:p>
            <a:pPr algn="l"/>
            <a:r>
              <a:rPr sz="2000" b="0" i="0">
                <a:solidFill>
                  <a:srgbClr val="808080"/>
                </a:solidFill>
                <a:latin typeface="Geist"/>
              </a:rPr>
              <a:t>Getting this right is the structural problem PMM needs to solve.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AUDIENCE 1</a:t>
            </a:r>
          </a:p>
        </p:txBody>
      </p:sp>
      <p:sp>
        <p:nvSpPr>
          <p:cNvPr id="4" name="TextBox 3"/>
          <p:cNvSpPr txBox="1"/>
          <p:nvPr/>
        </p:nvSpPr>
        <p:spPr>
          <a:xfrm>
            <a:off x="685628" y="620000"/>
            <a:ext cx="10820744" cy="900000"/>
          </a:xfrm>
          <a:prstGeom prst="rect">
            <a:avLst/>
          </a:prstGeom>
          <a:noFill/>
        </p:spPr>
        <p:txBody>
          <a:bodyPr wrap="none">
            <a:spAutoFit/>
          </a:bodyPr>
          <a:lstStyle/>
          <a:p>
            <a:pPr algn="l"/>
            <a:r>
              <a:rPr sz="5200" b="0" i="0">
                <a:solidFill>
                  <a:srgbClr val="1A1A1A"/>
                </a:solidFill>
                <a:latin typeface="Geist ExtraBold"/>
              </a:rPr>
              <a:t>LLM Agents</a:t>
            </a:r>
          </a:p>
        </p:txBody>
      </p:sp>
      <p:sp>
        <p:nvSpPr>
          <p:cNvPr id="5" name="TextBox 4"/>
          <p:cNvSpPr txBox="1"/>
          <p:nvPr/>
        </p:nvSpPr>
        <p:spPr>
          <a:xfrm>
            <a:off x="685628" y="1620000"/>
            <a:ext cx="10820744" cy="500000"/>
          </a:xfrm>
          <a:prstGeom prst="rect">
            <a:avLst/>
          </a:prstGeom>
          <a:noFill/>
        </p:spPr>
        <p:txBody>
          <a:bodyPr wrap="square">
            <a:spAutoFit/>
          </a:bodyPr>
          <a:lstStyle/>
          <a:p>
            <a:pPr algn="l"/>
            <a:r>
              <a:rPr sz="2000" b="0" i="0">
                <a:solidFill>
                  <a:srgbClr val="808080"/>
                </a:solidFill>
                <a:latin typeface="Geist"/>
              </a:rPr>
              <a:t>Claude. Cursor. Copilot.</a:t>
            </a:r>
          </a:p>
        </p:txBody>
      </p:sp>
      <p:sp>
        <p:nvSpPr>
          <p:cNvPr id="6" name="Rectangle 5"/>
          <p:cNvSpPr/>
          <p:nvPr/>
        </p:nvSpPr>
        <p:spPr>
          <a:xfrm>
            <a:off x="685628" y="274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5628" y="2600000"/>
            <a:ext cx="10560744" cy="420000"/>
          </a:xfrm>
          <a:prstGeom prst="rect">
            <a:avLst/>
          </a:prstGeom>
          <a:noFill/>
        </p:spPr>
        <p:txBody>
          <a:bodyPr wrap="square">
            <a:spAutoFit/>
          </a:bodyPr>
          <a:lstStyle/>
          <a:p>
            <a:pPr algn="l"/>
            <a:r>
              <a:rPr sz="2000" b="0" i="0">
                <a:solidFill>
                  <a:srgbClr val="1A1A1A"/>
                </a:solidFill>
                <a:latin typeface="Geist"/>
              </a:rPr>
              <a:t>Structured data they can read and index</a:t>
            </a:r>
          </a:p>
        </p:txBody>
      </p:sp>
      <p:sp>
        <p:nvSpPr>
          <p:cNvPr id="8" name="Rectangle 7"/>
          <p:cNvSpPr/>
          <p:nvPr/>
        </p:nvSpPr>
        <p:spPr>
          <a:xfrm>
            <a:off x="685628" y="326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5628" y="3120000"/>
            <a:ext cx="10560744" cy="420000"/>
          </a:xfrm>
          <a:prstGeom prst="rect">
            <a:avLst/>
          </a:prstGeom>
          <a:noFill/>
        </p:spPr>
        <p:txBody>
          <a:bodyPr wrap="square">
            <a:spAutoFit/>
          </a:bodyPr>
          <a:lstStyle/>
          <a:p>
            <a:pPr algn="l"/>
            <a:r>
              <a:rPr sz="2000" b="0" i="0">
                <a:solidFill>
                  <a:srgbClr val="1A1A1A"/>
                </a:solidFill>
                <a:latin typeface="Geist"/>
              </a:rPr>
              <a:t>A useful llms.txt — not a sitemap, a product guide</a:t>
            </a:r>
          </a:p>
        </p:txBody>
      </p:sp>
      <p:sp>
        <p:nvSpPr>
          <p:cNvPr id="10" name="Rectangle 9"/>
          <p:cNvSpPr/>
          <p:nvPr/>
        </p:nvSpPr>
        <p:spPr>
          <a:xfrm>
            <a:off x="685628" y="378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28" y="3640000"/>
            <a:ext cx="10560744" cy="420000"/>
          </a:xfrm>
          <a:prstGeom prst="rect">
            <a:avLst/>
          </a:prstGeom>
          <a:noFill/>
        </p:spPr>
        <p:txBody>
          <a:bodyPr wrap="square">
            <a:spAutoFit/>
          </a:bodyPr>
          <a:lstStyle/>
          <a:p>
            <a:pPr algn="l"/>
            <a:r>
              <a:rPr sz="2000" b="0" i="0">
                <a:solidFill>
                  <a:srgbClr val="1A1A1A"/>
                </a:solidFill>
                <a:latin typeface="Geist"/>
              </a:rPr>
              <a:t>Agent-readable docs so they recommend CData when a developer asks for help</a:t>
            </a:r>
          </a:p>
        </p:txBody>
      </p:sp>
      <p:sp>
        <p:nvSpPr>
          <p:cNvPr id="12" name="TextBox 11"/>
          <p:cNvSpPr txBox="1"/>
          <p:nvPr/>
        </p:nvSpPr>
        <p:spPr>
          <a:xfrm>
            <a:off x="685628" y="4500000"/>
            <a:ext cx="10820744" cy="400000"/>
          </a:xfrm>
          <a:prstGeom prst="rect">
            <a:avLst/>
          </a:prstGeom>
          <a:noFill/>
        </p:spPr>
        <p:txBody>
          <a:bodyPr wrap="square">
            <a:spAutoFit/>
          </a:bodyPr>
          <a:lstStyle/>
          <a:p>
            <a:pPr algn="l"/>
            <a:r>
              <a:rPr sz="1400" b="0" i="0">
                <a:solidFill>
                  <a:srgbClr val="808080"/>
                </a:solidFill>
                <a:latin typeface="Geist"/>
              </a:rPr>
              <a:t>They discover CData through training data, indexed docs, and structured content.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AUDIENCE 2</a:t>
            </a:r>
          </a:p>
        </p:txBody>
      </p:sp>
      <p:sp>
        <p:nvSpPr>
          <p:cNvPr id="4" name="TextBox 3"/>
          <p:cNvSpPr txBox="1"/>
          <p:nvPr/>
        </p:nvSpPr>
        <p:spPr>
          <a:xfrm>
            <a:off x="685628" y="620000"/>
            <a:ext cx="10820744" cy="900000"/>
          </a:xfrm>
          <a:prstGeom prst="rect">
            <a:avLst/>
          </a:prstGeom>
          <a:noFill/>
        </p:spPr>
        <p:txBody>
          <a:bodyPr wrap="none">
            <a:spAutoFit/>
          </a:bodyPr>
          <a:lstStyle/>
          <a:p>
            <a:pPr algn="l"/>
            <a:r>
              <a:rPr sz="5200" b="0" i="0">
                <a:solidFill>
                  <a:srgbClr val="1A1A1A"/>
                </a:solidFill>
                <a:latin typeface="Geist ExtraBold"/>
              </a:rPr>
              <a:t>AI Developers</a:t>
            </a:r>
          </a:p>
        </p:txBody>
      </p:sp>
      <p:sp>
        <p:nvSpPr>
          <p:cNvPr id="5" name="TextBox 4"/>
          <p:cNvSpPr txBox="1"/>
          <p:nvPr/>
        </p:nvSpPr>
        <p:spPr>
          <a:xfrm>
            <a:off x="685628" y="1620000"/>
            <a:ext cx="10820744" cy="500000"/>
          </a:xfrm>
          <a:prstGeom prst="rect">
            <a:avLst/>
          </a:prstGeom>
          <a:noFill/>
        </p:spPr>
        <p:txBody>
          <a:bodyPr wrap="square">
            <a:spAutoFit/>
          </a:bodyPr>
          <a:lstStyle/>
          <a:p>
            <a:pPr algn="l"/>
            <a:r>
              <a:rPr sz="2000" b="0" i="0">
                <a:solidFill>
                  <a:srgbClr val="808080"/>
                </a:solidFill>
                <a:latin typeface="Geist"/>
              </a:rPr>
              <a:t>The builders. They clone repos, hit APIs, and decide in 20 minutes.</a:t>
            </a:r>
          </a:p>
        </p:txBody>
      </p:sp>
      <p:sp>
        <p:nvSpPr>
          <p:cNvPr id="6" name="Rectangle 5"/>
          <p:cNvSpPr/>
          <p:nvPr/>
        </p:nvSpPr>
        <p:spPr>
          <a:xfrm>
            <a:off x="685628" y="274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5628" y="2600000"/>
            <a:ext cx="10560744" cy="420000"/>
          </a:xfrm>
          <a:prstGeom prst="rect">
            <a:avLst/>
          </a:prstGeom>
          <a:noFill/>
        </p:spPr>
        <p:txBody>
          <a:bodyPr wrap="square">
            <a:spAutoFit/>
          </a:bodyPr>
          <a:lstStyle/>
          <a:p>
            <a:pPr algn="l"/>
            <a:r>
              <a:rPr sz="2000" b="0" i="0">
                <a:solidFill>
                  <a:srgbClr val="1A1A1A"/>
                </a:solidFill>
                <a:latin typeface="Geist"/>
              </a:rPr>
              <a:t>GitHub examples they can clone and run</a:t>
            </a:r>
          </a:p>
        </p:txBody>
      </p:sp>
      <p:sp>
        <p:nvSpPr>
          <p:cNvPr id="8" name="Rectangle 7"/>
          <p:cNvSpPr/>
          <p:nvPr/>
        </p:nvSpPr>
        <p:spPr>
          <a:xfrm>
            <a:off x="685628" y="326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5628" y="3120000"/>
            <a:ext cx="10560744" cy="420000"/>
          </a:xfrm>
          <a:prstGeom prst="rect">
            <a:avLst/>
          </a:prstGeom>
          <a:noFill/>
        </p:spPr>
        <p:txBody>
          <a:bodyPr wrap="square">
            <a:spAutoFit/>
          </a:bodyPr>
          <a:lstStyle/>
          <a:p>
            <a:pPr algn="l"/>
            <a:r>
              <a:rPr sz="2000" b="0" i="0">
                <a:solidFill>
                  <a:srgbClr val="1A1A1A"/>
                </a:solidFill>
                <a:latin typeface="Geist"/>
              </a:rPr>
              <a:t>A clear entry point built for agent builders, not platform evaluators</a:t>
            </a:r>
          </a:p>
        </p:txBody>
      </p:sp>
      <p:sp>
        <p:nvSpPr>
          <p:cNvPr id="10" name="Rectangle 9"/>
          <p:cNvSpPr/>
          <p:nvPr/>
        </p:nvSpPr>
        <p:spPr>
          <a:xfrm>
            <a:off x="685628" y="378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28" y="3640000"/>
            <a:ext cx="10560744" cy="420000"/>
          </a:xfrm>
          <a:prstGeom prst="rect">
            <a:avLst/>
          </a:prstGeom>
          <a:noFill/>
        </p:spPr>
        <p:txBody>
          <a:bodyPr wrap="square">
            <a:spAutoFit/>
          </a:bodyPr>
          <a:lstStyle/>
          <a:p>
            <a:pPr algn="l"/>
            <a:r>
              <a:rPr sz="2000" b="0" i="0">
                <a:solidFill>
                  <a:srgbClr val="1A1A1A"/>
                </a:solidFill>
                <a:latin typeface="Geist"/>
              </a:rPr>
              <a:t>Comparison content that earns the recommendation</a:t>
            </a:r>
          </a:p>
        </p:txBody>
      </p:sp>
      <p:sp>
        <p:nvSpPr>
          <p:cNvPr id="12" name="TextBox 11"/>
          <p:cNvSpPr txBox="1"/>
          <p:nvPr/>
        </p:nvSpPr>
        <p:spPr>
          <a:xfrm>
            <a:off x="685628" y="4500000"/>
            <a:ext cx="10820744" cy="400000"/>
          </a:xfrm>
          <a:prstGeom prst="rect">
            <a:avLst/>
          </a:prstGeom>
          <a:noFill/>
        </p:spPr>
        <p:txBody>
          <a:bodyPr wrap="square">
            <a:spAutoFit/>
          </a:bodyPr>
          <a:lstStyle/>
          <a:p>
            <a:pPr algn="l"/>
            <a:r>
              <a:rPr sz="1400" b="0" i="0">
                <a:solidFill>
                  <a:srgbClr val="808080"/>
                </a:solidFill>
                <a:latin typeface="Geist"/>
              </a:rPr>
              <a:t>They discover CData through search, LLM recommendations, and GitHub.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AUDIENCE 3</a:t>
            </a:r>
          </a:p>
        </p:txBody>
      </p:sp>
      <p:sp>
        <p:nvSpPr>
          <p:cNvPr id="4" name="TextBox 3"/>
          <p:cNvSpPr txBox="1"/>
          <p:nvPr/>
        </p:nvSpPr>
        <p:spPr>
          <a:xfrm>
            <a:off x="685628" y="620000"/>
            <a:ext cx="10820744" cy="900000"/>
          </a:xfrm>
          <a:prstGeom prst="rect">
            <a:avLst/>
          </a:prstGeom>
          <a:noFill/>
        </p:spPr>
        <p:txBody>
          <a:bodyPr wrap="none">
            <a:spAutoFit/>
          </a:bodyPr>
          <a:lstStyle/>
          <a:p>
            <a:pPr algn="l"/>
            <a:r>
              <a:rPr sz="5200" b="0" i="0">
                <a:solidFill>
                  <a:srgbClr val="1A1A1A"/>
                </a:solidFill>
                <a:latin typeface="Geist ExtraBold"/>
              </a:rPr>
              <a:t>Enterprise Buyers</a:t>
            </a:r>
          </a:p>
        </p:txBody>
      </p:sp>
      <p:sp>
        <p:nvSpPr>
          <p:cNvPr id="5" name="TextBox 4"/>
          <p:cNvSpPr txBox="1"/>
          <p:nvPr/>
        </p:nvSpPr>
        <p:spPr>
          <a:xfrm>
            <a:off x="685628" y="1620000"/>
            <a:ext cx="10820744" cy="500000"/>
          </a:xfrm>
          <a:prstGeom prst="rect">
            <a:avLst/>
          </a:prstGeom>
          <a:noFill/>
        </p:spPr>
        <p:txBody>
          <a:bodyPr wrap="square">
            <a:spAutoFit/>
          </a:bodyPr>
          <a:lstStyle/>
          <a:p>
            <a:pPr algn="l"/>
            <a:r>
              <a:rPr sz="2000" b="0" i="0">
                <a:solidFill>
                  <a:srgbClr val="808080"/>
                </a:solidFill>
                <a:latin typeface="Geist"/>
              </a:rPr>
              <a:t>They come in after a developer evaluation. Sales reaches them through PMM.</a:t>
            </a:r>
          </a:p>
        </p:txBody>
      </p:sp>
      <p:sp>
        <p:nvSpPr>
          <p:cNvPr id="6" name="Rectangle 5"/>
          <p:cNvSpPr/>
          <p:nvPr/>
        </p:nvSpPr>
        <p:spPr>
          <a:xfrm>
            <a:off x="685628" y="274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5628" y="2600000"/>
            <a:ext cx="10560744" cy="420000"/>
          </a:xfrm>
          <a:prstGeom prst="rect">
            <a:avLst/>
          </a:prstGeom>
          <a:noFill/>
        </p:spPr>
        <p:txBody>
          <a:bodyPr wrap="square">
            <a:spAutoFit/>
          </a:bodyPr>
          <a:lstStyle/>
          <a:p>
            <a:pPr algn="l"/>
            <a:r>
              <a:rPr sz="2000" b="0" i="0">
                <a:solidFill>
                  <a:srgbClr val="1A1A1A"/>
                </a:solidFill>
                <a:latin typeface="Geist"/>
              </a:rPr>
              <a:t>ROI content and security / compliance documentation</a:t>
            </a:r>
          </a:p>
        </p:txBody>
      </p:sp>
      <p:sp>
        <p:nvSpPr>
          <p:cNvPr id="8" name="Rectangle 7"/>
          <p:cNvSpPr/>
          <p:nvPr/>
        </p:nvSpPr>
        <p:spPr>
          <a:xfrm>
            <a:off x="685628" y="326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5628" y="3120000"/>
            <a:ext cx="10560744" cy="420000"/>
          </a:xfrm>
          <a:prstGeom prst="rect">
            <a:avLst/>
          </a:prstGeom>
          <a:noFill/>
        </p:spPr>
        <p:txBody>
          <a:bodyPr wrap="square">
            <a:spAutoFit/>
          </a:bodyPr>
          <a:lstStyle/>
          <a:p>
            <a:pPr algn="l"/>
            <a:r>
              <a:rPr sz="2000" b="0" i="0">
                <a:solidFill>
                  <a:srgbClr val="1A1A1A"/>
                </a:solidFill>
                <a:latin typeface="Geist"/>
              </a:rPr>
              <a:t>Case studies with numbers a VP can present to a committee</a:t>
            </a:r>
          </a:p>
        </p:txBody>
      </p:sp>
      <p:sp>
        <p:nvSpPr>
          <p:cNvPr id="10" name="Rectangle 9"/>
          <p:cNvSpPr/>
          <p:nvPr/>
        </p:nvSpPr>
        <p:spPr>
          <a:xfrm>
            <a:off x="685628" y="378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28" y="3640000"/>
            <a:ext cx="10560744" cy="420000"/>
          </a:xfrm>
          <a:prstGeom prst="rect">
            <a:avLst/>
          </a:prstGeom>
          <a:noFill/>
        </p:spPr>
        <p:txBody>
          <a:bodyPr wrap="square">
            <a:spAutoFit/>
          </a:bodyPr>
          <a:lstStyle/>
          <a:p>
            <a:pPr algn="l"/>
            <a:r>
              <a:rPr sz="2000" b="0" i="0">
                <a:solidFill>
                  <a:srgbClr val="1A1A1A"/>
                </a:solidFill>
                <a:latin typeface="Geist"/>
              </a:rPr>
              <a:t>Sales enablement that closes — built from what the developer already evaluated</a:t>
            </a:r>
          </a:p>
        </p:txBody>
      </p:sp>
      <p:sp>
        <p:nvSpPr>
          <p:cNvPr id="12" name="TextBox 11"/>
          <p:cNvSpPr txBox="1"/>
          <p:nvPr/>
        </p:nvSpPr>
        <p:spPr>
          <a:xfrm>
            <a:off x="685628" y="4500000"/>
            <a:ext cx="10820744" cy="400000"/>
          </a:xfrm>
          <a:prstGeom prst="rect">
            <a:avLst/>
          </a:prstGeom>
          <a:noFill/>
        </p:spPr>
        <p:txBody>
          <a:bodyPr wrap="square">
            <a:spAutoFit/>
          </a:bodyPr>
          <a:lstStyle/>
          <a:p>
            <a:pPr algn="l"/>
            <a:r>
              <a:rPr sz="1400" b="0" i="0">
                <a:solidFill>
                  <a:srgbClr val="808080"/>
                </a:solidFill>
                <a:latin typeface="Geist"/>
              </a:rPr>
              <a:t>They discover CData through the developers already using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FFE500"/>
                </a:solidFill>
                <a:latin typeface="DM Sans"/>
              </a:rPr>
              <a:t>THE BRIDGE</a:t>
            </a:r>
          </a:p>
        </p:txBody>
      </p:sp>
      <p:sp>
        <p:nvSpPr>
          <p:cNvPr id="4" name="TextBox 3"/>
          <p:cNvSpPr txBox="1"/>
          <p:nvPr/>
        </p:nvSpPr>
        <p:spPr>
          <a:xfrm>
            <a:off x="685628" y="2000000"/>
            <a:ext cx="10820744" cy="2600000"/>
          </a:xfrm>
          <a:prstGeom prst="rect">
            <a:avLst/>
          </a:prstGeom>
          <a:noFill/>
        </p:spPr>
        <p:txBody>
          <a:bodyPr wrap="square">
            <a:spAutoFit/>
          </a:bodyPr>
          <a:lstStyle/>
          <a:p>
            <a:pPr algn="l"/>
            <a:r>
              <a:rPr sz="4800" b="0" i="0">
                <a:solidFill>
                  <a:srgbClr val="FFFFFF"/>
                </a:solidFill>
                <a:latin typeface="Geist ExtraBold"/>
              </a:rPr>
              <a:t>Each one needs a different approach.</a:t>
            </a:r>
          </a:p>
        </p:txBody>
      </p:sp>
      <p:sp>
        <p:nvSpPr>
          <p:cNvPr id="5" name="TextBox 4"/>
          <p:cNvSpPr txBox="1"/>
          <p:nvPr/>
        </p:nvSpPr>
        <p:spPr>
          <a:xfrm>
            <a:off x="685628" y="4800000"/>
            <a:ext cx="10820744" cy="800000"/>
          </a:xfrm>
          <a:prstGeom prst="rect">
            <a:avLst/>
          </a:prstGeom>
          <a:noFill/>
        </p:spPr>
        <p:txBody>
          <a:bodyPr wrap="square">
            <a:spAutoFit/>
          </a:bodyPr>
          <a:lstStyle/>
          <a:p>
            <a:pPr algn="l"/>
            <a:r>
              <a:rPr sz="2000" b="0" i="0">
                <a:solidFill>
                  <a:srgbClr val="808080"/>
                </a:solidFill>
                <a:latin typeface="Geist"/>
              </a:rPr>
              <a:t>The audit shows where each one is falling short right now.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PART 2: THE AUDIT</a:t>
            </a:r>
          </a:p>
        </p:txBody>
      </p:sp>
      <p:sp>
        <p:nvSpPr>
          <p:cNvPr id="4" name="TextBox 3"/>
          <p:cNvSpPr txBox="1"/>
          <p:nvPr/>
        </p:nvSpPr>
        <p:spPr>
          <a:xfrm>
            <a:off x="685628" y="620000"/>
            <a:ext cx="10820744" cy="900000"/>
          </a:xfrm>
          <a:prstGeom prst="rect">
            <a:avLst/>
          </a:prstGeom>
          <a:noFill/>
        </p:spPr>
        <p:txBody>
          <a:bodyPr wrap="square">
            <a:spAutoFit/>
          </a:bodyPr>
          <a:lstStyle/>
          <a:p>
            <a:pPr algn="l"/>
            <a:r>
              <a:rPr sz="3600" b="0" i="0">
                <a:solidFill>
                  <a:srgbClr val="1A1A1A"/>
                </a:solidFill>
                <a:latin typeface="Geist ExtraBold"/>
              </a:rPr>
              <a:t>Before what needs work — here's what's actually strong.</a:t>
            </a:r>
          </a:p>
        </p:txBody>
      </p:sp>
      <p:sp>
        <p:nvSpPr>
          <p:cNvPr id="5" name="Rectangle 4"/>
          <p:cNvSpPr/>
          <p:nvPr/>
        </p:nvSpPr>
        <p:spPr>
          <a:xfrm>
            <a:off x="685628" y="1900000"/>
            <a:ext cx="10820744" cy="52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628" y="1900000"/>
            <a:ext cx="10000" cy="52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628" y="1980000"/>
            <a:ext cx="3600000" cy="300000"/>
          </a:xfrm>
          <a:prstGeom prst="rect">
            <a:avLst/>
          </a:prstGeom>
          <a:noFill/>
        </p:spPr>
        <p:txBody>
          <a:bodyPr wrap="none">
            <a:spAutoFit/>
          </a:bodyPr>
          <a:lstStyle/>
          <a:p>
            <a:pPr algn="l"/>
            <a:r>
              <a:rPr sz="1600" b="0" i="0">
                <a:solidFill>
                  <a:srgbClr val="1A1A1A"/>
                </a:solidFill>
                <a:latin typeface="Geist ExtraBold"/>
              </a:rPr>
              <a:t>~15 min to first API call</a:t>
            </a:r>
          </a:p>
        </p:txBody>
      </p:sp>
      <p:sp>
        <p:nvSpPr>
          <p:cNvPr id="8" name="TextBox 7"/>
          <p:cNvSpPr txBox="1"/>
          <p:nvPr/>
        </p:nvSpPr>
        <p:spPr>
          <a:xfrm>
            <a:off x="4585628" y="1980000"/>
            <a:ext cx="6720744" cy="360000"/>
          </a:xfrm>
          <a:prstGeom prst="rect">
            <a:avLst/>
          </a:prstGeom>
          <a:noFill/>
        </p:spPr>
        <p:txBody>
          <a:bodyPr wrap="square">
            <a:spAutoFit/>
          </a:bodyPr>
          <a:lstStyle/>
          <a:p>
            <a:pPr algn="l"/>
            <a:r>
              <a:rPr sz="1400" b="0" i="0">
                <a:solidFill>
                  <a:srgbClr val="4A4A4A"/>
                </a:solidFill>
                <a:latin typeface="Geist"/>
              </a:rPr>
              <a:t>Competitive. Composio is faster to hello-world but shallower.</a:t>
            </a:r>
          </a:p>
        </p:txBody>
      </p:sp>
      <p:sp>
        <p:nvSpPr>
          <p:cNvPr id="9" name="Rectangle 8"/>
          <p:cNvSpPr/>
          <p:nvPr/>
        </p:nvSpPr>
        <p:spPr>
          <a:xfrm>
            <a:off x="685628" y="2480000"/>
            <a:ext cx="10820744" cy="52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628" y="2480000"/>
            <a:ext cx="10000" cy="52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628" y="2560000"/>
            <a:ext cx="3600000" cy="300000"/>
          </a:xfrm>
          <a:prstGeom prst="rect">
            <a:avLst/>
          </a:prstGeom>
          <a:noFill/>
        </p:spPr>
        <p:txBody>
          <a:bodyPr wrap="none">
            <a:spAutoFit/>
          </a:bodyPr>
          <a:lstStyle/>
          <a:p>
            <a:pPr algn="l"/>
            <a:r>
              <a:rPr sz="1600" b="0" i="0">
                <a:solidFill>
                  <a:srgbClr val="1A1A1A"/>
                </a:solidFill>
                <a:latin typeface="Geist ExtraBold"/>
              </a:rPr>
              <a:t>Enterprise connector depth</a:t>
            </a:r>
          </a:p>
        </p:txBody>
      </p:sp>
      <p:sp>
        <p:nvSpPr>
          <p:cNvPr id="12" name="TextBox 11"/>
          <p:cNvSpPr txBox="1"/>
          <p:nvPr/>
        </p:nvSpPr>
        <p:spPr>
          <a:xfrm>
            <a:off x="4585628" y="2560000"/>
            <a:ext cx="6720744" cy="360000"/>
          </a:xfrm>
          <a:prstGeom prst="rect">
            <a:avLst/>
          </a:prstGeom>
          <a:noFill/>
        </p:spPr>
        <p:txBody>
          <a:bodyPr wrap="square">
            <a:spAutoFit/>
          </a:bodyPr>
          <a:lstStyle/>
          <a:p>
            <a:pPr algn="l"/>
            <a:r>
              <a:rPr sz="1400" b="0" i="0">
                <a:solidFill>
                  <a:srgbClr val="4A4A4A"/>
                </a:solidFill>
                <a:latin typeface="Geist"/>
              </a:rPr>
              <a:t>SAP, NetSuite, Workday, Oracle. Composio barely touches these.</a:t>
            </a:r>
          </a:p>
        </p:txBody>
      </p:sp>
      <p:sp>
        <p:nvSpPr>
          <p:cNvPr id="13" name="Rectangle 12"/>
          <p:cNvSpPr/>
          <p:nvPr/>
        </p:nvSpPr>
        <p:spPr>
          <a:xfrm>
            <a:off x="685628" y="3060000"/>
            <a:ext cx="10820744" cy="52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628" y="3060000"/>
            <a:ext cx="10000" cy="52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628" y="3140000"/>
            <a:ext cx="3600000" cy="300000"/>
          </a:xfrm>
          <a:prstGeom prst="rect">
            <a:avLst/>
          </a:prstGeom>
          <a:noFill/>
        </p:spPr>
        <p:txBody>
          <a:bodyPr wrap="none">
            <a:spAutoFit/>
          </a:bodyPr>
          <a:lstStyle/>
          <a:p>
            <a:pPr algn="l"/>
            <a:r>
              <a:rPr sz="1600" b="0" i="0">
                <a:solidFill>
                  <a:srgbClr val="1A1A1A"/>
                </a:solidFill>
                <a:latin typeface="Geist ExtraBold"/>
              </a:rPr>
              <a:t>MCP tool schemas</a:t>
            </a:r>
          </a:p>
        </p:txBody>
      </p:sp>
      <p:sp>
        <p:nvSpPr>
          <p:cNvPr id="16" name="TextBox 15"/>
          <p:cNvSpPr txBox="1"/>
          <p:nvPr/>
        </p:nvSpPr>
        <p:spPr>
          <a:xfrm>
            <a:off x="4585628" y="3140000"/>
            <a:ext cx="6720744" cy="360000"/>
          </a:xfrm>
          <a:prstGeom prst="rect">
            <a:avLst/>
          </a:prstGeom>
          <a:noFill/>
        </p:spPr>
        <p:txBody>
          <a:bodyPr wrap="square">
            <a:spAutoFit/>
          </a:bodyPr>
          <a:lstStyle/>
          <a:p>
            <a:pPr algn="l"/>
            <a:r>
              <a:rPr sz="1400" b="0" i="0">
                <a:solidFill>
                  <a:srgbClr val="4A4A4A"/>
                </a:solidFill>
                <a:latin typeface="Geist"/>
              </a:rPr>
              <a:t>Well-structured. Agents can work with them out of the box.</a:t>
            </a:r>
          </a:p>
        </p:txBody>
      </p:sp>
      <p:sp>
        <p:nvSpPr>
          <p:cNvPr id="17" name="Rectangle 16"/>
          <p:cNvSpPr/>
          <p:nvPr/>
        </p:nvSpPr>
        <p:spPr>
          <a:xfrm>
            <a:off x="685628" y="3640000"/>
            <a:ext cx="10820744" cy="52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628" y="3640000"/>
            <a:ext cx="10000" cy="52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628" y="3720000"/>
            <a:ext cx="3600000" cy="300000"/>
          </a:xfrm>
          <a:prstGeom prst="rect">
            <a:avLst/>
          </a:prstGeom>
          <a:noFill/>
        </p:spPr>
        <p:txBody>
          <a:bodyPr wrap="none">
            <a:spAutoFit/>
          </a:bodyPr>
          <a:lstStyle/>
          <a:p>
            <a:pPr algn="l"/>
            <a:r>
              <a:rPr sz="1600" b="0" i="0">
                <a:solidFill>
                  <a:srgbClr val="1A1A1A"/>
                </a:solidFill>
                <a:latin typeface="Geist ExtraBold"/>
              </a:rPr>
              <a:t>Japanese documentation</a:t>
            </a:r>
          </a:p>
        </p:txBody>
      </p:sp>
      <p:sp>
        <p:nvSpPr>
          <p:cNvPr id="20" name="TextBox 19"/>
          <p:cNvSpPr txBox="1"/>
          <p:nvPr/>
        </p:nvSpPr>
        <p:spPr>
          <a:xfrm>
            <a:off x="4585628" y="3720000"/>
            <a:ext cx="6720744" cy="360000"/>
          </a:xfrm>
          <a:prstGeom prst="rect">
            <a:avLst/>
          </a:prstGeom>
          <a:noFill/>
        </p:spPr>
        <p:txBody>
          <a:bodyPr wrap="square">
            <a:spAutoFit/>
          </a:bodyPr>
          <a:lstStyle/>
          <a:p>
            <a:pPr algn="l"/>
            <a:r>
              <a:rPr sz="1400" b="0" i="0">
                <a:solidFill>
                  <a:srgbClr val="4A4A4A"/>
                </a:solidFill>
                <a:latin typeface="Geist"/>
              </a:rPr>
              <a:t>Almost no competitor has this. Real enterprise signal.</a:t>
            </a:r>
          </a:p>
        </p:txBody>
      </p:sp>
      <p:sp>
        <p:nvSpPr>
          <p:cNvPr id="21" name="TextBox 20"/>
          <p:cNvSpPr txBox="1"/>
          <p:nvPr/>
        </p:nvSpPr>
        <p:spPr>
          <a:xfrm>
            <a:off x="685628" y="4380000"/>
            <a:ext cx="10820744" cy="500000"/>
          </a:xfrm>
          <a:prstGeom prst="rect">
            <a:avLst/>
          </a:prstGeom>
          <a:noFill/>
        </p:spPr>
        <p:txBody>
          <a:bodyPr wrap="square">
            <a:spAutoFit/>
          </a:bodyPr>
          <a:lstStyle/>
          <a:p>
            <a:pPr algn="l"/>
            <a:r>
              <a:rPr sz="1300" b="0" i="0">
                <a:solidFill>
                  <a:srgbClr val="808080"/>
                </a:solidFill>
                <a:latin typeface="Geist"/>
              </a:rPr>
              <a:t>The audit isn't saying the product is broken. It's saying the signal around it doesn't reflect what the product actually 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30000"/>
            <a:ext cx="10820744" cy="180000"/>
          </a:xfrm>
          <a:prstGeom prst="rect">
            <a:avLst/>
          </a:prstGeom>
          <a:noFill/>
        </p:spPr>
        <p:txBody>
          <a:bodyPr wrap="none">
            <a:spAutoFit/>
          </a:bodyPr>
          <a:lstStyle/>
          <a:p>
            <a:pPr algn="l"/>
            <a:r>
              <a:rPr sz="1100" b="0" i="0">
                <a:solidFill>
                  <a:srgbClr val="FFE500"/>
                </a:solidFill>
                <a:latin typeface="Geist ExtraBold"/>
              </a:rPr>
              <a:t>THE AUDIT</a:t>
            </a:r>
          </a:p>
        </p:txBody>
      </p:sp>
      <p:sp>
        <p:nvSpPr>
          <p:cNvPr id="4" name="TextBox 3"/>
          <p:cNvSpPr txBox="1"/>
          <p:nvPr/>
        </p:nvSpPr>
        <p:spPr>
          <a:xfrm>
            <a:off x="685628" y="530000"/>
            <a:ext cx="10820744" cy="560000"/>
          </a:xfrm>
          <a:prstGeom prst="rect">
            <a:avLst/>
          </a:prstGeom>
          <a:noFill/>
        </p:spPr>
        <p:txBody>
          <a:bodyPr wrap="square">
            <a:spAutoFit/>
          </a:bodyPr>
          <a:lstStyle/>
          <a:p>
            <a:pPr algn="l"/>
            <a:r>
              <a:rPr sz="3400" b="0" i="0">
                <a:solidFill>
                  <a:srgbClr val="FFE500"/>
                </a:solidFill>
                <a:latin typeface="Geist ExtraBold"/>
              </a:rPr>
              <a:t>47 issues. 6 categories. First session only.</a:t>
            </a:r>
          </a:p>
        </p:txBody>
      </p:sp>
      <p:sp>
        <p:nvSpPr>
          <p:cNvPr id="5" name="TextBox 4"/>
          <p:cNvSpPr txBox="1"/>
          <p:nvPr/>
        </p:nvSpPr>
        <p:spPr>
          <a:xfrm>
            <a:off x="685628" y="1120000"/>
            <a:ext cx="10820744" cy="200000"/>
          </a:xfrm>
          <a:prstGeom prst="rect">
            <a:avLst/>
          </a:prstGeom>
          <a:noFill/>
        </p:spPr>
        <p:txBody>
          <a:bodyPr wrap="none">
            <a:spAutoFit/>
          </a:bodyPr>
          <a:lstStyle/>
          <a:p>
            <a:pPr algn="l"/>
            <a:r>
              <a:rPr sz="1100" b="0" i="0">
                <a:solidFill>
                  <a:srgbClr val="808080"/>
                </a:solidFill>
                <a:latin typeface="Geist"/>
              </a:rPr>
              <a:t>Quickstart (6)  ·  Production Readiness (12)  ·  Agent &amp; MCP (6)  ·  Docs &amp; Navigation (15)  ·  SEO (8)</a:t>
            </a:r>
          </a:p>
        </p:txBody>
      </p:sp>
      <p:sp>
        <p:nvSpPr>
          <p:cNvPr id="6" name="Rectangle 5"/>
          <p:cNvSpPr/>
          <p:nvPr/>
        </p:nvSpPr>
        <p:spPr>
          <a:xfrm>
            <a:off x="685628" y="1360000"/>
            <a:ext cx="10820744" cy="4000"/>
          </a:xfrm>
          <a:prstGeom prst="rect">
            <a:avLst/>
          </a:prstGeom>
          <a:solidFill>
            <a:srgbClr val="D0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628" y="1480000"/>
            <a:ext cx="290000" cy="193000"/>
          </a:xfrm>
          <a:prstGeom prst="rect">
            <a:avLst/>
          </a:prstGeom>
          <a:noFill/>
        </p:spPr>
        <p:txBody>
          <a:bodyPr wrap="none">
            <a:spAutoFit/>
          </a:bodyPr>
          <a:lstStyle/>
          <a:p>
            <a:pPr algn="l"/>
            <a:r>
              <a:rPr sz="800" b="0" i="0">
                <a:solidFill>
                  <a:srgbClr val="FFE500"/>
                </a:solidFill>
                <a:latin typeface="Geist ExtraBold"/>
              </a:rPr>
              <a:t>01</a:t>
            </a:r>
          </a:p>
        </p:txBody>
      </p:sp>
      <p:sp>
        <p:nvSpPr>
          <p:cNvPr id="8" name="TextBox 7"/>
          <p:cNvSpPr txBox="1"/>
          <p:nvPr/>
        </p:nvSpPr>
        <p:spPr>
          <a:xfrm>
            <a:off x="975628" y="1480000"/>
            <a:ext cx="3090000" cy="193000"/>
          </a:xfrm>
          <a:prstGeom prst="rect">
            <a:avLst/>
          </a:prstGeom>
          <a:noFill/>
        </p:spPr>
        <p:txBody>
          <a:bodyPr wrap="none">
            <a:spAutoFit/>
          </a:bodyPr>
          <a:lstStyle/>
          <a:p>
            <a:pPr algn="l"/>
            <a:r>
              <a:rPr sz="800" b="0" i="0">
                <a:solidFill>
                  <a:srgbClr val="BBBBB4"/>
                </a:solidFill>
                <a:latin typeface="Geist"/>
              </a:rPr>
              <a:t>Wrong Accept header breaks every copy-pasted implementation</a:t>
            </a:r>
          </a:p>
        </p:txBody>
      </p:sp>
      <p:sp>
        <p:nvSpPr>
          <p:cNvPr id="9" name="TextBox 8"/>
          <p:cNvSpPr txBox="1"/>
          <p:nvPr/>
        </p:nvSpPr>
        <p:spPr>
          <a:xfrm>
            <a:off x="685628" y="1673000"/>
            <a:ext cx="290000" cy="193000"/>
          </a:xfrm>
          <a:prstGeom prst="rect">
            <a:avLst/>
          </a:prstGeom>
          <a:noFill/>
        </p:spPr>
        <p:txBody>
          <a:bodyPr wrap="none">
            <a:spAutoFit/>
          </a:bodyPr>
          <a:lstStyle/>
          <a:p>
            <a:pPr algn="l"/>
            <a:r>
              <a:rPr sz="800" b="0" i="0">
                <a:solidFill>
                  <a:srgbClr val="FFE500"/>
                </a:solidFill>
                <a:latin typeface="Geist ExtraBold"/>
              </a:rPr>
              <a:t>02</a:t>
            </a:r>
          </a:p>
        </p:txBody>
      </p:sp>
      <p:sp>
        <p:nvSpPr>
          <p:cNvPr id="10" name="TextBox 9"/>
          <p:cNvSpPr txBox="1"/>
          <p:nvPr/>
        </p:nvSpPr>
        <p:spPr>
          <a:xfrm>
            <a:off x="975628" y="1673000"/>
            <a:ext cx="3090000" cy="193000"/>
          </a:xfrm>
          <a:prstGeom prst="rect">
            <a:avLst/>
          </a:prstGeom>
          <a:noFill/>
        </p:spPr>
        <p:txBody>
          <a:bodyPr wrap="none">
            <a:spAutoFit/>
          </a:bodyPr>
          <a:lstStyle/>
          <a:p>
            <a:pPr algn="l"/>
            <a:r>
              <a:rPr sz="800" b="0" i="0">
                <a:solidFill>
                  <a:srgbClr val="BBBBB4"/>
                </a:solidFill>
                <a:latin typeface="Geist"/>
              </a:rPr>
              <a:t>Setup Guide shows navigation steps you already completed</a:t>
            </a:r>
          </a:p>
        </p:txBody>
      </p:sp>
      <p:sp>
        <p:nvSpPr>
          <p:cNvPr id="11" name="TextBox 10"/>
          <p:cNvSpPr txBox="1"/>
          <p:nvPr/>
        </p:nvSpPr>
        <p:spPr>
          <a:xfrm>
            <a:off x="685628" y="1866000"/>
            <a:ext cx="290000" cy="193000"/>
          </a:xfrm>
          <a:prstGeom prst="rect">
            <a:avLst/>
          </a:prstGeom>
          <a:noFill/>
        </p:spPr>
        <p:txBody>
          <a:bodyPr wrap="none">
            <a:spAutoFit/>
          </a:bodyPr>
          <a:lstStyle/>
          <a:p>
            <a:pPr algn="l"/>
            <a:r>
              <a:rPr sz="800" b="0" i="0">
                <a:solidFill>
                  <a:srgbClr val="FFE500"/>
                </a:solidFill>
                <a:latin typeface="Geist ExtraBold"/>
              </a:rPr>
              <a:t>03</a:t>
            </a:r>
          </a:p>
        </p:txBody>
      </p:sp>
      <p:sp>
        <p:nvSpPr>
          <p:cNvPr id="12" name="TextBox 11"/>
          <p:cNvSpPr txBox="1"/>
          <p:nvPr/>
        </p:nvSpPr>
        <p:spPr>
          <a:xfrm>
            <a:off x="975628" y="1866000"/>
            <a:ext cx="3090000" cy="193000"/>
          </a:xfrm>
          <a:prstGeom prst="rect">
            <a:avLst/>
          </a:prstGeom>
          <a:noFill/>
        </p:spPr>
        <p:txBody>
          <a:bodyPr wrap="none">
            <a:spAutoFit/>
          </a:bodyPr>
          <a:lstStyle/>
          <a:p>
            <a:pPr algn="l"/>
            <a:r>
              <a:rPr sz="800" b="0" i="0">
                <a:solidFill>
                  <a:srgbClr val="BBBBB4"/>
                </a:solidFill>
                <a:latin typeface="Geist"/>
              </a:rPr>
              <a:t>401 error doesn't tell you the username is wrong</a:t>
            </a:r>
          </a:p>
        </p:txBody>
      </p:sp>
      <p:sp>
        <p:nvSpPr>
          <p:cNvPr id="13" name="TextBox 12"/>
          <p:cNvSpPr txBox="1"/>
          <p:nvPr/>
        </p:nvSpPr>
        <p:spPr>
          <a:xfrm>
            <a:off x="685628" y="2059000"/>
            <a:ext cx="290000" cy="193000"/>
          </a:xfrm>
          <a:prstGeom prst="rect">
            <a:avLst/>
          </a:prstGeom>
          <a:noFill/>
        </p:spPr>
        <p:txBody>
          <a:bodyPr wrap="none">
            <a:spAutoFit/>
          </a:bodyPr>
          <a:lstStyle/>
          <a:p>
            <a:pPr algn="l"/>
            <a:r>
              <a:rPr sz="800" b="0" i="0">
                <a:solidFill>
                  <a:srgbClr val="FFE500"/>
                </a:solidFill>
                <a:latin typeface="Geist ExtraBold"/>
              </a:rPr>
              <a:t>04</a:t>
            </a:r>
          </a:p>
        </p:txBody>
      </p:sp>
      <p:sp>
        <p:nvSpPr>
          <p:cNvPr id="14" name="TextBox 13"/>
          <p:cNvSpPr txBox="1"/>
          <p:nvPr/>
        </p:nvSpPr>
        <p:spPr>
          <a:xfrm>
            <a:off x="975628" y="2059000"/>
            <a:ext cx="3090000" cy="193000"/>
          </a:xfrm>
          <a:prstGeom prst="rect">
            <a:avLst/>
          </a:prstGeom>
          <a:noFill/>
        </p:spPr>
        <p:txBody>
          <a:bodyPr wrap="none">
            <a:spAutoFit/>
          </a:bodyPr>
          <a:lstStyle/>
          <a:p>
            <a:pPr algn="l"/>
            <a:r>
              <a:rPr sz="800" b="0" i="0">
                <a:solidFill>
                  <a:srgbClr val="BBBBB4"/>
                </a:solidFill>
                <a:latin typeface="Geist"/>
              </a:rPr>
              <a:t>No terminal-first setup path — dashboard required for OAuth</a:t>
            </a:r>
          </a:p>
        </p:txBody>
      </p:sp>
      <p:sp>
        <p:nvSpPr>
          <p:cNvPr id="15" name="TextBox 14"/>
          <p:cNvSpPr txBox="1"/>
          <p:nvPr/>
        </p:nvSpPr>
        <p:spPr>
          <a:xfrm>
            <a:off x="685628" y="2252000"/>
            <a:ext cx="290000" cy="193000"/>
          </a:xfrm>
          <a:prstGeom prst="rect">
            <a:avLst/>
          </a:prstGeom>
          <a:noFill/>
        </p:spPr>
        <p:txBody>
          <a:bodyPr wrap="none">
            <a:spAutoFit/>
          </a:bodyPr>
          <a:lstStyle/>
          <a:p>
            <a:pPr algn="l"/>
            <a:r>
              <a:rPr sz="800" b="0" i="0">
                <a:solidFill>
                  <a:srgbClr val="FFE500"/>
                </a:solidFill>
                <a:latin typeface="Geist ExtraBold"/>
              </a:rPr>
              <a:t>05</a:t>
            </a:r>
          </a:p>
        </p:txBody>
      </p:sp>
      <p:sp>
        <p:nvSpPr>
          <p:cNvPr id="16" name="TextBox 15"/>
          <p:cNvSpPr txBox="1"/>
          <p:nvPr/>
        </p:nvSpPr>
        <p:spPr>
          <a:xfrm>
            <a:off x="975628" y="2252000"/>
            <a:ext cx="3090000" cy="193000"/>
          </a:xfrm>
          <a:prstGeom prst="rect">
            <a:avLst/>
          </a:prstGeom>
          <a:noFill/>
        </p:spPr>
        <p:txBody>
          <a:bodyPr wrap="none">
            <a:spAutoFit/>
          </a:bodyPr>
          <a:lstStyle/>
          <a:p>
            <a:pPr algn="l"/>
            <a:r>
              <a:rPr sz="800" b="0" i="0">
                <a:solidFill>
                  <a:srgbClr val="BBBBB4"/>
                </a:solidFill>
                <a:latin typeface="Geist"/>
              </a:rPr>
              <a:t>Tool responses embed verbose schema metadata on every call</a:t>
            </a:r>
          </a:p>
        </p:txBody>
      </p:sp>
      <p:sp>
        <p:nvSpPr>
          <p:cNvPr id="17" name="TextBox 16"/>
          <p:cNvSpPr txBox="1"/>
          <p:nvPr/>
        </p:nvSpPr>
        <p:spPr>
          <a:xfrm>
            <a:off x="685628" y="2445000"/>
            <a:ext cx="290000" cy="193000"/>
          </a:xfrm>
          <a:prstGeom prst="rect">
            <a:avLst/>
          </a:prstGeom>
          <a:noFill/>
        </p:spPr>
        <p:txBody>
          <a:bodyPr wrap="none">
            <a:spAutoFit/>
          </a:bodyPr>
          <a:lstStyle/>
          <a:p>
            <a:pPr algn="l"/>
            <a:r>
              <a:rPr sz="800" b="0" i="0">
                <a:solidFill>
                  <a:srgbClr val="FFE500"/>
                </a:solidFill>
                <a:latin typeface="Geist ExtraBold"/>
              </a:rPr>
              <a:t>06</a:t>
            </a:r>
          </a:p>
        </p:txBody>
      </p:sp>
      <p:sp>
        <p:nvSpPr>
          <p:cNvPr id="18" name="TextBox 17"/>
          <p:cNvSpPr txBox="1"/>
          <p:nvPr/>
        </p:nvSpPr>
        <p:spPr>
          <a:xfrm>
            <a:off x="975628" y="2445000"/>
            <a:ext cx="3090000" cy="193000"/>
          </a:xfrm>
          <a:prstGeom prst="rect">
            <a:avLst/>
          </a:prstGeom>
          <a:noFill/>
        </p:spPr>
        <p:txBody>
          <a:bodyPr wrap="none">
            <a:spAutoFit/>
          </a:bodyPr>
          <a:lstStyle/>
          <a:p>
            <a:pPr algn="l"/>
            <a:r>
              <a:rPr sz="800" b="0" i="0">
                <a:solidFill>
                  <a:srgbClr val="BBBBB4"/>
                </a:solidFill>
                <a:latin typeface="Geist"/>
              </a:rPr>
              <a:t>No virtual environment guidance in quickstart</a:t>
            </a:r>
          </a:p>
        </p:txBody>
      </p:sp>
      <p:sp>
        <p:nvSpPr>
          <p:cNvPr id="19" name="TextBox 18"/>
          <p:cNvSpPr txBox="1"/>
          <p:nvPr/>
        </p:nvSpPr>
        <p:spPr>
          <a:xfrm>
            <a:off x="685628" y="2638000"/>
            <a:ext cx="290000" cy="193000"/>
          </a:xfrm>
          <a:prstGeom prst="rect">
            <a:avLst/>
          </a:prstGeom>
          <a:noFill/>
        </p:spPr>
        <p:txBody>
          <a:bodyPr wrap="none">
            <a:spAutoFit/>
          </a:bodyPr>
          <a:lstStyle/>
          <a:p>
            <a:pPr algn="l"/>
            <a:r>
              <a:rPr sz="800" b="0" i="0">
                <a:solidFill>
                  <a:srgbClr val="FFE500"/>
                </a:solidFill>
                <a:latin typeface="Geist ExtraBold"/>
              </a:rPr>
              <a:t>07</a:t>
            </a:r>
          </a:p>
        </p:txBody>
      </p:sp>
      <p:sp>
        <p:nvSpPr>
          <p:cNvPr id="20" name="TextBox 19"/>
          <p:cNvSpPr txBox="1"/>
          <p:nvPr/>
        </p:nvSpPr>
        <p:spPr>
          <a:xfrm>
            <a:off x="975628" y="2638000"/>
            <a:ext cx="3090000" cy="193000"/>
          </a:xfrm>
          <a:prstGeom prst="rect">
            <a:avLst/>
          </a:prstGeom>
          <a:noFill/>
        </p:spPr>
        <p:txBody>
          <a:bodyPr wrap="none">
            <a:spAutoFit/>
          </a:bodyPr>
          <a:lstStyle/>
          <a:p>
            <a:pPr algn="l"/>
            <a:r>
              <a:rPr sz="800" b="0" i="0">
                <a:solidFill>
                  <a:srgbClr val="BBBBB4"/>
                </a:solidFill>
                <a:latin typeface="Geist"/>
              </a:rPr>
              <a:t>Rate limit: shared per-user ceiling, absent from MCP docs</a:t>
            </a:r>
          </a:p>
        </p:txBody>
      </p:sp>
      <p:sp>
        <p:nvSpPr>
          <p:cNvPr id="21" name="TextBox 20"/>
          <p:cNvSpPr txBox="1"/>
          <p:nvPr/>
        </p:nvSpPr>
        <p:spPr>
          <a:xfrm>
            <a:off x="685628" y="2831000"/>
            <a:ext cx="290000" cy="193000"/>
          </a:xfrm>
          <a:prstGeom prst="rect">
            <a:avLst/>
          </a:prstGeom>
          <a:noFill/>
        </p:spPr>
        <p:txBody>
          <a:bodyPr wrap="none">
            <a:spAutoFit/>
          </a:bodyPr>
          <a:lstStyle/>
          <a:p>
            <a:pPr algn="l"/>
            <a:r>
              <a:rPr sz="800" b="0" i="0">
                <a:solidFill>
                  <a:srgbClr val="FFE500"/>
                </a:solidFill>
                <a:latin typeface="Geist ExtraBold"/>
              </a:rPr>
              <a:t>08</a:t>
            </a:r>
          </a:p>
        </p:txBody>
      </p:sp>
      <p:sp>
        <p:nvSpPr>
          <p:cNvPr id="22" name="TextBox 21"/>
          <p:cNvSpPr txBox="1"/>
          <p:nvPr/>
        </p:nvSpPr>
        <p:spPr>
          <a:xfrm>
            <a:off x="975628" y="2831000"/>
            <a:ext cx="3090000" cy="193000"/>
          </a:xfrm>
          <a:prstGeom prst="rect">
            <a:avLst/>
          </a:prstGeom>
          <a:noFill/>
        </p:spPr>
        <p:txBody>
          <a:bodyPr wrap="none">
            <a:spAutoFit/>
          </a:bodyPr>
          <a:lstStyle/>
          <a:p>
            <a:pPr algn="l"/>
            <a:r>
              <a:rPr sz="800" b="0" i="0">
                <a:solidFill>
                  <a:srgbClr val="BBBBB4"/>
                </a:solidFill>
                <a:latin typeface="Geist"/>
              </a:rPr>
              <a:t>Cross-source JOINs pull full result sets before filtering</a:t>
            </a:r>
          </a:p>
        </p:txBody>
      </p:sp>
      <p:sp>
        <p:nvSpPr>
          <p:cNvPr id="23" name="TextBox 22"/>
          <p:cNvSpPr txBox="1"/>
          <p:nvPr/>
        </p:nvSpPr>
        <p:spPr>
          <a:xfrm>
            <a:off x="685628" y="3024000"/>
            <a:ext cx="290000" cy="193000"/>
          </a:xfrm>
          <a:prstGeom prst="rect">
            <a:avLst/>
          </a:prstGeom>
          <a:noFill/>
        </p:spPr>
        <p:txBody>
          <a:bodyPr wrap="none">
            <a:spAutoFit/>
          </a:bodyPr>
          <a:lstStyle/>
          <a:p>
            <a:pPr algn="l"/>
            <a:r>
              <a:rPr sz="800" b="0" i="0">
                <a:solidFill>
                  <a:srgbClr val="FFE500"/>
                </a:solidFill>
                <a:latin typeface="Geist ExtraBold"/>
              </a:rPr>
              <a:t>09</a:t>
            </a:r>
          </a:p>
        </p:txBody>
      </p:sp>
      <p:sp>
        <p:nvSpPr>
          <p:cNvPr id="24" name="TextBox 23"/>
          <p:cNvSpPr txBox="1"/>
          <p:nvPr/>
        </p:nvSpPr>
        <p:spPr>
          <a:xfrm>
            <a:off x="975628" y="3024000"/>
            <a:ext cx="3090000" cy="193000"/>
          </a:xfrm>
          <a:prstGeom prst="rect">
            <a:avLst/>
          </a:prstGeom>
          <a:noFill/>
        </p:spPr>
        <p:txBody>
          <a:bodyPr wrap="none">
            <a:spAutoFit/>
          </a:bodyPr>
          <a:lstStyle/>
          <a:p>
            <a:pPr algn="l"/>
            <a:r>
              <a:rPr sz="800" b="0" i="0">
                <a:solidFill>
                  <a:srgbClr val="BBBBB4"/>
                </a:solidFill>
                <a:latin typeface="Geist"/>
              </a:rPr>
              <a:t>Query timeout is 30s with GUI-only override — no API param</a:t>
            </a:r>
          </a:p>
        </p:txBody>
      </p:sp>
      <p:sp>
        <p:nvSpPr>
          <p:cNvPr id="25" name="TextBox 24"/>
          <p:cNvSpPr txBox="1"/>
          <p:nvPr/>
        </p:nvSpPr>
        <p:spPr>
          <a:xfrm>
            <a:off x="685628" y="3217000"/>
            <a:ext cx="290000" cy="193000"/>
          </a:xfrm>
          <a:prstGeom prst="rect">
            <a:avLst/>
          </a:prstGeom>
          <a:noFill/>
        </p:spPr>
        <p:txBody>
          <a:bodyPr wrap="none">
            <a:spAutoFit/>
          </a:bodyPr>
          <a:lstStyle/>
          <a:p>
            <a:pPr algn="l"/>
            <a:r>
              <a:rPr sz="800" b="0" i="0">
                <a:solidFill>
                  <a:srgbClr val="FFE500"/>
                </a:solidFill>
                <a:latin typeface="Geist ExtraBold"/>
              </a:rPr>
              <a:t>10</a:t>
            </a:r>
          </a:p>
        </p:txBody>
      </p:sp>
      <p:sp>
        <p:nvSpPr>
          <p:cNvPr id="26" name="TextBox 25"/>
          <p:cNvSpPr txBox="1"/>
          <p:nvPr/>
        </p:nvSpPr>
        <p:spPr>
          <a:xfrm>
            <a:off x="975628" y="3217000"/>
            <a:ext cx="3090000" cy="193000"/>
          </a:xfrm>
          <a:prstGeom prst="rect">
            <a:avLst/>
          </a:prstGeom>
          <a:noFill/>
        </p:spPr>
        <p:txBody>
          <a:bodyPr wrap="none">
            <a:spAutoFit/>
          </a:bodyPr>
          <a:lstStyle/>
          <a:p>
            <a:pPr algn="l"/>
            <a:r>
              <a:rPr sz="800" b="0" i="0">
                <a:solidFill>
                  <a:srgbClr val="BBBBB4"/>
                </a:solidFill>
                <a:latin typeface="Geist"/>
              </a:rPr>
              <a:t>PATs have no scoping — one token, all sources, read/write</a:t>
            </a:r>
          </a:p>
        </p:txBody>
      </p:sp>
      <p:sp>
        <p:nvSpPr>
          <p:cNvPr id="27" name="TextBox 26"/>
          <p:cNvSpPr txBox="1"/>
          <p:nvPr/>
        </p:nvSpPr>
        <p:spPr>
          <a:xfrm>
            <a:off x="685628" y="3410000"/>
            <a:ext cx="290000" cy="193000"/>
          </a:xfrm>
          <a:prstGeom prst="rect">
            <a:avLst/>
          </a:prstGeom>
          <a:noFill/>
        </p:spPr>
        <p:txBody>
          <a:bodyPr wrap="none">
            <a:spAutoFit/>
          </a:bodyPr>
          <a:lstStyle/>
          <a:p>
            <a:pPr algn="l"/>
            <a:r>
              <a:rPr sz="800" b="0" i="0">
                <a:solidFill>
                  <a:srgbClr val="FFE500"/>
                </a:solidFill>
                <a:latin typeface="Geist ExtraBold"/>
              </a:rPr>
              <a:t>11</a:t>
            </a:r>
          </a:p>
        </p:txBody>
      </p:sp>
      <p:sp>
        <p:nvSpPr>
          <p:cNvPr id="28" name="TextBox 27"/>
          <p:cNvSpPr txBox="1"/>
          <p:nvPr/>
        </p:nvSpPr>
        <p:spPr>
          <a:xfrm>
            <a:off x="975628" y="3410000"/>
            <a:ext cx="3090000" cy="193000"/>
          </a:xfrm>
          <a:prstGeom prst="rect">
            <a:avLst/>
          </a:prstGeom>
          <a:noFill/>
        </p:spPr>
        <p:txBody>
          <a:bodyPr wrap="none">
            <a:spAutoFit/>
          </a:bodyPr>
          <a:lstStyle/>
          <a:p>
            <a:pPr algn="l"/>
            <a:r>
              <a:rPr sz="800" b="0" i="0">
                <a:solidFill>
                  <a:srgbClr val="BBBBB4"/>
                </a:solidFill>
                <a:latin typeface="Geist"/>
              </a:rPr>
              <a:t>Log retention is 7 days, dashboard-only, no export API</a:t>
            </a:r>
          </a:p>
        </p:txBody>
      </p:sp>
      <p:sp>
        <p:nvSpPr>
          <p:cNvPr id="29" name="TextBox 28"/>
          <p:cNvSpPr txBox="1"/>
          <p:nvPr/>
        </p:nvSpPr>
        <p:spPr>
          <a:xfrm>
            <a:off x="685628" y="3603000"/>
            <a:ext cx="290000" cy="193000"/>
          </a:xfrm>
          <a:prstGeom prst="rect">
            <a:avLst/>
          </a:prstGeom>
          <a:noFill/>
        </p:spPr>
        <p:txBody>
          <a:bodyPr wrap="none">
            <a:spAutoFit/>
          </a:bodyPr>
          <a:lstStyle/>
          <a:p>
            <a:pPr algn="l"/>
            <a:r>
              <a:rPr sz="800" b="0" i="0">
                <a:solidFill>
                  <a:srgbClr val="FFE500"/>
                </a:solidFill>
                <a:latin typeface="Geist ExtraBold"/>
              </a:rPr>
              <a:t>12</a:t>
            </a:r>
          </a:p>
        </p:txBody>
      </p:sp>
      <p:sp>
        <p:nvSpPr>
          <p:cNvPr id="30" name="TextBox 29"/>
          <p:cNvSpPr txBox="1"/>
          <p:nvPr/>
        </p:nvSpPr>
        <p:spPr>
          <a:xfrm>
            <a:off x="975628" y="3603000"/>
            <a:ext cx="3090000" cy="193000"/>
          </a:xfrm>
          <a:prstGeom prst="rect">
            <a:avLst/>
          </a:prstGeom>
          <a:noFill/>
        </p:spPr>
        <p:txBody>
          <a:bodyPr wrap="none">
            <a:spAutoFit/>
          </a:bodyPr>
          <a:lstStyle/>
          <a:p>
            <a:pPr algn="l"/>
            <a:r>
              <a:rPr sz="800" b="0" i="0">
                <a:solidFill>
                  <a:srgbClr val="BBBBB4"/>
                </a:solidFill>
                <a:latin typeface="Geist"/>
              </a:rPr>
              <a:t>"Build your own MCP tools" gated to Business tier</a:t>
            </a:r>
          </a:p>
        </p:txBody>
      </p:sp>
      <p:sp>
        <p:nvSpPr>
          <p:cNvPr id="31" name="TextBox 30"/>
          <p:cNvSpPr txBox="1"/>
          <p:nvPr/>
        </p:nvSpPr>
        <p:spPr>
          <a:xfrm>
            <a:off x="685628" y="3796000"/>
            <a:ext cx="290000" cy="193000"/>
          </a:xfrm>
          <a:prstGeom prst="rect">
            <a:avLst/>
          </a:prstGeom>
          <a:noFill/>
        </p:spPr>
        <p:txBody>
          <a:bodyPr wrap="none">
            <a:spAutoFit/>
          </a:bodyPr>
          <a:lstStyle/>
          <a:p>
            <a:pPr algn="l"/>
            <a:r>
              <a:rPr sz="800" b="0" i="0">
                <a:solidFill>
                  <a:srgbClr val="FFE500"/>
                </a:solidFill>
                <a:latin typeface="Geist ExtraBold"/>
              </a:rPr>
              <a:t>13</a:t>
            </a:r>
          </a:p>
        </p:txBody>
      </p:sp>
      <p:sp>
        <p:nvSpPr>
          <p:cNvPr id="32" name="TextBox 31"/>
          <p:cNvSpPr txBox="1"/>
          <p:nvPr/>
        </p:nvSpPr>
        <p:spPr>
          <a:xfrm>
            <a:off x="975628" y="3796000"/>
            <a:ext cx="3090000" cy="193000"/>
          </a:xfrm>
          <a:prstGeom prst="rect">
            <a:avLst/>
          </a:prstGeom>
          <a:noFill/>
        </p:spPr>
        <p:txBody>
          <a:bodyPr wrap="none">
            <a:spAutoFit/>
          </a:bodyPr>
          <a:lstStyle/>
          <a:p>
            <a:pPr algn="l"/>
            <a:r>
              <a:rPr sz="800" b="0" i="0">
                <a:solidFill>
                  <a:srgbClr val="BBBBB4"/>
                </a:solidFill>
                <a:latin typeface="Geist"/>
              </a:rPr>
              <a:t>SSO and RBAC are Business-tier-only — no lower-tier controls</a:t>
            </a:r>
          </a:p>
        </p:txBody>
      </p:sp>
      <p:sp>
        <p:nvSpPr>
          <p:cNvPr id="33" name="TextBox 32"/>
          <p:cNvSpPr txBox="1"/>
          <p:nvPr/>
        </p:nvSpPr>
        <p:spPr>
          <a:xfrm>
            <a:off x="685628" y="3989000"/>
            <a:ext cx="290000" cy="193000"/>
          </a:xfrm>
          <a:prstGeom prst="rect">
            <a:avLst/>
          </a:prstGeom>
          <a:noFill/>
        </p:spPr>
        <p:txBody>
          <a:bodyPr wrap="none">
            <a:spAutoFit/>
          </a:bodyPr>
          <a:lstStyle/>
          <a:p>
            <a:pPr algn="l"/>
            <a:r>
              <a:rPr sz="800" b="0" i="0">
                <a:solidFill>
                  <a:srgbClr val="FFE500"/>
                </a:solidFill>
                <a:latin typeface="Geist ExtraBold"/>
              </a:rPr>
              <a:t>14</a:t>
            </a:r>
          </a:p>
        </p:txBody>
      </p:sp>
      <p:sp>
        <p:nvSpPr>
          <p:cNvPr id="34" name="TextBox 33"/>
          <p:cNvSpPr txBox="1"/>
          <p:nvPr/>
        </p:nvSpPr>
        <p:spPr>
          <a:xfrm>
            <a:off x="975628" y="3989000"/>
            <a:ext cx="3090000" cy="193000"/>
          </a:xfrm>
          <a:prstGeom prst="rect">
            <a:avLst/>
          </a:prstGeom>
          <a:noFill/>
        </p:spPr>
        <p:txBody>
          <a:bodyPr wrap="none">
            <a:spAutoFit/>
          </a:bodyPr>
          <a:lstStyle/>
          <a:p>
            <a:pPr algn="l"/>
            <a:r>
              <a:rPr sz="800" b="0" i="0">
                <a:solidFill>
                  <a:srgbClr val="BBBBB4"/>
                </a:solidFill>
                <a:latin typeface="Geist"/>
              </a:rPr>
              <a:t>Local MCP server is stdio-only — no remote deployments</a:t>
            </a:r>
          </a:p>
        </p:txBody>
      </p:sp>
      <p:sp>
        <p:nvSpPr>
          <p:cNvPr id="35" name="TextBox 34"/>
          <p:cNvSpPr txBox="1"/>
          <p:nvPr/>
        </p:nvSpPr>
        <p:spPr>
          <a:xfrm>
            <a:off x="685628" y="4182000"/>
            <a:ext cx="290000" cy="193000"/>
          </a:xfrm>
          <a:prstGeom prst="rect">
            <a:avLst/>
          </a:prstGeom>
          <a:noFill/>
        </p:spPr>
        <p:txBody>
          <a:bodyPr wrap="none">
            <a:spAutoFit/>
          </a:bodyPr>
          <a:lstStyle/>
          <a:p>
            <a:pPr algn="l"/>
            <a:r>
              <a:rPr sz="800" b="0" i="0">
                <a:solidFill>
                  <a:srgbClr val="FFE500"/>
                </a:solidFill>
                <a:latin typeface="Geist ExtraBold"/>
              </a:rPr>
              <a:t>15</a:t>
            </a:r>
          </a:p>
        </p:txBody>
      </p:sp>
      <p:sp>
        <p:nvSpPr>
          <p:cNvPr id="36" name="TextBox 35"/>
          <p:cNvSpPr txBox="1"/>
          <p:nvPr/>
        </p:nvSpPr>
        <p:spPr>
          <a:xfrm>
            <a:off x="975628" y="4182000"/>
            <a:ext cx="3090000" cy="193000"/>
          </a:xfrm>
          <a:prstGeom prst="rect">
            <a:avLst/>
          </a:prstGeom>
          <a:noFill/>
        </p:spPr>
        <p:txBody>
          <a:bodyPr wrap="none">
            <a:spAutoFit/>
          </a:bodyPr>
          <a:lstStyle/>
          <a:p>
            <a:pPr algn="l"/>
            <a:r>
              <a:rPr sz="800" b="0" i="0">
                <a:solidFill>
                  <a:srgbClr val="BBBBB4"/>
                </a:solidFill>
                <a:latin typeface="Geist"/>
              </a:rPr>
              <a:t>Error codes are numeric 0–79 with no published reference</a:t>
            </a:r>
          </a:p>
        </p:txBody>
      </p:sp>
      <p:sp>
        <p:nvSpPr>
          <p:cNvPr id="37" name="TextBox 36"/>
          <p:cNvSpPr txBox="1"/>
          <p:nvPr/>
        </p:nvSpPr>
        <p:spPr>
          <a:xfrm>
            <a:off x="685628" y="4375000"/>
            <a:ext cx="290000" cy="193000"/>
          </a:xfrm>
          <a:prstGeom prst="rect">
            <a:avLst/>
          </a:prstGeom>
          <a:noFill/>
        </p:spPr>
        <p:txBody>
          <a:bodyPr wrap="none">
            <a:spAutoFit/>
          </a:bodyPr>
          <a:lstStyle/>
          <a:p>
            <a:pPr algn="l"/>
            <a:r>
              <a:rPr sz="800" b="0" i="0">
                <a:solidFill>
                  <a:srgbClr val="FFE500"/>
                </a:solidFill>
                <a:latin typeface="Geist ExtraBold"/>
              </a:rPr>
              <a:t>16</a:t>
            </a:r>
          </a:p>
        </p:txBody>
      </p:sp>
      <p:sp>
        <p:nvSpPr>
          <p:cNvPr id="38" name="TextBox 37"/>
          <p:cNvSpPr txBox="1"/>
          <p:nvPr/>
        </p:nvSpPr>
        <p:spPr>
          <a:xfrm>
            <a:off x="975628" y="4375000"/>
            <a:ext cx="3090000" cy="193000"/>
          </a:xfrm>
          <a:prstGeom prst="rect">
            <a:avLst/>
          </a:prstGeom>
          <a:noFill/>
        </p:spPr>
        <p:txBody>
          <a:bodyPr wrap="none">
            <a:spAutoFit/>
          </a:bodyPr>
          <a:lstStyle/>
          <a:p>
            <a:pPr algn="l"/>
            <a:r>
              <a:rPr sz="800" b="0" i="0">
                <a:solidFill>
                  <a:srgbClr val="BBBBB4"/>
                </a:solidFill>
                <a:latin typeface="Geist"/>
              </a:rPr>
              <a:t>No sandbox — every query hits production credentials</a:t>
            </a:r>
          </a:p>
        </p:txBody>
      </p:sp>
      <p:sp>
        <p:nvSpPr>
          <p:cNvPr id="39" name="TextBox 38"/>
          <p:cNvSpPr txBox="1"/>
          <p:nvPr/>
        </p:nvSpPr>
        <p:spPr>
          <a:xfrm>
            <a:off x="4350628" y="1480000"/>
            <a:ext cx="290000" cy="193000"/>
          </a:xfrm>
          <a:prstGeom prst="rect">
            <a:avLst/>
          </a:prstGeom>
          <a:noFill/>
        </p:spPr>
        <p:txBody>
          <a:bodyPr wrap="none">
            <a:spAutoFit/>
          </a:bodyPr>
          <a:lstStyle/>
          <a:p>
            <a:pPr algn="l"/>
            <a:r>
              <a:rPr sz="800" b="0" i="0">
                <a:solidFill>
                  <a:srgbClr val="FFE500"/>
                </a:solidFill>
                <a:latin typeface="Geist ExtraBold"/>
              </a:rPr>
              <a:t>17</a:t>
            </a:r>
          </a:p>
        </p:txBody>
      </p:sp>
      <p:sp>
        <p:nvSpPr>
          <p:cNvPr id="40" name="TextBox 39"/>
          <p:cNvSpPr txBox="1"/>
          <p:nvPr/>
        </p:nvSpPr>
        <p:spPr>
          <a:xfrm>
            <a:off x="4640628" y="1480000"/>
            <a:ext cx="3090000" cy="193000"/>
          </a:xfrm>
          <a:prstGeom prst="rect">
            <a:avLst/>
          </a:prstGeom>
          <a:noFill/>
        </p:spPr>
        <p:txBody>
          <a:bodyPr wrap="none">
            <a:spAutoFit/>
          </a:bodyPr>
          <a:lstStyle/>
          <a:p>
            <a:pPr algn="l"/>
            <a:r>
              <a:rPr sz="800" b="0" i="0">
                <a:solidFill>
                  <a:srgbClr val="BBBBB4"/>
                </a:solidFill>
                <a:latin typeface="Geist"/>
              </a:rPr>
              <a:t>100M record/month fair use limit is undefined</a:t>
            </a:r>
          </a:p>
        </p:txBody>
      </p:sp>
      <p:sp>
        <p:nvSpPr>
          <p:cNvPr id="41" name="TextBox 40"/>
          <p:cNvSpPr txBox="1"/>
          <p:nvPr/>
        </p:nvSpPr>
        <p:spPr>
          <a:xfrm>
            <a:off x="4350628" y="1673000"/>
            <a:ext cx="290000" cy="193000"/>
          </a:xfrm>
          <a:prstGeom prst="rect">
            <a:avLst/>
          </a:prstGeom>
          <a:noFill/>
        </p:spPr>
        <p:txBody>
          <a:bodyPr wrap="none">
            <a:spAutoFit/>
          </a:bodyPr>
          <a:lstStyle/>
          <a:p>
            <a:pPr algn="l"/>
            <a:r>
              <a:rPr sz="800" b="0" i="0">
                <a:solidFill>
                  <a:srgbClr val="FFE500"/>
                </a:solidFill>
                <a:latin typeface="Geist ExtraBold"/>
              </a:rPr>
              <a:t>18</a:t>
            </a:r>
          </a:p>
        </p:txBody>
      </p:sp>
      <p:sp>
        <p:nvSpPr>
          <p:cNvPr id="42" name="TextBox 41"/>
          <p:cNvSpPr txBox="1"/>
          <p:nvPr/>
        </p:nvSpPr>
        <p:spPr>
          <a:xfrm>
            <a:off x="4640628" y="1673000"/>
            <a:ext cx="3090000" cy="193000"/>
          </a:xfrm>
          <a:prstGeom prst="rect">
            <a:avLst/>
          </a:prstGeom>
          <a:noFill/>
        </p:spPr>
        <p:txBody>
          <a:bodyPr wrap="none">
            <a:spAutoFit/>
          </a:bodyPr>
          <a:lstStyle/>
          <a:p>
            <a:pPr algn="l"/>
            <a:r>
              <a:rPr sz="800" b="0" i="0">
                <a:solidFill>
                  <a:srgbClr val="BBBBB4"/>
                </a:solidFill>
                <a:latin typeface="Geist"/>
              </a:rPr>
              <a:t>Per-framework docs are siloed — no unified compat matrix</a:t>
            </a:r>
          </a:p>
        </p:txBody>
      </p:sp>
      <p:sp>
        <p:nvSpPr>
          <p:cNvPr id="43" name="TextBox 42"/>
          <p:cNvSpPr txBox="1"/>
          <p:nvPr/>
        </p:nvSpPr>
        <p:spPr>
          <a:xfrm>
            <a:off x="4350628" y="1866000"/>
            <a:ext cx="290000" cy="193000"/>
          </a:xfrm>
          <a:prstGeom prst="rect">
            <a:avLst/>
          </a:prstGeom>
          <a:noFill/>
        </p:spPr>
        <p:txBody>
          <a:bodyPr wrap="none">
            <a:spAutoFit/>
          </a:bodyPr>
          <a:lstStyle/>
          <a:p>
            <a:pPr algn="l"/>
            <a:r>
              <a:rPr sz="800" b="0" i="0">
                <a:solidFill>
                  <a:srgbClr val="FFE500"/>
                </a:solidFill>
                <a:latin typeface="Geist ExtraBold"/>
              </a:rPr>
              <a:t>19</a:t>
            </a:r>
          </a:p>
        </p:txBody>
      </p:sp>
      <p:sp>
        <p:nvSpPr>
          <p:cNvPr id="44" name="TextBox 43"/>
          <p:cNvSpPr txBox="1"/>
          <p:nvPr/>
        </p:nvSpPr>
        <p:spPr>
          <a:xfrm>
            <a:off x="4640628" y="1866000"/>
            <a:ext cx="3090000" cy="193000"/>
          </a:xfrm>
          <a:prstGeom prst="rect">
            <a:avLst/>
          </a:prstGeom>
          <a:noFill/>
        </p:spPr>
        <p:txBody>
          <a:bodyPr wrap="none">
            <a:spAutoFit/>
          </a:bodyPr>
          <a:lstStyle/>
          <a:p>
            <a:pPr algn="l"/>
            <a:r>
              <a:rPr sz="800" b="0" i="0">
                <a:solidFill>
                  <a:srgbClr val="BBBBB4"/>
                </a:solidFill>
                <a:latin typeface="Geist"/>
              </a:rPr>
              <a:t>getInstructions routes agents into expensive metadata loop</a:t>
            </a:r>
          </a:p>
        </p:txBody>
      </p:sp>
      <p:sp>
        <p:nvSpPr>
          <p:cNvPr id="45" name="TextBox 44"/>
          <p:cNvSpPr txBox="1"/>
          <p:nvPr/>
        </p:nvSpPr>
        <p:spPr>
          <a:xfrm>
            <a:off x="4350628" y="2059000"/>
            <a:ext cx="290000" cy="193000"/>
          </a:xfrm>
          <a:prstGeom prst="rect">
            <a:avLst/>
          </a:prstGeom>
          <a:noFill/>
        </p:spPr>
        <p:txBody>
          <a:bodyPr wrap="none">
            <a:spAutoFit/>
          </a:bodyPr>
          <a:lstStyle/>
          <a:p>
            <a:pPr algn="l"/>
            <a:r>
              <a:rPr sz="800" b="0" i="0">
                <a:solidFill>
                  <a:srgbClr val="FFE500"/>
                </a:solidFill>
                <a:latin typeface="Geist ExtraBold"/>
              </a:rPr>
              <a:t>20</a:t>
            </a:r>
          </a:p>
        </p:txBody>
      </p:sp>
      <p:sp>
        <p:nvSpPr>
          <p:cNvPr id="46" name="TextBox 45"/>
          <p:cNvSpPr txBox="1"/>
          <p:nvPr/>
        </p:nvSpPr>
        <p:spPr>
          <a:xfrm>
            <a:off x="4640628" y="2059000"/>
            <a:ext cx="3090000" cy="193000"/>
          </a:xfrm>
          <a:prstGeom prst="rect">
            <a:avLst/>
          </a:prstGeom>
          <a:noFill/>
        </p:spPr>
        <p:txBody>
          <a:bodyPr wrap="none">
            <a:spAutoFit/>
          </a:bodyPr>
          <a:lstStyle/>
          <a:p>
            <a:pPr algn="l"/>
            <a:r>
              <a:rPr sz="800" b="0" i="0">
                <a:solidFill>
                  <a:srgbClr val="BBBBB4"/>
                </a:solidFill>
                <a:latin typeface="Geist"/>
              </a:rPr>
              <a:t>Three-part table names required, not surfaced until failure</a:t>
            </a:r>
          </a:p>
        </p:txBody>
      </p:sp>
      <p:sp>
        <p:nvSpPr>
          <p:cNvPr id="47" name="TextBox 46"/>
          <p:cNvSpPr txBox="1"/>
          <p:nvPr/>
        </p:nvSpPr>
        <p:spPr>
          <a:xfrm>
            <a:off x="4350628" y="2252000"/>
            <a:ext cx="290000" cy="193000"/>
          </a:xfrm>
          <a:prstGeom prst="rect">
            <a:avLst/>
          </a:prstGeom>
          <a:noFill/>
        </p:spPr>
        <p:txBody>
          <a:bodyPr wrap="none">
            <a:spAutoFit/>
          </a:bodyPr>
          <a:lstStyle/>
          <a:p>
            <a:pPr algn="l"/>
            <a:r>
              <a:rPr sz="800" b="0" i="0">
                <a:solidFill>
                  <a:srgbClr val="FFE500"/>
                </a:solidFill>
                <a:latin typeface="Geist ExtraBold"/>
              </a:rPr>
              <a:t>21</a:t>
            </a:r>
          </a:p>
        </p:txBody>
      </p:sp>
      <p:sp>
        <p:nvSpPr>
          <p:cNvPr id="48" name="TextBox 47"/>
          <p:cNvSpPr txBox="1"/>
          <p:nvPr/>
        </p:nvSpPr>
        <p:spPr>
          <a:xfrm>
            <a:off x="4640628" y="2252000"/>
            <a:ext cx="3090000" cy="193000"/>
          </a:xfrm>
          <a:prstGeom prst="rect">
            <a:avLst/>
          </a:prstGeom>
          <a:noFill/>
        </p:spPr>
        <p:txBody>
          <a:bodyPr wrap="none">
            <a:spAutoFit/>
          </a:bodyPr>
          <a:lstStyle/>
          <a:p>
            <a:pPr algn="l"/>
            <a:r>
              <a:rPr sz="800" b="0" i="0">
                <a:solidFill>
                  <a:srgbClr val="BBBBB4"/>
                </a:solidFill>
                <a:latin typeface="Geist"/>
              </a:rPr>
              <a:t>Tool naming breaks for multi-word or underscore source names</a:t>
            </a:r>
          </a:p>
        </p:txBody>
      </p:sp>
      <p:sp>
        <p:nvSpPr>
          <p:cNvPr id="49" name="TextBox 48"/>
          <p:cNvSpPr txBox="1"/>
          <p:nvPr/>
        </p:nvSpPr>
        <p:spPr>
          <a:xfrm>
            <a:off x="4350628" y="2445000"/>
            <a:ext cx="290000" cy="193000"/>
          </a:xfrm>
          <a:prstGeom prst="rect">
            <a:avLst/>
          </a:prstGeom>
          <a:noFill/>
        </p:spPr>
        <p:txBody>
          <a:bodyPr wrap="none">
            <a:spAutoFit/>
          </a:bodyPr>
          <a:lstStyle/>
          <a:p>
            <a:pPr algn="l"/>
            <a:r>
              <a:rPr sz="800" b="0" i="0">
                <a:solidFill>
                  <a:srgbClr val="FFE500"/>
                </a:solidFill>
                <a:latin typeface="Geist ExtraBold"/>
              </a:rPr>
              <a:t>22</a:t>
            </a:r>
          </a:p>
        </p:txBody>
      </p:sp>
      <p:sp>
        <p:nvSpPr>
          <p:cNvPr id="50" name="TextBox 49"/>
          <p:cNvSpPr txBox="1"/>
          <p:nvPr/>
        </p:nvSpPr>
        <p:spPr>
          <a:xfrm>
            <a:off x="4640628" y="2445000"/>
            <a:ext cx="3090000" cy="193000"/>
          </a:xfrm>
          <a:prstGeom prst="rect">
            <a:avLst/>
          </a:prstGeom>
          <a:noFill/>
        </p:spPr>
        <p:txBody>
          <a:bodyPr wrap="none">
            <a:spAutoFit/>
          </a:bodyPr>
          <a:lstStyle/>
          <a:p>
            <a:pPr algn="l"/>
            <a:r>
              <a:rPr sz="800" b="0" i="0">
                <a:solidFill>
                  <a:srgbClr val="BBBBB4"/>
                </a:solidFill>
                <a:latin typeface="Geist"/>
              </a:rPr>
              <a:t>No result streaming or pagination through MCP interface</a:t>
            </a:r>
          </a:p>
        </p:txBody>
      </p:sp>
      <p:sp>
        <p:nvSpPr>
          <p:cNvPr id="51" name="TextBox 50"/>
          <p:cNvSpPr txBox="1"/>
          <p:nvPr/>
        </p:nvSpPr>
        <p:spPr>
          <a:xfrm>
            <a:off x="4350628" y="2638000"/>
            <a:ext cx="290000" cy="193000"/>
          </a:xfrm>
          <a:prstGeom prst="rect">
            <a:avLst/>
          </a:prstGeom>
          <a:noFill/>
        </p:spPr>
        <p:txBody>
          <a:bodyPr wrap="none">
            <a:spAutoFit/>
          </a:bodyPr>
          <a:lstStyle/>
          <a:p>
            <a:pPr algn="l"/>
            <a:r>
              <a:rPr sz="800" b="0" i="0">
                <a:solidFill>
                  <a:srgbClr val="FFE500"/>
                </a:solidFill>
                <a:latin typeface="Geist ExtraBold"/>
              </a:rPr>
              <a:t>23</a:t>
            </a:r>
          </a:p>
        </p:txBody>
      </p:sp>
      <p:sp>
        <p:nvSpPr>
          <p:cNvPr id="52" name="TextBox 51"/>
          <p:cNvSpPr txBox="1"/>
          <p:nvPr/>
        </p:nvSpPr>
        <p:spPr>
          <a:xfrm>
            <a:off x="4640628" y="2638000"/>
            <a:ext cx="3090000" cy="193000"/>
          </a:xfrm>
          <a:prstGeom prst="rect">
            <a:avLst/>
          </a:prstGeom>
          <a:noFill/>
        </p:spPr>
        <p:txBody>
          <a:bodyPr wrap="none">
            <a:spAutoFit/>
          </a:bodyPr>
          <a:lstStyle/>
          <a:p>
            <a:pPr algn="l"/>
            <a:r>
              <a:rPr sz="800" b="0" i="0">
                <a:solidFill>
                  <a:srgbClr val="BBBBB4"/>
                </a:solidFill>
                <a:latin typeface="Geist"/>
              </a:rPr>
              <a:t>DataType enum table in REST docs, not linked from MCP pages</a:t>
            </a:r>
          </a:p>
        </p:txBody>
      </p:sp>
      <p:sp>
        <p:nvSpPr>
          <p:cNvPr id="53" name="TextBox 52"/>
          <p:cNvSpPr txBox="1"/>
          <p:nvPr/>
        </p:nvSpPr>
        <p:spPr>
          <a:xfrm>
            <a:off x="4350628" y="2831000"/>
            <a:ext cx="290000" cy="193000"/>
          </a:xfrm>
          <a:prstGeom prst="rect">
            <a:avLst/>
          </a:prstGeom>
          <a:noFill/>
        </p:spPr>
        <p:txBody>
          <a:bodyPr wrap="none">
            <a:spAutoFit/>
          </a:bodyPr>
          <a:lstStyle/>
          <a:p>
            <a:pPr algn="l"/>
            <a:r>
              <a:rPr sz="800" b="0" i="0">
                <a:solidFill>
                  <a:srgbClr val="FFE500"/>
                </a:solidFill>
                <a:latin typeface="Geist ExtraBold"/>
              </a:rPr>
              <a:t>24</a:t>
            </a:r>
          </a:p>
        </p:txBody>
      </p:sp>
      <p:sp>
        <p:nvSpPr>
          <p:cNvPr id="54" name="TextBox 53"/>
          <p:cNvSpPr txBox="1"/>
          <p:nvPr/>
        </p:nvSpPr>
        <p:spPr>
          <a:xfrm>
            <a:off x="4640628" y="2831000"/>
            <a:ext cx="3090000" cy="193000"/>
          </a:xfrm>
          <a:prstGeom prst="rect">
            <a:avLst/>
          </a:prstGeom>
          <a:noFill/>
        </p:spPr>
        <p:txBody>
          <a:bodyPr wrap="none">
            <a:spAutoFit/>
          </a:bodyPr>
          <a:lstStyle/>
          <a:p>
            <a:pPr algn="l"/>
            <a:r>
              <a:rPr sz="800" b="0" i="0">
                <a:solidFill>
                  <a:srgbClr val="BBBBB4"/>
                </a:solidFill>
                <a:latin typeface="Geist"/>
              </a:rPr>
              <a:t>MCP config examples store credentials without secrets guidance</a:t>
            </a:r>
          </a:p>
        </p:txBody>
      </p:sp>
      <p:sp>
        <p:nvSpPr>
          <p:cNvPr id="55" name="TextBox 54"/>
          <p:cNvSpPr txBox="1"/>
          <p:nvPr/>
        </p:nvSpPr>
        <p:spPr>
          <a:xfrm>
            <a:off x="4350628" y="3024000"/>
            <a:ext cx="290000" cy="193000"/>
          </a:xfrm>
          <a:prstGeom prst="rect">
            <a:avLst/>
          </a:prstGeom>
          <a:noFill/>
        </p:spPr>
        <p:txBody>
          <a:bodyPr wrap="none">
            <a:spAutoFit/>
          </a:bodyPr>
          <a:lstStyle/>
          <a:p>
            <a:pPr algn="l"/>
            <a:r>
              <a:rPr sz="800" b="0" i="0">
                <a:solidFill>
                  <a:srgbClr val="FFE500"/>
                </a:solidFill>
                <a:latin typeface="Geist ExtraBold"/>
              </a:rPr>
              <a:t>25</a:t>
            </a:r>
          </a:p>
        </p:txBody>
      </p:sp>
      <p:sp>
        <p:nvSpPr>
          <p:cNvPr id="56" name="TextBox 55"/>
          <p:cNvSpPr txBox="1"/>
          <p:nvPr/>
        </p:nvSpPr>
        <p:spPr>
          <a:xfrm>
            <a:off x="4640628" y="3024000"/>
            <a:ext cx="3090000" cy="193000"/>
          </a:xfrm>
          <a:prstGeom prst="rect">
            <a:avLst/>
          </a:prstGeom>
          <a:noFill/>
        </p:spPr>
        <p:txBody>
          <a:bodyPr wrap="none">
            <a:spAutoFit/>
          </a:bodyPr>
          <a:lstStyle/>
          <a:p>
            <a:pPr algn="l"/>
            <a:r>
              <a:rPr sz="800" b="0" i="0">
                <a:solidFill>
                  <a:srgbClr val="BBBBB4"/>
                </a:solidFill>
                <a:latin typeface="Geist"/>
              </a:rPr>
              <a:t>Docs fragmented across subdomains — domain authority split</a:t>
            </a:r>
          </a:p>
        </p:txBody>
      </p:sp>
      <p:sp>
        <p:nvSpPr>
          <p:cNvPr id="57" name="TextBox 56"/>
          <p:cNvSpPr txBox="1"/>
          <p:nvPr/>
        </p:nvSpPr>
        <p:spPr>
          <a:xfrm>
            <a:off x="4350628" y="3217000"/>
            <a:ext cx="290000" cy="193000"/>
          </a:xfrm>
          <a:prstGeom prst="rect">
            <a:avLst/>
          </a:prstGeom>
          <a:noFill/>
        </p:spPr>
        <p:txBody>
          <a:bodyPr wrap="none">
            <a:spAutoFit/>
          </a:bodyPr>
          <a:lstStyle/>
          <a:p>
            <a:pPr algn="l"/>
            <a:r>
              <a:rPr sz="800" b="0" i="0">
                <a:solidFill>
                  <a:srgbClr val="FFE500"/>
                </a:solidFill>
                <a:latin typeface="Geist ExtraBold"/>
              </a:rPr>
              <a:t>26</a:t>
            </a:r>
          </a:p>
        </p:txBody>
      </p:sp>
      <p:sp>
        <p:nvSpPr>
          <p:cNvPr id="58" name="TextBox 57"/>
          <p:cNvSpPr txBox="1"/>
          <p:nvPr/>
        </p:nvSpPr>
        <p:spPr>
          <a:xfrm>
            <a:off x="4640628" y="3217000"/>
            <a:ext cx="3090000" cy="193000"/>
          </a:xfrm>
          <a:prstGeom prst="rect">
            <a:avLst/>
          </a:prstGeom>
          <a:noFill/>
        </p:spPr>
        <p:txBody>
          <a:bodyPr wrap="none">
            <a:spAutoFit/>
          </a:bodyPr>
          <a:lstStyle/>
          <a:p>
            <a:pPr algn="l"/>
            <a:r>
              <a:rPr sz="800" b="0" i="0">
                <a:solidFill>
                  <a:srgbClr val="BBBBB4"/>
                </a:solidFill>
                <a:latin typeface="Geist"/>
              </a:rPr>
              <a:t>Docs absent from primary navigation — no docs link in header</a:t>
            </a:r>
          </a:p>
        </p:txBody>
      </p:sp>
      <p:sp>
        <p:nvSpPr>
          <p:cNvPr id="59" name="TextBox 58"/>
          <p:cNvSpPr txBox="1"/>
          <p:nvPr/>
        </p:nvSpPr>
        <p:spPr>
          <a:xfrm>
            <a:off x="4350628" y="3410000"/>
            <a:ext cx="290000" cy="193000"/>
          </a:xfrm>
          <a:prstGeom prst="rect">
            <a:avLst/>
          </a:prstGeom>
          <a:noFill/>
        </p:spPr>
        <p:txBody>
          <a:bodyPr wrap="none">
            <a:spAutoFit/>
          </a:bodyPr>
          <a:lstStyle/>
          <a:p>
            <a:pPr algn="l"/>
            <a:r>
              <a:rPr sz="800" b="0" i="0">
                <a:solidFill>
                  <a:srgbClr val="FFE500"/>
                </a:solidFill>
                <a:latin typeface="Geist ExtraBold"/>
              </a:rPr>
              <a:t>27</a:t>
            </a:r>
          </a:p>
        </p:txBody>
      </p:sp>
      <p:sp>
        <p:nvSpPr>
          <p:cNvPr id="60" name="TextBox 59"/>
          <p:cNvSpPr txBox="1"/>
          <p:nvPr/>
        </p:nvSpPr>
        <p:spPr>
          <a:xfrm>
            <a:off x="4640628" y="3410000"/>
            <a:ext cx="3090000" cy="193000"/>
          </a:xfrm>
          <a:prstGeom prst="rect">
            <a:avLst/>
          </a:prstGeom>
          <a:noFill/>
        </p:spPr>
        <p:txBody>
          <a:bodyPr wrap="none">
            <a:spAutoFit/>
          </a:bodyPr>
          <a:lstStyle/>
          <a:p>
            <a:pPr algn="l"/>
            <a:r>
              <a:rPr sz="800" b="0" i="0">
                <a:solidFill>
                  <a:srgbClr val="BBBBB4"/>
                </a:solidFill>
                <a:latin typeface="Geist"/>
              </a:rPr>
              <a:t>No model or version disclosure for any AI feature</a:t>
            </a:r>
          </a:p>
        </p:txBody>
      </p:sp>
      <p:sp>
        <p:nvSpPr>
          <p:cNvPr id="61" name="TextBox 60"/>
          <p:cNvSpPr txBox="1"/>
          <p:nvPr/>
        </p:nvSpPr>
        <p:spPr>
          <a:xfrm>
            <a:off x="4350628" y="3603000"/>
            <a:ext cx="290000" cy="193000"/>
          </a:xfrm>
          <a:prstGeom prst="rect">
            <a:avLst/>
          </a:prstGeom>
          <a:noFill/>
        </p:spPr>
        <p:txBody>
          <a:bodyPr wrap="none">
            <a:spAutoFit/>
          </a:bodyPr>
          <a:lstStyle/>
          <a:p>
            <a:pPr algn="l"/>
            <a:r>
              <a:rPr sz="800" b="0" i="0">
                <a:solidFill>
                  <a:srgbClr val="FFE500"/>
                </a:solidFill>
                <a:latin typeface="Geist ExtraBold"/>
              </a:rPr>
              <a:t>28</a:t>
            </a:r>
          </a:p>
        </p:txBody>
      </p:sp>
      <p:sp>
        <p:nvSpPr>
          <p:cNvPr id="62" name="TextBox 61"/>
          <p:cNvSpPr txBox="1"/>
          <p:nvPr/>
        </p:nvSpPr>
        <p:spPr>
          <a:xfrm>
            <a:off x="4640628" y="3603000"/>
            <a:ext cx="3090000" cy="193000"/>
          </a:xfrm>
          <a:prstGeom prst="rect">
            <a:avLst/>
          </a:prstGeom>
          <a:noFill/>
        </p:spPr>
        <p:txBody>
          <a:bodyPr wrap="none">
            <a:spAutoFit/>
          </a:bodyPr>
          <a:lstStyle/>
          <a:p>
            <a:pPr algn="l"/>
            <a:r>
              <a:rPr sz="800" b="0" i="0">
                <a:solidFill>
                  <a:srgbClr val="BBBBB4"/>
                </a:solidFill>
                <a:latin typeface="Geist"/>
              </a:rPr>
              <a:t>No latency specifications — fitness for use case unknown</a:t>
            </a:r>
          </a:p>
        </p:txBody>
      </p:sp>
      <p:sp>
        <p:nvSpPr>
          <p:cNvPr id="63" name="TextBox 62"/>
          <p:cNvSpPr txBox="1"/>
          <p:nvPr/>
        </p:nvSpPr>
        <p:spPr>
          <a:xfrm>
            <a:off x="4350628" y="3796000"/>
            <a:ext cx="290000" cy="193000"/>
          </a:xfrm>
          <a:prstGeom prst="rect">
            <a:avLst/>
          </a:prstGeom>
          <a:noFill/>
        </p:spPr>
        <p:txBody>
          <a:bodyPr wrap="none">
            <a:spAutoFit/>
          </a:bodyPr>
          <a:lstStyle/>
          <a:p>
            <a:pPr algn="l"/>
            <a:r>
              <a:rPr sz="800" b="0" i="0">
                <a:solidFill>
                  <a:srgbClr val="FFE500"/>
                </a:solidFill>
                <a:latin typeface="Geist ExtraBold"/>
              </a:rPr>
              <a:t>29</a:t>
            </a:r>
          </a:p>
        </p:txBody>
      </p:sp>
      <p:sp>
        <p:nvSpPr>
          <p:cNvPr id="64" name="TextBox 63"/>
          <p:cNvSpPr txBox="1"/>
          <p:nvPr/>
        </p:nvSpPr>
        <p:spPr>
          <a:xfrm>
            <a:off x="4640628" y="3796000"/>
            <a:ext cx="3090000" cy="193000"/>
          </a:xfrm>
          <a:prstGeom prst="rect">
            <a:avLst/>
          </a:prstGeom>
          <a:noFill/>
        </p:spPr>
        <p:txBody>
          <a:bodyPr wrap="none">
            <a:spAutoFit/>
          </a:bodyPr>
          <a:lstStyle/>
          <a:p>
            <a:pPr algn="l"/>
            <a:r>
              <a:rPr sz="800" b="0" i="0">
                <a:solidFill>
                  <a:srgbClr val="BBBBB4"/>
                </a:solidFill>
                <a:latin typeface="Geist"/>
              </a:rPr>
              <a:t>No accuracy or limitation disclosures — AI is described vaguely</a:t>
            </a:r>
          </a:p>
        </p:txBody>
      </p:sp>
      <p:sp>
        <p:nvSpPr>
          <p:cNvPr id="65" name="TextBox 64"/>
          <p:cNvSpPr txBox="1"/>
          <p:nvPr/>
        </p:nvSpPr>
        <p:spPr>
          <a:xfrm>
            <a:off x="4350628" y="3989000"/>
            <a:ext cx="290000" cy="193000"/>
          </a:xfrm>
          <a:prstGeom prst="rect">
            <a:avLst/>
          </a:prstGeom>
          <a:noFill/>
        </p:spPr>
        <p:txBody>
          <a:bodyPr wrap="none">
            <a:spAutoFit/>
          </a:bodyPr>
          <a:lstStyle/>
          <a:p>
            <a:pPr algn="l"/>
            <a:r>
              <a:rPr sz="800" b="0" i="0">
                <a:solidFill>
                  <a:srgbClr val="FFE500"/>
                </a:solidFill>
                <a:latin typeface="Geist ExtraBold"/>
              </a:rPr>
              <a:t>30</a:t>
            </a:r>
          </a:p>
        </p:txBody>
      </p:sp>
      <p:sp>
        <p:nvSpPr>
          <p:cNvPr id="66" name="TextBox 65"/>
          <p:cNvSpPr txBox="1"/>
          <p:nvPr/>
        </p:nvSpPr>
        <p:spPr>
          <a:xfrm>
            <a:off x="4640628" y="3989000"/>
            <a:ext cx="3090000" cy="193000"/>
          </a:xfrm>
          <a:prstGeom prst="rect">
            <a:avLst/>
          </a:prstGeom>
          <a:noFill/>
        </p:spPr>
        <p:txBody>
          <a:bodyPr wrap="none">
            <a:spAutoFit/>
          </a:bodyPr>
          <a:lstStyle/>
          <a:p>
            <a:pPr algn="l"/>
            <a:r>
              <a:rPr sz="800" b="0" i="0">
                <a:solidFill>
                  <a:srgbClr val="BBBBB4"/>
                </a:solidFill>
                <a:latin typeface="Geist"/>
              </a:rPr>
              <a:t>No developer override or control mechanism documented</a:t>
            </a:r>
          </a:p>
        </p:txBody>
      </p:sp>
      <p:sp>
        <p:nvSpPr>
          <p:cNvPr id="67" name="TextBox 66"/>
          <p:cNvSpPr txBox="1"/>
          <p:nvPr/>
        </p:nvSpPr>
        <p:spPr>
          <a:xfrm>
            <a:off x="4350628" y="4182000"/>
            <a:ext cx="290000" cy="193000"/>
          </a:xfrm>
          <a:prstGeom prst="rect">
            <a:avLst/>
          </a:prstGeom>
          <a:noFill/>
        </p:spPr>
        <p:txBody>
          <a:bodyPr wrap="none">
            <a:spAutoFit/>
          </a:bodyPr>
          <a:lstStyle/>
          <a:p>
            <a:pPr algn="l"/>
            <a:r>
              <a:rPr sz="800" b="0" i="0">
                <a:solidFill>
                  <a:srgbClr val="FFE500"/>
                </a:solidFill>
                <a:latin typeface="Geist ExtraBold"/>
              </a:rPr>
              <a:t>31</a:t>
            </a:r>
          </a:p>
        </p:txBody>
      </p:sp>
      <p:sp>
        <p:nvSpPr>
          <p:cNvPr id="68" name="TextBox 67"/>
          <p:cNvSpPr txBox="1"/>
          <p:nvPr/>
        </p:nvSpPr>
        <p:spPr>
          <a:xfrm>
            <a:off x="4640628" y="4182000"/>
            <a:ext cx="3090000" cy="193000"/>
          </a:xfrm>
          <a:prstGeom prst="rect">
            <a:avLst/>
          </a:prstGeom>
          <a:noFill/>
        </p:spPr>
        <p:txBody>
          <a:bodyPr wrap="none">
            <a:spAutoFit/>
          </a:bodyPr>
          <a:lstStyle/>
          <a:p>
            <a:pPr algn="l"/>
            <a:r>
              <a:rPr sz="800" b="0" i="0">
                <a:solidFill>
                  <a:srgbClr val="BBBBB4"/>
                </a:solidFill>
                <a:latin typeface="Geist"/>
              </a:rPr>
              <a:t>No cost or token implications disclosed for AI features</a:t>
            </a:r>
          </a:p>
        </p:txBody>
      </p:sp>
      <p:sp>
        <p:nvSpPr>
          <p:cNvPr id="69" name="TextBox 68"/>
          <p:cNvSpPr txBox="1"/>
          <p:nvPr/>
        </p:nvSpPr>
        <p:spPr>
          <a:xfrm>
            <a:off x="4350628" y="4375000"/>
            <a:ext cx="290000" cy="193000"/>
          </a:xfrm>
          <a:prstGeom prst="rect">
            <a:avLst/>
          </a:prstGeom>
          <a:noFill/>
        </p:spPr>
        <p:txBody>
          <a:bodyPr wrap="none">
            <a:spAutoFit/>
          </a:bodyPr>
          <a:lstStyle/>
          <a:p>
            <a:pPr algn="l"/>
            <a:r>
              <a:rPr sz="800" b="0" i="0">
                <a:solidFill>
                  <a:srgbClr val="FFE500"/>
                </a:solidFill>
                <a:latin typeface="Geist ExtraBold"/>
              </a:rPr>
              <a:t>32</a:t>
            </a:r>
          </a:p>
        </p:txBody>
      </p:sp>
      <p:sp>
        <p:nvSpPr>
          <p:cNvPr id="70" name="TextBox 69"/>
          <p:cNvSpPr txBox="1"/>
          <p:nvPr/>
        </p:nvSpPr>
        <p:spPr>
          <a:xfrm>
            <a:off x="4640628" y="4375000"/>
            <a:ext cx="3090000" cy="193000"/>
          </a:xfrm>
          <a:prstGeom prst="rect">
            <a:avLst/>
          </a:prstGeom>
          <a:noFill/>
        </p:spPr>
        <p:txBody>
          <a:bodyPr wrap="none">
            <a:spAutoFit/>
          </a:bodyPr>
          <a:lstStyle/>
          <a:p>
            <a:pPr algn="l"/>
            <a:r>
              <a:rPr sz="800" b="0" i="0">
                <a:solidFill>
                  <a:srgbClr val="BBBBB4"/>
                </a:solidFill>
                <a:latin typeface="Geist"/>
              </a:rPr>
              <a:t>docs.cloud.cdata.com fails agent-readiness checks</a:t>
            </a:r>
          </a:p>
        </p:txBody>
      </p:sp>
      <p:sp>
        <p:nvSpPr>
          <p:cNvPr id="71" name="TextBox 70"/>
          <p:cNvSpPr txBox="1"/>
          <p:nvPr/>
        </p:nvSpPr>
        <p:spPr>
          <a:xfrm>
            <a:off x="8015628" y="1480000"/>
            <a:ext cx="290000" cy="193000"/>
          </a:xfrm>
          <a:prstGeom prst="rect">
            <a:avLst/>
          </a:prstGeom>
          <a:noFill/>
        </p:spPr>
        <p:txBody>
          <a:bodyPr wrap="none">
            <a:spAutoFit/>
          </a:bodyPr>
          <a:lstStyle/>
          <a:p>
            <a:pPr algn="l"/>
            <a:r>
              <a:rPr sz="800" b="0" i="0">
                <a:solidFill>
                  <a:srgbClr val="FFE500"/>
                </a:solidFill>
                <a:latin typeface="Geist ExtraBold"/>
              </a:rPr>
              <a:t>33</a:t>
            </a:r>
          </a:p>
        </p:txBody>
      </p:sp>
      <p:sp>
        <p:nvSpPr>
          <p:cNvPr id="72" name="TextBox 71"/>
          <p:cNvSpPr txBox="1"/>
          <p:nvPr/>
        </p:nvSpPr>
        <p:spPr>
          <a:xfrm>
            <a:off x="8305628" y="1480000"/>
            <a:ext cx="3090000" cy="193000"/>
          </a:xfrm>
          <a:prstGeom prst="rect">
            <a:avLst/>
          </a:prstGeom>
          <a:noFill/>
        </p:spPr>
        <p:txBody>
          <a:bodyPr wrap="none">
            <a:spAutoFit/>
          </a:bodyPr>
          <a:lstStyle/>
          <a:p>
            <a:pPr algn="l"/>
            <a:r>
              <a:rPr sz="800" b="0" i="0">
                <a:solidFill>
                  <a:srgbClr val="BBBBB4"/>
                </a:solidFill>
                <a:latin typeface="Geist"/>
              </a:rPr>
              <a:t>In-product Help links resolve to CData Sync, not Connect AI</a:t>
            </a:r>
          </a:p>
        </p:txBody>
      </p:sp>
      <p:sp>
        <p:nvSpPr>
          <p:cNvPr id="73" name="TextBox 72"/>
          <p:cNvSpPr txBox="1"/>
          <p:nvPr/>
        </p:nvSpPr>
        <p:spPr>
          <a:xfrm>
            <a:off x="8015628" y="1673000"/>
            <a:ext cx="290000" cy="193000"/>
          </a:xfrm>
          <a:prstGeom prst="rect">
            <a:avLst/>
          </a:prstGeom>
          <a:noFill/>
        </p:spPr>
        <p:txBody>
          <a:bodyPr wrap="none">
            <a:spAutoFit/>
          </a:bodyPr>
          <a:lstStyle/>
          <a:p>
            <a:pPr algn="l"/>
            <a:r>
              <a:rPr sz="800" b="0" i="0">
                <a:solidFill>
                  <a:srgbClr val="FFE500"/>
                </a:solidFill>
                <a:latin typeface="Geist ExtraBold"/>
              </a:rPr>
              <a:t>34</a:t>
            </a:r>
          </a:p>
        </p:txBody>
      </p:sp>
      <p:sp>
        <p:nvSpPr>
          <p:cNvPr id="74" name="TextBox 73"/>
          <p:cNvSpPr txBox="1"/>
          <p:nvPr/>
        </p:nvSpPr>
        <p:spPr>
          <a:xfrm>
            <a:off x="8305628" y="1673000"/>
            <a:ext cx="3090000" cy="193000"/>
          </a:xfrm>
          <a:prstGeom prst="rect">
            <a:avLst/>
          </a:prstGeom>
          <a:noFill/>
        </p:spPr>
        <p:txBody>
          <a:bodyPr wrap="none">
            <a:spAutoFit/>
          </a:bodyPr>
          <a:lstStyle/>
          <a:p>
            <a:pPr algn="l"/>
            <a:r>
              <a:rPr sz="800" b="0" i="0">
                <a:solidFill>
                  <a:srgbClr val="BBBBB4"/>
                </a:solidFill>
                <a:latin typeface="Geist"/>
              </a:rPr>
              <a:t>Quick Start has no prerequisites section</a:t>
            </a:r>
          </a:p>
        </p:txBody>
      </p:sp>
      <p:sp>
        <p:nvSpPr>
          <p:cNvPr id="75" name="TextBox 74"/>
          <p:cNvSpPr txBox="1"/>
          <p:nvPr/>
        </p:nvSpPr>
        <p:spPr>
          <a:xfrm>
            <a:off x="8015628" y="1866000"/>
            <a:ext cx="290000" cy="193000"/>
          </a:xfrm>
          <a:prstGeom prst="rect">
            <a:avLst/>
          </a:prstGeom>
          <a:noFill/>
        </p:spPr>
        <p:txBody>
          <a:bodyPr wrap="none">
            <a:spAutoFit/>
          </a:bodyPr>
          <a:lstStyle/>
          <a:p>
            <a:pPr algn="l"/>
            <a:r>
              <a:rPr sz="800" b="0" i="0">
                <a:solidFill>
                  <a:srgbClr val="FFE500"/>
                </a:solidFill>
                <a:latin typeface="Geist ExtraBold"/>
              </a:rPr>
              <a:t>35</a:t>
            </a:r>
          </a:p>
        </p:txBody>
      </p:sp>
      <p:sp>
        <p:nvSpPr>
          <p:cNvPr id="76" name="TextBox 75"/>
          <p:cNvSpPr txBox="1"/>
          <p:nvPr/>
        </p:nvSpPr>
        <p:spPr>
          <a:xfrm>
            <a:off x="8305628" y="1866000"/>
            <a:ext cx="3090000" cy="193000"/>
          </a:xfrm>
          <a:prstGeom prst="rect">
            <a:avLst/>
          </a:prstGeom>
          <a:noFill/>
        </p:spPr>
        <p:txBody>
          <a:bodyPr wrap="none">
            <a:spAutoFit/>
          </a:bodyPr>
          <a:lstStyle/>
          <a:p>
            <a:pPr algn="l"/>
            <a:r>
              <a:rPr sz="800" b="0" i="0">
                <a:solidFill>
                  <a:srgbClr val="BBBBB4"/>
                </a:solidFill>
                <a:latin typeface="Geist"/>
              </a:rPr>
              <a:t>Zero screenshots in the Quick Start Guide</a:t>
            </a:r>
          </a:p>
        </p:txBody>
      </p:sp>
      <p:sp>
        <p:nvSpPr>
          <p:cNvPr id="77" name="TextBox 76"/>
          <p:cNvSpPr txBox="1"/>
          <p:nvPr/>
        </p:nvSpPr>
        <p:spPr>
          <a:xfrm>
            <a:off x="8015628" y="2059000"/>
            <a:ext cx="290000" cy="193000"/>
          </a:xfrm>
          <a:prstGeom prst="rect">
            <a:avLst/>
          </a:prstGeom>
          <a:noFill/>
        </p:spPr>
        <p:txBody>
          <a:bodyPr wrap="none">
            <a:spAutoFit/>
          </a:bodyPr>
          <a:lstStyle/>
          <a:p>
            <a:pPr algn="l"/>
            <a:r>
              <a:rPr sz="800" b="0" i="0">
                <a:solidFill>
                  <a:srgbClr val="FFE500"/>
                </a:solidFill>
                <a:latin typeface="Geist ExtraBold"/>
              </a:rPr>
              <a:t>36</a:t>
            </a:r>
          </a:p>
        </p:txBody>
      </p:sp>
      <p:sp>
        <p:nvSpPr>
          <p:cNvPr id="78" name="TextBox 77"/>
          <p:cNvSpPr txBox="1"/>
          <p:nvPr/>
        </p:nvSpPr>
        <p:spPr>
          <a:xfrm>
            <a:off x="8305628" y="2059000"/>
            <a:ext cx="3090000" cy="193000"/>
          </a:xfrm>
          <a:prstGeom prst="rect">
            <a:avLst/>
          </a:prstGeom>
          <a:noFill/>
        </p:spPr>
        <p:txBody>
          <a:bodyPr wrap="none">
            <a:spAutoFit/>
          </a:bodyPr>
          <a:lstStyle/>
          <a:p>
            <a:pPr algn="l"/>
            <a:r>
              <a:rPr sz="800" b="0" i="0">
                <a:solidFill>
                  <a:srgbClr val="BBBBB4"/>
                </a:solidFill>
                <a:latin typeface="Geist"/>
              </a:rPr>
              <a:t>Code samples are missing imports — not copy-pasteable</a:t>
            </a:r>
          </a:p>
        </p:txBody>
      </p:sp>
      <p:sp>
        <p:nvSpPr>
          <p:cNvPr id="79" name="TextBox 78"/>
          <p:cNvSpPr txBox="1"/>
          <p:nvPr/>
        </p:nvSpPr>
        <p:spPr>
          <a:xfrm>
            <a:off x="8015628" y="2252000"/>
            <a:ext cx="290000" cy="193000"/>
          </a:xfrm>
          <a:prstGeom prst="rect">
            <a:avLst/>
          </a:prstGeom>
          <a:noFill/>
        </p:spPr>
        <p:txBody>
          <a:bodyPr wrap="none">
            <a:spAutoFit/>
          </a:bodyPr>
          <a:lstStyle/>
          <a:p>
            <a:pPr algn="l"/>
            <a:r>
              <a:rPr sz="800" b="0" i="0">
                <a:solidFill>
                  <a:srgbClr val="FFE500"/>
                </a:solidFill>
                <a:latin typeface="Geist ExtraBold"/>
              </a:rPr>
              <a:t>37</a:t>
            </a:r>
          </a:p>
        </p:txBody>
      </p:sp>
      <p:sp>
        <p:nvSpPr>
          <p:cNvPr id="80" name="TextBox 79"/>
          <p:cNvSpPr txBox="1"/>
          <p:nvPr/>
        </p:nvSpPr>
        <p:spPr>
          <a:xfrm>
            <a:off x="8305628" y="2252000"/>
            <a:ext cx="3090000" cy="193000"/>
          </a:xfrm>
          <a:prstGeom prst="rect">
            <a:avLst/>
          </a:prstGeom>
          <a:noFill/>
        </p:spPr>
        <p:txBody>
          <a:bodyPr wrap="none">
            <a:spAutoFit/>
          </a:bodyPr>
          <a:lstStyle/>
          <a:p>
            <a:pPr algn="l"/>
            <a:r>
              <a:rPr sz="800" b="0" i="0">
                <a:solidFill>
                  <a:srgbClr val="BBBBB4"/>
                </a:solidFill>
                <a:latin typeface="Geist"/>
              </a:rPr>
              <a:t>No error handling in any code sample</a:t>
            </a:r>
          </a:p>
        </p:txBody>
      </p:sp>
      <p:sp>
        <p:nvSpPr>
          <p:cNvPr id="81" name="TextBox 80"/>
          <p:cNvSpPr txBox="1"/>
          <p:nvPr/>
        </p:nvSpPr>
        <p:spPr>
          <a:xfrm>
            <a:off x="8015628" y="2445000"/>
            <a:ext cx="290000" cy="193000"/>
          </a:xfrm>
          <a:prstGeom prst="rect">
            <a:avLst/>
          </a:prstGeom>
          <a:noFill/>
        </p:spPr>
        <p:txBody>
          <a:bodyPr wrap="none">
            <a:spAutoFit/>
          </a:bodyPr>
          <a:lstStyle/>
          <a:p>
            <a:pPr algn="l"/>
            <a:r>
              <a:rPr sz="800" b="0" i="0">
                <a:solidFill>
                  <a:srgbClr val="FFE500"/>
                </a:solidFill>
                <a:latin typeface="Geist ExtraBold"/>
              </a:rPr>
              <a:t>38</a:t>
            </a:r>
          </a:p>
        </p:txBody>
      </p:sp>
      <p:sp>
        <p:nvSpPr>
          <p:cNvPr id="82" name="TextBox 81"/>
          <p:cNvSpPr txBox="1"/>
          <p:nvPr/>
        </p:nvSpPr>
        <p:spPr>
          <a:xfrm>
            <a:off x="8305628" y="2445000"/>
            <a:ext cx="3090000" cy="193000"/>
          </a:xfrm>
          <a:prstGeom prst="rect">
            <a:avLst/>
          </a:prstGeom>
          <a:noFill/>
        </p:spPr>
        <p:txBody>
          <a:bodyPr wrap="none">
            <a:spAutoFit/>
          </a:bodyPr>
          <a:lstStyle/>
          <a:p>
            <a:pPr algn="l"/>
            <a:r>
              <a:rPr sz="800" b="0" i="0">
                <a:solidFill>
                  <a:srgbClr val="BBBBB4"/>
                </a:solidFill>
                <a:latin typeface="Geist"/>
              </a:rPr>
              <a:t>FAQ has 6 questions, no cross-links — nearly useless</a:t>
            </a:r>
          </a:p>
        </p:txBody>
      </p:sp>
      <p:sp>
        <p:nvSpPr>
          <p:cNvPr id="83" name="TextBox 82"/>
          <p:cNvSpPr txBox="1"/>
          <p:nvPr/>
        </p:nvSpPr>
        <p:spPr>
          <a:xfrm>
            <a:off x="8015628" y="2638000"/>
            <a:ext cx="290000" cy="193000"/>
          </a:xfrm>
          <a:prstGeom prst="rect">
            <a:avLst/>
          </a:prstGeom>
          <a:noFill/>
        </p:spPr>
        <p:txBody>
          <a:bodyPr wrap="none">
            <a:spAutoFit/>
          </a:bodyPr>
          <a:lstStyle/>
          <a:p>
            <a:pPr algn="l"/>
            <a:r>
              <a:rPr sz="800" b="0" i="0">
                <a:solidFill>
                  <a:srgbClr val="FFE500"/>
                </a:solidFill>
                <a:latin typeface="Geist ExtraBold"/>
              </a:rPr>
              <a:t>39</a:t>
            </a:r>
          </a:p>
        </p:txBody>
      </p:sp>
      <p:sp>
        <p:nvSpPr>
          <p:cNvPr id="84" name="TextBox 83"/>
          <p:cNvSpPr txBox="1"/>
          <p:nvPr/>
        </p:nvSpPr>
        <p:spPr>
          <a:xfrm>
            <a:off x="8305628" y="2638000"/>
            <a:ext cx="3090000" cy="193000"/>
          </a:xfrm>
          <a:prstGeom prst="rect">
            <a:avLst/>
          </a:prstGeom>
          <a:noFill/>
        </p:spPr>
        <p:txBody>
          <a:bodyPr wrap="none">
            <a:spAutoFit/>
          </a:bodyPr>
          <a:lstStyle/>
          <a:p>
            <a:pPr algn="l"/>
            <a:r>
              <a:rPr sz="800" b="0" i="0">
                <a:solidFill>
                  <a:srgbClr val="BBBBB4"/>
                </a:solidFill>
                <a:latin typeface="Geist"/>
              </a:rPr>
              <a:t>Docs home has no beginner/advanced split — navigation is flat</a:t>
            </a:r>
          </a:p>
        </p:txBody>
      </p:sp>
      <p:sp>
        <p:nvSpPr>
          <p:cNvPr id="85" name="TextBox 84"/>
          <p:cNvSpPr txBox="1"/>
          <p:nvPr/>
        </p:nvSpPr>
        <p:spPr>
          <a:xfrm>
            <a:off x="8015628" y="2831000"/>
            <a:ext cx="290000" cy="193000"/>
          </a:xfrm>
          <a:prstGeom prst="rect">
            <a:avLst/>
          </a:prstGeom>
          <a:noFill/>
        </p:spPr>
        <p:txBody>
          <a:bodyPr wrap="none">
            <a:spAutoFit/>
          </a:bodyPr>
          <a:lstStyle/>
          <a:p>
            <a:pPr algn="l"/>
            <a:r>
              <a:rPr sz="800" b="0" i="0">
                <a:solidFill>
                  <a:srgbClr val="FFE500"/>
                </a:solidFill>
                <a:latin typeface="Geist ExtraBold"/>
              </a:rPr>
              <a:t>40</a:t>
            </a:r>
          </a:p>
        </p:txBody>
      </p:sp>
      <p:sp>
        <p:nvSpPr>
          <p:cNvPr id="86" name="TextBox 85"/>
          <p:cNvSpPr txBox="1"/>
          <p:nvPr/>
        </p:nvSpPr>
        <p:spPr>
          <a:xfrm>
            <a:off x="8305628" y="2831000"/>
            <a:ext cx="3090000" cy="193000"/>
          </a:xfrm>
          <a:prstGeom prst="rect">
            <a:avLst/>
          </a:prstGeom>
          <a:noFill/>
        </p:spPr>
        <p:txBody>
          <a:bodyPr wrap="none">
            <a:spAutoFit/>
          </a:bodyPr>
          <a:lstStyle/>
          <a:p>
            <a:pPr algn="l"/>
            <a:r>
              <a:rPr sz="800" b="0" i="0">
                <a:solidFill>
                  <a:srgbClr val="BBBBB4"/>
                </a:solidFill>
                <a:latin typeface="Geist"/>
              </a:rPr>
              <a:t>No JSON-LD structured data on any audited page</a:t>
            </a:r>
          </a:p>
        </p:txBody>
      </p:sp>
      <p:sp>
        <p:nvSpPr>
          <p:cNvPr id="87" name="TextBox 86"/>
          <p:cNvSpPr txBox="1"/>
          <p:nvPr/>
        </p:nvSpPr>
        <p:spPr>
          <a:xfrm>
            <a:off x="8015628" y="3024000"/>
            <a:ext cx="290000" cy="193000"/>
          </a:xfrm>
          <a:prstGeom prst="rect">
            <a:avLst/>
          </a:prstGeom>
          <a:noFill/>
        </p:spPr>
        <p:txBody>
          <a:bodyPr wrap="none">
            <a:spAutoFit/>
          </a:bodyPr>
          <a:lstStyle/>
          <a:p>
            <a:pPr algn="l"/>
            <a:r>
              <a:rPr sz="800" b="0" i="0">
                <a:solidFill>
                  <a:srgbClr val="FFE500"/>
                </a:solidFill>
                <a:latin typeface="Geist ExtraBold"/>
              </a:rPr>
              <a:t>41</a:t>
            </a:r>
          </a:p>
        </p:txBody>
      </p:sp>
      <p:sp>
        <p:nvSpPr>
          <p:cNvPr id="88" name="TextBox 87"/>
          <p:cNvSpPr txBox="1"/>
          <p:nvPr/>
        </p:nvSpPr>
        <p:spPr>
          <a:xfrm>
            <a:off x="8305628" y="3024000"/>
            <a:ext cx="3090000" cy="193000"/>
          </a:xfrm>
          <a:prstGeom prst="rect">
            <a:avLst/>
          </a:prstGeom>
          <a:noFill/>
        </p:spPr>
        <p:txBody>
          <a:bodyPr wrap="none">
            <a:spAutoFit/>
          </a:bodyPr>
          <a:lstStyle/>
          <a:p>
            <a:pPr algn="l"/>
            <a:r>
              <a:rPr sz="800" b="0" i="0">
                <a:solidFill>
                  <a:srgbClr val="BBBBB4"/>
                </a:solidFill>
                <a:latin typeface="Geist"/>
              </a:rPr>
              <a:t>Open Graph and Twitter Card tags unconfirmed</a:t>
            </a:r>
          </a:p>
        </p:txBody>
      </p:sp>
      <p:sp>
        <p:nvSpPr>
          <p:cNvPr id="89" name="TextBox 88"/>
          <p:cNvSpPr txBox="1"/>
          <p:nvPr/>
        </p:nvSpPr>
        <p:spPr>
          <a:xfrm>
            <a:off x="8015628" y="3217000"/>
            <a:ext cx="290000" cy="193000"/>
          </a:xfrm>
          <a:prstGeom prst="rect">
            <a:avLst/>
          </a:prstGeom>
          <a:noFill/>
        </p:spPr>
        <p:txBody>
          <a:bodyPr wrap="none">
            <a:spAutoFit/>
          </a:bodyPr>
          <a:lstStyle/>
          <a:p>
            <a:pPr algn="l"/>
            <a:r>
              <a:rPr sz="800" b="0" i="0">
                <a:solidFill>
                  <a:srgbClr val="FFE500"/>
                </a:solidFill>
                <a:latin typeface="Geist ExtraBold"/>
              </a:rPr>
              <a:t>42</a:t>
            </a:r>
          </a:p>
        </p:txBody>
      </p:sp>
      <p:sp>
        <p:nvSpPr>
          <p:cNvPr id="90" name="TextBox 89"/>
          <p:cNvSpPr txBox="1"/>
          <p:nvPr/>
        </p:nvSpPr>
        <p:spPr>
          <a:xfrm>
            <a:off x="8305628" y="3217000"/>
            <a:ext cx="3090000" cy="193000"/>
          </a:xfrm>
          <a:prstGeom prst="rect">
            <a:avLst/>
          </a:prstGeom>
          <a:noFill/>
        </p:spPr>
        <p:txBody>
          <a:bodyPr wrap="none">
            <a:spAutoFit/>
          </a:bodyPr>
          <a:lstStyle/>
          <a:p>
            <a:pPr algn="l"/>
            <a:r>
              <a:rPr sz="800" b="0" i="0">
                <a:solidFill>
                  <a:srgbClr val="BBBBB4"/>
                </a:solidFill>
                <a:latin typeface="Geist"/>
              </a:rPr>
              <a:t>Docs home has no H1 — page starts with H2</a:t>
            </a:r>
          </a:p>
        </p:txBody>
      </p:sp>
      <p:sp>
        <p:nvSpPr>
          <p:cNvPr id="91" name="TextBox 90"/>
          <p:cNvSpPr txBox="1"/>
          <p:nvPr/>
        </p:nvSpPr>
        <p:spPr>
          <a:xfrm>
            <a:off x="8015628" y="3410000"/>
            <a:ext cx="290000" cy="193000"/>
          </a:xfrm>
          <a:prstGeom prst="rect">
            <a:avLst/>
          </a:prstGeom>
          <a:noFill/>
        </p:spPr>
        <p:txBody>
          <a:bodyPr wrap="none">
            <a:spAutoFit/>
          </a:bodyPr>
          <a:lstStyle/>
          <a:p>
            <a:pPr algn="l"/>
            <a:r>
              <a:rPr sz="800" b="0" i="0">
                <a:solidFill>
                  <a:srgbClr val="FFE500"/>
                </a:solidFill>
                <a:latin typeface="Geist ExtraBold"/>
              </a:rPr>
              <a:t>43</a:t>
            </a:r>
          </a:p>
        </p:txBody>
      </p:sp>
      <p:sp>
        <p:nvSpPr>
          <p:cNvPr id="92" name="TextBox 91"/>
          <p:cNvSpPr txBox="1"/>
          <p:nvPr/>
        </p:nvSpPr>
        <p:spPr>
          <a:xfrm>
            <a:off x="8305628" y="3410000"/>
            <a:ext cx="3090000" cy="193000"/>
          </a:xfrm>
          <a:prstGeom prst="rect">
            <a:avLst/>
          </a:prstGeom>
          <a:noFill/>
        </p:spPr>
        <p:txBody>
          <a:bodyPr wrap="none">
            <a:spAutoFit/>
          </a:bodyPr>
          <a:lstStyle/>
          <a:p>
            <a:pPr algn="l"/>
            <a:r>
              <a:rPr sz="800" b="0" i="0">
                <a:solidFill>
                  <a:srgbClr val="BBBBB4"/>
                </a:solidFill>
                <a:latin typeface="Geist"/>
              </a:rPr>
              <a:t>No last-updated dates on docs pages</a:t>
            </a:r>
          </a:p>
        </p:txBody>
      </p:sp>
      <p:sp>
        <p:nvSpPr>
          <p:cNvPr id="93" name="TextBox 92"/>
          <p:cNvSpPr txBox="1"/>
          <p:nvPr/>
        </p:nvSpPr>
        <p:spPr>
          <a:xfrm>
            <a:off x="8015628" y="3603000"/>
            <a:ext cx="290000" cy="193000"/>
          </a:xfrm>
          <a:prstGeom prst="rect">
            <a:avLst/>
          </a:prstGeom>
          <a:noFill/>
        </p:spPr>
        <p:txBody>
          <a:bodyPr wrap="none">
            <a:spAutoFit/>
          </a:bodyPr>
          <a:lstStyle/>
          <a:p>
            <a:pPr algn="l"/>
            <a:r>
              <a:rPr sz="800" b="0" i="0">
                <a:solidFill>
                  <a:srgbClr val="FFE500"/>
                </a:solidFill>
                <a:latin typeface="Geist ExtraBold"/>
              </a:rPr>
              <a:t>44</a:t>
            </a:r>
          </a:p>
        </p:txBody>
      </p:sp>
      <p:sp>
        <p:nvSpPr>
          <p:cNvPr id="94" name="TextBox 93"/>
          <p:cNvSpPr txBox="1"/>
          <p:nvPr/>
        </p:nvSpPr>
        <p:spPr>
          <a:xfrm>
            <a:off x="8305628" y="3603000"/>
            <a:ext cx="3090000" cy="193000"/>
          </a:xfrm>
          <a:prstGeom prst="rect">
            <a:avLst/>
          </a:prstGeom>
          <a:noFill/>
        </p:spPr>
        <p:txBody>
          <a:bodyPr wrap="none">
            <a:spAutoFit/>
          </a:bodyPr>
          <a:lstStyle/>
          <a:p>
            <a:pPr algn="l"/>
            <a:r>
              <a:rPr sz="800" b="0" i="0">
                <a:solidFill>
                  <a:srgbClr val="BBBBB4"/>
                </a:solidFill>
                <a:latin typeface="Geist"/>
              </a:rPr>
              <a:t>Blog posts lack BlogPosting schema — no author/date signals</a:t>
            </a:r>
          </a:p>
        </p:txBody>
      </p:sp>
      <p:sp>
        <p:nvSpPr>
          <p:cNvPr id="95" name="TextBox 94"/>
          <p:cNvSpPr txBox="1"/>
          <p:nvPr/>
        </p:nvSpPr>
        <p:spPr>
          <a:xfrm>
            <a:off x="8015628" y="3796000"/>
            <a:ext cx="290000" cy="193000"/>
          </a:xfrm>
          <a:prstGeom prst="rect">
            <a:avLst/>
          </a:prstGeom>
          <a:noFill/>
        </p:spPr>
        <p:txBody>
          <a:bodyPr wrap="none">
            <a:spAutoFit/>
          </a:bodyPr>
          <a:lstStyle/>
          <a:p>
            <a:pPr algn="l"/>
            <a:r>
              <a:rPr sz="800" b="0" i="0">
                <a:solidFill>
                  <a:srgbClr val="FFE500"/>
                </a:solidFill>
                <a:latin typeface="Geist ExtraBold"/>
              </a:rPr>
              <a:t>45</a:t>
            </a:r>
          </a:p>
        </p:txBody>
      </p:sp>
      <p:sp>
        <p:nvSpPr>
          <p:cNvPr id="96" name="TextBox 95"/>
          <p:cNvSpPr txBox="1"/>
          <p:nvPr/>
        </p:nvSpPr>
        <p:spPr>
          <a:xfrm>
            <a:off x="8305628" y="3796000"/>
            <a:ext cx="3090000" cy="193000"/>
          </a:xfrm>
          <a:prstGeom prst="rect">
            <a:avLst/>
          </a:prstGeom>
          <a:noFill/>
        </p:spPr>
        <p:txBody>
          <a:bodyPr wrap="none">
            <a:spAutoFit/>
          </a:bodyPr>
          <a:lstStyle/>
          <a:p>
            <a:pPr algn="l"/>
            <a:r>
              <a:rPr sz="800" b="0" i="0">
                <a:solidFill>
                  <a:srgbClr val="BBBBB4"/>
                </a:solidFill>
                <a:latin typeface="Geist"/>
              </a:rPr>
              <a:t>Sitemap is manually generated — risks going stale</a:t>
            </a:r>
          </a:p>
        </p:txBody>
      </p:sp>
      <p:sp>
        <p:nvSpPr>
          <p:cNvPr id="97" name="TextBox 96"/>
          <p:cNvSpPr txBox="1"/>
          <p:nvPr/>
        </p:nvSpPr>
        <p:spPr>
          <a:xfrm>
            <a:off x="8015628" y="3989000"/>
            <a:ext cx="290000" cy="193000"/>
          </a:xfrm>
          <a:prstGeom prst="rect">
            <a:avLst/>
          </a:prstGeom>
          <a:noFill/>
        </p:spPr>
        <p:txBody>
          <a:bodyPr wrap="none">
            <a:spAutoFit/>
          </a:bodyPr>
          <a:lstStyle/>
          <a:p>
            <a:pPr algn="l"/>
            <a:r>
              <a:rPr sz="800" b="0" i="0">
                <a:solidFill>
                  <a:srgbClr val="FFE500"/>
                </a:solidFill>
                <a:latin typeface="Geist ExtraBold"/>
              </a:rPr>
              <a:t>46</a:t>
            </a:r>
          </a:p>
        </p:txBody>
      </p:sp>
      <p:sp>
        <p:nvSpPr>
          <p:cNvPr id="98" name="TextBox 97"/>
          <p:cNvSpPr txBox="1"/>
          <p:nvPr/>
        </p:nvSpPr>
        <p:spPr>
          <a:xfrm>
            <a:off x="8305628" y="3989000"/>
            <a:ext cx="3090000" cy="193000"/>
          </a:xfrm>
          <a:prstGeom prst="rect">
            <a:avLst/>
          </a:prstGeom>
          <a:noFill/>
        </p:spPr>
        <p:txBody>
          <a:bodyPr wrap="none">
            <a:spAutoFit/>
          </a:bodyPr>
          <a:lstStyle/>
          <a:p>
            <a:pPr algn="l"/>
            <a:r>
              <a:rPr sz="800" b="0" i="0">
                <a:solidFill>
                  <a:srgbClr val="BBBBB4"/>
                </a:solidFill>
                <a:latin typeface="Geist"/>
              </a:rPr>
              <a:t>hreflang tags absent despite Japanese documentation existing</a:t>
            </a:r>
          </a:p>
        </p:txBody>
      </p:sp>
      <p:sp>
        <p:nvSpPr>
          <p:cNvPr id="99" name="TextBox 98"/>
          <p:cNvSpPr txBox="1"/>
          <p:nvPr/>
        </p:nvSpPr>
        <p:spPr>
          <a:xfrm>
            <a:off x="8015628" y="4182000"/>
            <a:ext cx="290000" cy="193000"/>
          </a:xfrm>
          <a:prstGeom prst="rect">
            <a:avLst/>
          </a:prstGeom>
          <a:noFill/>
        </p:spPr>
        <p:txBody>
          <a:bodyPr wrap="none">
            <a:spAutoFit/>
          </a:bodyPr>
          <a:lstStyle/>
          <a:p>
            <a:pPr algn="l"/>
            <a:r>
              <a:rPr sz="800" b="0" i="0">
                <a:solidFill>
                  <a:srgbClr val="FFE500"/>
                </a:solidFill>
                <a:latin typeface="Geist ExtraBold"/>
              </a:rPr>
              <a:t>47</a:t>
            </a:r>
          </a:p>
        </p:txBody>
      </p:sp>
      <p:sp>
        <p:nvSpPr>
          <p:cNvPr id="100" name="TextBox 99"/>
          <p:cNvSpPr txBox="1"/>
          <p:nvPr/>
        </p:nvSpPr>
        <p:spPr>
          <a:xfrm>
            <a:off x="8305628" y="4182000"/>
            <a:ext cx="3090000" cy="193000"/>
          </a:xfrm>
          <a:prstGeom prst="rect">
            <a:avLst/>
          </a:prstGeom>
          <a:noFill/>
        </p:spPr>
        <p:txBody>
          <a:bodyPr wrap="none">
            <a:spAutoFit/>
          </a:bodyPr>
          <a:lstStyle/>
          <a:p>
            <a:pPr algn="l"/>
            <a:r>
              <a:rPr sz="800" b="0" i="0">
                <a:solidFill>
                  <a:srgbClr val="BBBBB4"/>
                </a:solidFill>
                <a:latin typeface="Geist"/>
              </a:rPr>
              <a:t>Image alt text uses filenames — keyword opportunity missed</a:t>
            </a:r>
          </a:p>
        </p:txBody>
      </p:sp>
      <p:sp>
        <p:nvSpPr>
          <p:cNvPr id="101" name="TextBox 100"/>
          <p:cNvSpPr txBox="1"/>
          <p:nvPr/>
        </p:nvSpPr>
        <p:spPr>
          <a:xfrm>
            <a:off x="685628" y="6300000"/>
            <a:ext cx="10820744" cy="260000"/>
          </a:xfrm>
          <a:prstGeom prst="rect">
            <a:avLst/>
          </a:prstGeom>
          <a:noFill/>
        </p:spPr>
        <p:txBody>
          <a:bodyPr wrap="none">
            <a:spAutoFit/>
          </a:bodyPr>
          <a:lstStyle/>
          <a:p>
            <a:pPr algn="l"/>
            <a:r>
              <a:rPr sz="900" b="0" i="0">
                <a:solidFill>
                  <a:srgbClr val="808080"/>
                </a:solidFill>
                <a:latin typeface="Geist"/>
              </a:rPr>
              <a:t>SOURCE  Full audit: docs/dx-audit.md  ·  github.com/JoeKarlsson/connect-ai-agent-demo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2000000"/>
            <a:ext cx="10820744" cy="1200000"/>
          </a:xfrm>
          <a:prstGeom prst="rect">
            <a:avLst/>
          </a:prstGeom>
          <a:noFill/>
        </p:spPr>
        <p:txBody>
          <a:bodyPr wrap="square">
            <a:spAutoFit/>
          </a:bodyPr>
          <a:lstStyle/>
          <a:p>
            <a:pPr algn="l"/>
            <a:r>
              <a:rPr sz="4400" b="0" i="0">
                <a:solidFill>
                  <a:srgbClr val="FFFFFF"/>
                </a:solidFill>
                <a:latin typeface="Geist ExtraBold"/>
              </a:rPr>
              <a:t>I'm not going to walk you through all 47.</a:t>
            </a:r>
          </a:p>
        </p:txBody>
      </p:sp>
      <p:sp>
        <p:nvSpPr>
          <p:cNvPr id="4" name="TextBox 3"/>
          <p:cNvSpPr txBox="1"/>
          <p:nvPr/>
        </p:nvSpPr>
        <p:spPr>
          <a:xfrm>
            <a:off x="685628" y="3400000"/>
            <a:ext cx="10820744" cy="700000"/>
          </a:xfrm>
          <a:prstGeom prst="rect">
            <a:avLst/>
          </a:prstGeom>
          <a:noFill/>
        </p:spPr>
        <p:txBody>
          <a:bodyPr wrap="square">
            <a:spAutoFit/>
          </a:bodyPr>
          <a:lstStyle/>
          <a:p>
            <a:pPr algn="l"/>
            <a:r>
              <a:rPr sz="2600" b="0" i="0">
                <a:solidFill>
                  <a:srgbClr val="FFE500"/>
                </a:solidFill>
                <a:latin typeface="Geist"/>
              </a:rPr>
              <a:t>I want you to see the scope.</a:t>
            </a:r>
          </a:p>
        </p:txBody>
      </p:sp>
      <p:sp>
        <p:nvSpPr>
          <p:cNvPr id="5" name="TextBox 4"/>
          <p:cNvSpPr txBox="1"/>
          <p:nvPr/>
        </p:nvSpPr>
        <p:spPr>
          <a:xfrm>
            <a:off x="685628" y="4200000"/>
            <a:ext cx="10820744" cy="700000"/>
          </a:xfrm>
          <a:prstGeom prst="rect">
            <a:avLst/>
          </a:prstGeom>
          <a:noFill/>
        </p:spPr>
        <p:txBody>
          <a:bodyPr wrap="square">
            <a:spAutoFit/>
          </a:bodyPr>
          <a:lstStyle/>
          <a:p>
            <a:pPr algn="l"/>
            <a:r>
              <a:rPr sz="2200" b="0" i="0">
                <a:solidFill>
                  <a:srgbClr val="808080"/>
                </a:solidFill>
                <a:latin typeface="Geist"/>
              </a:rPr>
              <a:t>Let me show you the ones that matter most strategically.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THE STANDARD</a:t>
            </a:r>
          </a:p>
        </p:txBody>
      </p:sp>
      <p:sp>
        <p:nvSpPr>
          <p:cNvPr id="4" name="TextBox 3"/>
          <p:cNvSpPr txBox="1"/>
          <p:nvPr/>
        </p:nvSpPr>
        <p:spPr>
          <a:xfrm>
            <a:off x="685628" y="620000"/>
            <a:ext cx="10820744" cy="800000"/>
          </a:xfrm>
          <a:prstGeom prst="rect">
            <a:avLst/>
          </a:prstGeom>
          <a:noFill/>
        </p:spPr>
        <p:txBody>
          <a:bodyPr wrap="square">
            <a:spAutoFit/>
          </a:bodyPr>
          <a:lstStyle/>
          <a:p>
            <a:pPr algn="l"/>
            <a:r>
              <a:rPr sz="3200" b="0" i="0">
                <a:solidFill>
                  <a:srgbClr val="1A1A1A"/>
                </a:solidFill>
                <a:latin typeface="Geist ExtraBold"/>
              </a:rPr>
              <a:t>AI developers expect five things from AI feature documentation.</a:t>
            </a:r>
          </a:p>
        </p:txBody>
      </p:sp>
      <p:sp>
        <p:nvSpPr>
          <p:cNvPr id="5" name="TextBox 4"/>
          <p:cNvSpPr txBox="1"/>
          <p:nvPr/>
        </p:nvSpPr>
        <p:spPr>
          <a:xfrm>
            <a:off x="685628" y="1520000"/>
            <a:ext cx="10820744" cy="500000"/>
          </a:xfrm>
          <a:prstGeom prst="rect">
            <a:avLst/>
          </a:prstGeom>
          <a:noFill/>
        </p:spPr>
        <p:txBody>
          <a:bodyPr wrap="square">
            <a:spAutoFit/>
          </a:bodyPr>
          <a:lstStyle/>
          <a:p>
            <a:pPr algn="l"/>
            <a:r>
              <a:rPr sz="2200" b="0" i="0">
                <a:solidFill>
                  <a:srgbClr val="1A1A1A"/>
                </a:solidFill>
                <a:latin typeface="Geist ExtraBold"/>
              </a:rPr>
              <a:t>CData Connect AI provides none of them.</a:t>
            </a:r>
          </a:p>
        </p:txBody>
      </p:sp>
      <p:sp>
        <p:nvSpPr>
          <p:cNvPr id="6" name="Rectangle 5"/>
          <p:cNvSpPr/>
          <p:nvPr/>
        </p:nvSpPr>
        <p:spPr>
          <a:xfrm>
            <a:off x="685628" y="2200000"/>
            <a:ext cx="10820744" cy="82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628" y="2200000"/>
            <a:ext cx="10000" cy="82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5628" y="2300000"/>
            <a:ext cx="2600000" cy="300000"/>
          </a:xfrm>
          <a:prstGeom prst="rect">
            <a:avLst/>
          </a:prstGeom>
          <a:noFill/>
        </p:spPr>
        <p:txBody>
          <a:bodyPr wrap="none">
            <a:spAutoFit/>
          </a:bodyPr>
          <a:lstStyle/>
          <a:p>
            <a:pPr algn="l"/>
            <a:r>
              <a:rPr sz="1300" b="0" i="0">
                <a:solidFill>
                  <a:srgbClr val="1A1A1A"/>
                </a:solidFill>
                <a:latin typeface="Geist ExtraBold"/>
              </a:rPr>
              <a:t>Model + version</a:t>
            </a:r>
          </a:p>
        </p:txBody>
      </p:sp>
      <p:sp>
        <p:nvSpPr>
          <p:cNvPr id="9" name="TextBox 8"/>
          <p:cNvSpPr txBox="1"/>
          <p:nvPr/>
        </p:nvSpPr>
        <p:spPr>
          <a:xfrm>
            <a:off x="3585628" y="2300000"/>
            <a:ext cx="7720744" cy="650000"/>
          </a:xfrm>
          <a:prstGeom prst="rect">
            <a:avLst/>
          </a:prstGeom>
          <a:noFill/>
        </p:spPr>
        <p:txBody>
          <a:bodyPr wrap="square">
            <a:spAutoFit/>
          </a:bodyPr>
          <a:lstStyle/>
          <a:p>
            <a:pPr algn="l"/>
            <a:r>
              <a:rPr sz="1200" b="0" i="0">
                <a:solidFill>
                  <a:srgbClr val="C03030"/>
                </a:solidFill>
                <a:latin typeface="Geist"/>
              </a:rPr>
              <a:t>Not disclosed anywhere in product or docs.</a:t>
            </a:r>
          </a:p>
        </p:txBody>
      </p:sp>
      <p:sp>
        <p:nvSpPr>
          <p:cNvPr id="10" name="Rectangle 9"/>
          <p:cNvSpPr/>
          <p:nvPr/>
        </p:nvSpPr>
        <p:spPr>
          <a:xfrm>
            <a:off x="685628" y="3050000"/>
            <a:ext cx="10820744" cy="820000"/>
          </a:xfrm>
          <a:prstGeom prst="rect">
            <a:avLst/>
          </a:prstGeom>
          <a:solidFill>
            <a:srgbClr val="F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628" y="3050000"/>
            <a:ext cx="10000" cy="82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5628" y="3150000"/>
            <a:ext cx="2600000" cy="300000"/>
          </a:xfrm>
          <a:prstGeom prst="rect">
            <a:avLst/>
          </a:prstGeom>
          <a:noFill/>
        </p:spPr>
        <p:txBody>
          <a:bodyPr wrap="none">
            <a:spAutoFit/>
          </a:bodyPr>
          <a:lstStyle/>
          <a:p>
            <a:pPr algn="l"/>
            <a:r>
              <a:rPr sz="1300" b="0" i="0">
                <a:solidFill>
                  <a:srgbClr val="1A1A1A"/>
                </a:solidFill>
                <a:latin typeface="Geist ExtraBold"/>
              </a:rPr>
              <a:t>Input/output specs</a:t>
            </a:r>
          </a:p>
        </p:txBody>
      </p:sp>
      <p:sp>
        <p:nvSpPr>
          <p:cNvPr id="13" name="TextBox 12"/>
          <p:cNvSpPr txBox="1"/>
          <p:nvPr/>
        </p:nvSpPr>
        <p:spPr>
          <a:xfrm>
            <a:off x="3585628" y="3150000"/>
            <a:ext cx="7720744" cy="650000"/>
          </a:xfrm>
          <a:prstGeom prst="rect">
            <a:avLst/>
          </a:prstGeom>
          <a:noFill/>
        </p:spPr>
        <p:txBody>
          <a:bodyPr wrap="square">
            <a:spAutoFit/>
          </a:bodyPr>
          <a:lstStyle/>
          <a:p>
            <a:pPr algn="l"/>
            <a:r>
              <a:rPr sz="1200" b="0" i="0">
                <a:solidFill>
                  <a:srgbClr val="C03030"/>
                </a:solidFill>
                <a:latin typeface="Geist"/>
              </a:rPr>
              <a:t>No token limit disclosure. No input constraints documented.</a:t>
            </a:r>
          </a:p>
        </p:txBody>
      </p:sp>
      <p:sp>
        <p:nvSpPr>
          <p:cNvPr id="14" name="Rectangle 13"/>
          <p:cNvSpPr/>
          <p:nvPr/>
        </p:nvSpPr>
        <p:spPr>
          <a:xfrm>
            <a:off x="685628" y="3900000"/>
            <a:ext cx="10820744" cy="82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628" y="3900000"/>
            <a:ext cx="10000" cy="82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5628" y="4000000"/>
            <a:ext cx="2600000" cy="300000"/>
          </a:xfrm>
          <a:prstGeom prst="rect">
            <a:avLst/>
          </a:prstGeom>
          <a:noFill/>
        </p:spPr>
        <p:txBody>
          <a:bodyPr wrap="none">
            <a:spAutoFit/>
          </a:bodyPr>
          <a:lstStyle/>
          <a:p>
            <a:pPr algn="l"/>
            <a:r>
              <a:rPr sz="1300" b="0" i="0">
                <a:solidFill>
                  <a:srgbClr val="1A1A1A"/>
                </a:solidFill>
                <a:latin typeface="Geist ExtraBold"/>
              </a:rPr>
              <a:t>Accuracy + limitations</a:t>
            </a:r>
          </a:p>
        </p:txBody>
      </p:sp>
      <p:sp>
        <p:nvSpPr>
          <p:cNvPr id="17" name="TextBox 16"/>
          <p:cNvSpPr txBox="1"/>
          <p:nvPr/>
        </p:nvSpPr>
        <p:spPr>
          <a:xfrm>
            <a:off x="3585628" y="4000000"/>
            <a:ext cx="7720744" cy="650000"/>
          </a:xfrm>
          <a:prstGeom prst="rect">
            <a:avLst/>
          </a:prstGeom>
          <a:noFill/>
        </p:spPr>
        <p:txBody>
          <a:bodyPr wrap="square">
            <a:spAutoFit/>
          </a:bodyPr>
          <a:lstStyle/>
          <a:p>
            <a:pPr algn="l"/>
            <a:r>
              <a:rPr sz="1200" b="0" i="0">
                <a:solidFill>
                  <a:srgbClr val="C03030"/>
                </a:solidFill>
                <a:latin typeface="Geist"/>
              </a:rPr>
              <a:t>"98.5% accuracy across 378 queries" — no methodology, no connector breakdown.</a:t>
            </a:r>
          </a:p>
        </p:txBody>
      </p:sp>
      <p:sp>
        <p:nvSpPr>
          <p:cNvPr id="18" name="Rectangle 17"/>
          <p:cNvSpPr/>
          <p:nvPr/>
        </p:nvSpPr>
        <p:spPr>
          <a:xfrm>
            <a:off x="685628" y="4750000"/>
            <a:ext cx="10820744" cy="820000"/>
          </a:xfrm>
          <a:prstGeom prst="rect">
            <a:avLst/>
          </a:prstGeom>
          <a:solidFill>
            <a:srgbClr val="F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628" y="4750000"/>
            <a:ext cx="10000" cy="82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5628" y="4850000"/>
            <a:ext cx="2600000" cy="300000"/>
          </a:xfrm>
          <a:prstGeom prst="rect">
            <a:avLst/>
          </a:prstGeom>
          <a:noFill/>
        </p:spPr>
        <p:txBody>
          <a:bodyPr wrap="none">
            <a:spAutoFit/>
          </a:bodyPr>
          <a:lstStyle/>
          <a:p>
            <a:pPr algn="l"/>
            <a:r>
              <a:rPr sz="1300" b="0" i="0">
                <a:solidFill>
                  <a:srgbClr val="1A1A1A"/>
                </a:solidFill>
                <a:latin typeface="Geist ExtraBold"/>
              </a:rPr>
              <a:t>Failure modes + recovery</a:t>
            </a:r>
          </a:p>
        </p:txBody>
      </p:sp>
      <p:sp>
        <p:nvSpPr>
          <p:cNvPr id="21" name="TextBox 20"/>
          <p:cNvSpPr txBox="1"/>
          <p:nvPr/>
        </p:nvSpPr>
        <p:spPr>
          <a:xfrm>
            <a:off x="3585628" y="4850000"/>
            <a:ext cx="7720744" cy="650000"/>
          </a:xfrm>
          <a:prstGeom prst="rect">
            <a:avLst/>
          </a:prstGeom>
          <a:noFill/>
        </p:spPr>
        <p:txBody>
          <a:bodyPr wrap="square">
            <a:spAutoFit/>
          </a:bodyPr>
          <a:lstStyle/>
          <a:p>
            <a:pPr algn="l"/>
            <a:r>
              <a:rPr sz="1200" b="0" i="0">
                <a:solidFill>
                  <a:srgbClr val="C03030"/>
                </a:solidFill>
                <a:latin typeface="Geist"/>
              </a:rPr>
              <a:t>Black box. No fallback, no dry run, no SQL preview before write operations.</a:t>
            </a:r>
          </a:p>
        </p:txBody>
      </p:sp>
      <p:sp>
        <p:nvSpPr>
          <p:cNvPr id="22" name="Rectangle 21"/>
          <p:cNvSpPr/>
          <p:nvPr/>
        </p:nvSpPr>
        <p:spPr>
          <a:xfrm>
            <a:off x="685628" y="5600000"/>
            <a:ext cx="10820744" cy="82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628" y="5600000"/>
            <a:ext cx="10000" cy="82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5628" y="5700000"/>
            <a:ext cx="2600000" cy="300000"/>
          </a:xfrm>
          <a:prstGeom prst="rect">
            <a:avLst/>
          </a:prstGeom>
          <a:noFill/>
        </p:spPr>
        <p:txBody>
          <a:bodyPr wrap="none">
            <a:spAutoFit/>
          </a:bodyPr>
          <a:lstStyle/>
          <a:p>
            <a:pPr algn="l"/>
            <a:r>
              <a:rPr sz="1300" b="0" i="0">
                <a:solidFill>
                  <a:srgbClr val="1A1A1A"/>
                </a:solidFill>
                <a:latin typeface="Geist ExtraBold"/>
              </a:rPr>
              <a:t>Cost implications</a:t>
            </a:r>
          </a:p>
        </p:txBody>
      </p:sp>
      <p:sp>
        <p:nvSpPr>
          <p:cNvPr id="25" name="TextBox 24"/>
          <p:cNvSpPr txBox="1"/>
          <p:nvPr/>
        </p:nvSpPr>
        <p:spPr>
          <a:xfrm>
            <a:off x="3585628" y="5700000"/>
            <a:ext cx="7720744" cy="650000"/>
          </a:xfrm>
          <a:prstGeom prst="rect">
            <a:avLst/>
          </a:prstGeom>
          <a:noFill/>
        </p:spPr>
        <p:txBody>
          <a:bodyPr wrap="square">
            <a:spAutoFit/>
          </a:bodyPr>
          <a:lstStyle/>
          <a:p>
            <a:pPr algn="l"/>
            <a:r>
              <a:rPr sz="1200" b="0" i="0">
                <a:solidFill>
                  <a:srgbClr val="C03030"/>
                </a:solidFill>
                <a:latin typeface="Geist"/>
              </a:rPr>
              <a:t>/connect-ai/pricing returns a 404. No token implications disclosed anywhere.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STRATEGIC FINDING #1</a:t>
            </a:r>
          </a:p>
        </p:txBody>
      </p:sp>
      <p:sp>
        <p:nvSpPr>
          <p:cNvPr id="4" name="TextBox 3"/>
          <p:cNvSpPr txBox="1"/>
          <p:nvPr/>
        </p:nvSpPr>
        <p:spPr>
          <a:xfrm>
            <a:off x="685628" y="620000"/>
            <a:ext cx="10820744" cy="1200000"/>
          </a:xfrm>
          <a:prstGeom prst="rect">
            <a:avLst/>
          </a:prstGeom>
          <a:noFill/>
        </p:spPr>
        <p:txBody>
          <a:bodyPr wrap="square">
            <a:spAutoFit/>
          </a:bodyPr>
          <a:lstStyle/>
          <a:p>
            <a:pPr algn="l"/>
            <a:r>
              <a:rPr sz="3600" b="0" i="0">
                <a:solidFill>
                  <a:srgbClr val="1A1A1A"/>
                </a:solidFill>
                <a:latin typeface="Geist ExtraBold"/>
              </a:rPr>
              <a:t>CData Is Invisible in the AI Developer's Information Environment.</a:t>
            </a:r>
          </a:p>
        </p:txBody>
      </p:sp>
      <p:sp>
        <p:nvSpPr>
          <p:cNvPr id="5" name="TextBox 4"/>
          <p:cNvSpPr txBox="1"/>
          <p:nvPr/>
        </p:nvSpPr>
        <p:spPr>
          <a:xfrm>
            <a:off x="685628" y="2100000"/>
            <a:ext cx="10820744" cy="800000"/>
          </a:xfrm>
          <a:prstGeom prst="rect">
            <a:avLst/>
          </a:prstGeom>
          <a:noFill/>
        </p:spPr>
        <p:txBody>
          <a:bodyPr wrap="square">
            <a:spAutoFit/>
          </a:bodyPr>
          <a:lstStyle/>
          <a:p>
            <a:pPr algn="l"/>
            <a:r>
              <a:rPr sz="2400" b="0" i="0">
                <a:solidFill>
                  <a:srgbClr val="4A4A4A"/>
                </a:solidFill>
                <a:latin typeface="Geist"/>
              </a:rPr>
              <a:t>I asked Claude Code which tool to use to connect AI agents to enterprise data.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Rounded Rectangle 2"/>
          <p:cNvSpPr/>
          <p:nvPr/>
        </p:nvSpPr>
        <p:spPr>
          <a:xfrm>
            <a:off x="685628" y="1200000"/>
            <a:ext cx="10820744" cy="4200000"/>
          </a:xfrm>
          <a:prstGeom prst="round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628" y="1200000"/>
            <a:ext cx="10820744" cy="8000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5628" y="1350000"/>
            <a:ext cx="10820744" cy="300000"/>
          </a:xfrm>
          <a:prstGeom prst="rect">
            <a:avLst/>
          </a:prstGeom>
          <a:noFill/>
        </p:spPr>
        <p:txBody>
          <a:bodyPr wrap="none">
            <a:spAutoFit/>
          </a:bodyPr>
          <a:lstStyle/>
          <a:p>
            <a:pPr algn="l"/>
            <a:r>
              <a:rPr sz="1100" b="0" i="0">
                <a:solidFill>
                  <a:srgbClr val="808080"/>
                </a:solidFill>
                <a:latin typeface="Geist"/>
              </a:rPr>
              <a:t>Claude Code — May 8, 2026</a:t>
            </a:r>
          </a:p>
        </p:txBody>
      </p:sp>
      <p:sp>
        <p:nvSpPr>
          <p:cNvPr id="6" name="TextBox 5"/>
          <p:cNvSpPr txBox="1"/>
          <p:nvPr/>
        </p:nvSpPr>
        <p:spPr>
          <a:xfrm>
            <a:off x="985628" y="1800000"/>
            <a:ext cx="10220744" cy="3400000"/>
          </a:xfrm>
          <a:prstGeom prst="rect">
            <a:avLst/>
          </a:prstGeom>
          <a:noFill/>
        </p:spPr>
        <p:txBody>
          <a:bodyPr wrap="square">
            <a:spAutoFit/>
          </a:bodyPr>
          <a:lstStyle/>
          <a:p>
            <a:pPr algn="l"/>
            <a:r>
              <a:rPr sz="1500" b="0" i="0">
                <a:solidFill>
                  <a:srgbClr val="E0E0E0"/>
                </a:solidFill>
                <a:latin typeface="Courier New"/>
              </a:rPr>
              <a:t>"For connecting AI agents to enterprise data via MCP, I recommend Composio. It supports 250+ integrations including Salesforce, Jira, GitHub, Slack, and HubSpot with a clean MCP server implementation. The free tier covers most development needs and the documentation is excellent for agent builders.
For enterprise data specifically, you might also look at Airbyte for batch pipelines or build custom MCP servers for your specific sources."</a:t>
            </a:r>
          </a:p>
        </p:txBody>
      </p:sp>
      <p:sp>
        <p:nvSpPr>
          <p:cNvPr id="7" name="TextBox 6"/>
          <p:cNvSpPr txBox="1"/>
          <p:nvPr/>
        </p:nvSpPr>
        <p:spPr>
          <a:xfrm>
            <a:off x="685628" y="5700000"/>
            <a:ext cx="10820744" cy="500000"/>
          </a:xfrm>
          <a:prstGeom prst="rect">
            <a:avLst/>
          </a:prstGeom>
          <a:noFill/>
        </p:spPr>
        <p:txBody>
          <a:bodyPr wrap="none">
            <a:spAutoFit/>
          </a:bodyPr>
          <a:lstStyle/>
          <a:p>
            <a:pPr algn="l"/>
            <a:r>
              <a:rPr sz="2400" b="0" i="0">
                <a:solidFill>
                  <a:srgbClr val="FFE500"/>
                </a:solidFill>
                <a:latin typeface="Geist ExtraBold"/>
              </a:rPr>
              <a:t>CData not mentioned.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LLM BASELINE — MAY 8, 2026</a:t>
            </a:r>
          </a:p>
        </p:txBody>
      </p:sp>
      <p:sp>
        <p:nvSpPr>
          <p:cNvPr id="4" name="TextBox 3"/>
          <p:cNvSpPr txBox="1"/>
          <p:nvPr/>
        </p:nvSpPr>
        <p:spPr>
          <a:xfrm>
            <a:off x="685628" y="620000"/>
            <a:ext cx="10820744" cy="800000"/>
          </a:xfrm>
          <a:prstGeom prst="rect">
            <a:avLst/>
          </a:prstGeom>
          <a:noFill/>
        </p:spPr>
        <p:txBody>
          <a:bodyPr wrap="square">
            <a:spAutoFit/>
          </a:bodyPr>
          <a:lstStyle/>
          <a:p>
            <a:pPr algn="l"/>
            <a:r>
              <a:rPr sz="3400" b="0" i="0">
                <a:solidFill>
                  <a:srgbClr val="1A1A1A"/>
                </a:solidFill>
                <a:latin typeface="Geist ExtraBold"/>
              </a:rPr>
              <a:t>I ran 5 key queries. CData appeared in 0 of them.</a:t>
            </a:r>
          </a:p>
        </p:txBody>
      </p:sp>
      <p:sp>
        <p:nvSpPr>
          <p:cNvPr id="5" name="Rectangle 4"/>
          <p:cNvSpPr/>
          <p:nvPr/>
        </p:nvSpPr>
        <p:spPr>
          <a:xfrm>
            <a:off x="685628" y="1700000"/>
            <a:ext cx="10820744" cy="340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5628" y="1770000"/>
            <a:ext cx="3800000" cy="240000"/>
          </a:xfrm>
          <a:prstGeom prst="rect">
            <a:avLst/>
          </a:prstGeom>
          <a:noFill/>
        </p:spPr>
        <p:txBody>
          <a:bodyPr wrap="none">
            <a:spAutoFit/>
          </a:bodyPr>
          <a:lstStyle/>
          <a:p>
            <a:pPr algn="l"/>
            <a:r>
              <a:rPr sz="1100" b="0" i="0">
                <a:solidFill>
                  <a:srgbClr val="FFFFFF"/>
                </a:solidFill>
                <a:latin typeface="Geist ExtraBold"/>
              </a:rPr>
              <a:t>Query</a:t>
            </a:r>
          </a:p>
        </p:txBody>
      </p:sp>
      <p:sp>
        <p:nvSpPr>
          <p:cNvPr id="7" name="TextBox 6"/>
          <p:cNvSpPr txBox="1"/>
          <p:nvPr/>
        </p:nvSpPr>
        <p:spPr>
          <a:xfrm>
            <a:off x="5465628" y="1770000"/>
            <a:ext cx="3800000" cy="240000"/>
          </a:xfrm>
          <a:prstGeom prst="rect">
            <a:avLst/>
          </a:prstGeom>
          <a:noFill/>
        </p:spPr>
        <p:txBody>
          <a:bodyPr wrap="none">
            <a:spAutoFit/>
          </a:bodyPr>
          <a:lstStyle/>
          <a:p>
            <a:pPr algn="l"/>
            <a:r>
              <a:rPr sz="1100" b="0" i="0">
                <a:solidFill>
                  <a:srgbClr val="FFFFFF"/>
                </a:solidFill>
                <a:latin typeface="Geist ExtraBold"/>
              </a:rPr>
              <a:t>Composio</a:t>
            </a:r>
          </a:p>
        </p:txBody>
      </p:sp>
      <p:sp>
        <p:nvSpPr>
          <p:cNvPr id="8" name="TextBox 7"/>
          <p:cNvSpPr txBox="1"/>
          <p:nvPr/>
        </p:nvSpPr>
        <p:spPr>
          <a:xfrm>
            <a:off x="9465628" y="1770000"/>
            <a:ext cx="3800000" cy="240000"/>
          </a:xfrm>
          <a:prstGeom prst="rect">
            <a:avLst/>
          </a:prstGeom>
          <a:noFill/>
        </p:spPr>
        <p:txBody>
          <a:bodyPr wrap="none">
            <a:spAutoFit/>
          </a:bodyPr>
          <a:lstStyle/>
          <a:p>
            <a:pPr algn="l"/>
            <a:r>
              <a:rPr sz="1100" b="0" i="0">
                <a:solidFill>
                  <a:srgbClr val="FFFFFF"/>
                </a:solidFill>
                <a:latin typeface="Geist ExtraBold"/>
              </a:rPr>
              <a:t>CData</a:t>
            </a:r>
          </a:p>
        </p:txBody>
      </p:sp>
      <p:sp>
        <p:nvSpPr>
          <p:cNvPr id="9" name="Rectangle 8"/>
          <p:cNvSpPr/>
          <p:nvPr/>
        </p:nvSpPr>
        <p:spPr>
          <a:xfrm>
            <a:off x="685628" y="2040000"/>
            <a:ext cx="10820744" cy="72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5628" y="2210000"/>
            <a:ext cx="4200000" cy="420000"/>
          </a:xfrm>
          <a:prstGeom prst="rect">
            <a:avLst/>
          </a:prstGeom>
          <a:noFill/>
        </p:spPr>
        <p:txBody>
          <a:bodyPr wrap="square">
            <a:spAutoFit/>
          </a:bodyPr>
          <a:lstStyle/>
          <a:p>
            <a:pPr algn="l"/>
            <a:r>
              <a:rPr sz="1300" b="0" i="0">
                <a:solidFill>
                  <a:srgbClr val="1A1A1A"/>
                </a:solidFill>
                <a:latin typeface="Geist"/>
              </a:rPr>
              <a:t>Connect AI agents to enterprise data</a:t>
            </a:r>
          </a:p>
        </p:txBody>
      </p:sp>
      <p:sp>
        <p:nvSpPr>
          <p:cNvPr id="11" name="TextBox 10"/>
          <p:cNvSpPr txBox="1"/>
          <p:nvPr/>
        </p:nvSpPr>
        <p:spPr>
          <a:xfrm>
            <a:off x="5465628" y="2210000"/>
            <a:ext cx="3800000" cy="420000"/>
          </a:xfrm>
          <a:prstGeom prst="rect">
            <a:avLst/>
          </a:prstGeom>
          <a:noFill/>
        </p:spPr>
        <p:txBody>
          <a:bodyPr wrap="square">
            <a:spAutoFit/>
          </a:bodyPr>
          <a:lstStyle/>
          <a:p>
            <a:pPr algn="l"/>
            <a:r>
              <a:rPr sz="1300" b="0" i="0">
                <a:solidFill>
                  <a:srgbClr val="1A1A1A"/>
                </a:solidFill>
                <a:latin typeface="Geist"/>
              </a:rPr>
              <a:t>Composio (recommended)</a:t>
            </a:r>
          </a:p>
        </p:txBody>
      </p:sp>
      <p:sp>
        <p:nvSpPr>
          <p:cNvPr id="12" name="TextBox 11"/>
          <p:cNvSpPr txBox="1"/>
          <p:nvPr/>
        </p:nvSpPr>
        <p:spPr>
          <a:xfrm>
            <a:off x="9465628" y="2210000"/>
            <a:ext cx="1600000" cy="420000"/>
          </a:xfrm>
          <a:prstGeom prst="rect">
            <a:avLst/>
          </a:prstGeom>
          <a:noFill/>
        </p:spPr>
        <p:txBody>
          <a:bodyPr wrap="none">
            <a:spAutoFit/>
          </a:bodyPr>
          <a:lstStyle/>
          <a:p>
            <a:pPr algn="l"/>
            <a:r>
              <a:rPr sz="1300" b="0" i="0">
                <a:solidFill>
                  <a:srgbClr val="808080"/>
                </a:solidFill>
                <a:latin typeface="Geist"/>
              </a:rPr>
              <a:t>—</a:t>
            </a:r>
          </a:p>
        </p:txBody>
      </p:sp>
      <p:sp>
        <p:nvSpPr>
          <p:cNvPr id="13" name="Rectangle 12"/>
          <p:cNvSpPr/>
          <p:nvPr/>
        </p:nvSpPr>
        <p:spPr>
          <a:xfrm>
            <a:off x="685628" y="2800000"/>
            <a:ext cx="10820744" cy="720000"/>
          </a:xfrm>
          <a:prstGeom prst="rect">
            <a:avLst/>
          </a:prstGeom>
          <a:solidFill>
            <a:srgbClr val="F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5628" y="2970000"/>
            <a:ext cx="4200000" cy="420000"/>
          </a:xfrm>
          <a:prstGeom prst="rect">
            <a:avLst/>
          </a:prstGeom>
          <a:noFill/>
        </p:spPr>
        <p:txBody>
          <a:bodyPr wrap="square">
            <a:spAutoFit/>
          </a:bodyPr>
          <a:lstStyle/>
          <a:p>
            <a:pPr algn="l"/>
            <a:r>
              <a:rPr sz="1300" b="0" i="0">
                <a:solidFill>
                  <a:srgbClr val="1A1A1A"/>
                </a:solidFill>
                <a:latin typeface="Geist"/>
              </a:rPr>
              <a:t>MCP server for enterprise data sources</a:t>
            </a:r>
          </a:p>
        </p:txBody>
      </p:sp>
      <p:sp>
        <p:nvSpPr>
          <p:cNvPr id="15" name="TextBox 14"/>
          <p:cNvSpPr txBox="1"/>
          <p:nvPr/>
        </p:nvSpPr>
        <p:spPr>
          <a:xfrm>
            <a:off x="5465628" y="2970000"/>
            <a:ext cx="3800000" cy="420000"/>
          </a:xfrm>
          <a:prstGeom prst="rect">
            <a:avLst/>
          </a:prstGeom>
          <a:noFill/>
        </p:spPr>
        <p:txBody>
          <a:bodyPr wrap="square">
            <a:spAutoFit/>
          </a:bodyPr>
          <a:lstStyle/>
          <a:p>
            <a:pPr algn="l"/>
            <a:r>
              <a:rPr sz="1300" b="0" i="0">
                <a:solidFill>
                  <a:srgbClr val="1A1A1A"/>
                </a:solidFill>
                <a:latin typeface="Geist"/>
              </a:rPr>
              <a:t>Composio, custom build</a:t>
            </a:r>
          </a:p>
        </p:txBody>
      </p:sp>
      <p:sp>
        <p:nvSpPr>
          <p:cNvPr id="16" name="TextBox 15"/>
          <p:cNvSpPr txBox="1"/>
          <p:nvPr/>
        </p:nvSpPr>
        <p:spPr>
          <a:xfrm>
            <a:off x="9465628" y="2970000"/>
            <a:ext cx="1600000" cy="420000"/>
          </a:xfrm>
          <a:prstGeom prst="rect">
            <a:avLst/>
          </a:prstGeom>
          <a:noFill/>
        </p:spPr>
        <p:txBody>
          <a:bodyPr wrap="none">
            <a:spAutoFit/>
          </a:bodyPr>
          <a:lstStyle/>
          <a:p>
            <a:pPr algn="l"/>
            <a:r>
              <a:rPr sz="1300" b="0" i="0">
                <a:solidFill>
                  <a:srgbClr val="808080"/>
                </a:solidFill>
                <a:latin typeface="Geist"/>
              </a:rPr>
              <a:t>—</a:t>
            </a:r>
          </a:p>
        </p:txBody>
      </p:sp>
      <p:sp>
        <p:nvSpPr>
          <p:cNvPr id="17" name="Rectangle 16"/>
          <p:cNvSpPr/>
          <p:nvPr/>
        </p:nvSpPr>
        <p:spPr>
          <a:xfrm>
            <a:off x="685628" y="3560000"/>
            <a:ext cx="10820744" cy="72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5628" y="3730000"/>
            <a:ext cx="4200000" cy="420000"/>
          </a:xfrm>
          <a:prstGeom prst="rect">
            <a:avLst/>
          </a:prstGeom>
          <a:noFill/>
        </p:spPr>
        <p:txBody>
          <a:bodyPr wrap="square">
            <a:spAutoFit/>
          </a:bodyPr>
          <a:lstStyle/>
          <a:p>
            <a:pPr algn="l"/>
            <a:r>
              <a:rPr sz="1300" b="0" i="0">
                <a:solidFill>
                  <a:srgbClr val="1A1A1A"/>
                </a:solidFill>
                <a:latin typeface="Geist"/>
              </a:rPr>
              <a:t>SQL interface for AI agents</a:t>
            </a:r>
          </a:p>
        </p:txBody>
      </p:sp>
      <p:sp>
        <p:nvSpPr>
          <p:cNvPr id="19" name="TextBox 18"/>
          <p:cNvSpPr txBox="1"/>
          <p:nvPr/>
        </p:nvSpPr>
        <p:spPr>
          <a:xfrm>
            <a:off x="5465628" y="3730000"/>
            <a:ext cx="3800000" cy="420000"/>
          </a:xfrm>
          <a:prstGeom prst="rect">
            <a:avLst/>
          </a:prstGeom>
          <a:noFill/>
        </p:spPr>
        <p:txBody>
          <a:bodyPr wrap="square">
            <a:spAutoFit/>
          </a:bodyPr>
          <a:lstStyle/>
          <a:p>
            <a:pPr algn="l"/>
            <a:r>
              <a:rPr sz="1300" b="0" i="0">
                <a:solidFill>
                  <a:srgbClr val="1A1A1A"/>
                </a:solidFill>
                <a:latin typeface="Geist"/>
              </a:rPr>
              <a:t>LangChain, Composio</a:t>
            </a:r>
          </a:p>
        </p:txBody>
      </p:sp>
      <p:sp>
        <p:nvSpPr>
          <p:cNvPr id="20" name="TextBox 19"/>
          <p:cNvSpPr txBox="1"/>
          <p:nvPr/>
        </p:nvSpPr>
        <p:spPr>
          <a:xfrm>
            <a:off x="9465628" y="3730000"/>
            <a:ext cx="1600000" cy="420000"/>
          </a:xfrm>
          <a:prstGeom prst="rect">
            <a:avLst/>
          </a:prstGeom>
          <a:noFill/>
        </p:spPr>
        <p:txBody>
          <a:bodyPr wrap="none">
            <a:spAutoFit/>
          </a:bodyPr>
          <a:lstStyle/>
          <a:p>
            <a:pPr algn="l"/>
            <a:r>
              <a:rPr sz="1300" b="0" i="0">
                <a:solidFill>
                  <a:srgbClr val="808080"/>
                </a:solidFill>
                <a:latin typeface="Geist"/>
              </a:rPr>
              <a:t>—</a:t>
            </a:r>
          </a:p>
        </p:txBody>
      </p:sp>
      <p:sp>
        <p:nvSpPr>
          <p:cNvPr id="21" name="Rectangle 20"/>
          <p:cNvSpPr/>
          <p:nvPr/>
        </p:nvSpPr>
        <p:spPr>
          <a:xfrm>
            <a:off x="685628" y="4320000"/>
            <a:ext cx="10820744" cy="720000"/>
          </a:xfrm>
          <a:prstGeom prst="rect">
            <a:avLst/>
          </a:prstGeom>
          <a:solidFill>
            <a:srgbClr val="F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5628" y="4490000"/>
            <a:ext cx="4200000" cy="420000"/>
          </a:xfrm>
          <a:prstGeom prst="rect">
            <a:avLst/>
          </a:prstGeom>
          <a:noFill/>
        </p:spPr>
        <p:txBody>
          <a:bodyPr wrap="square">
            <a:spAutoFit/>
          </a:bodyPr>
          <a:lstStyle/>
          <a:p>
            <a:pPr algn="l"/>
            <a:r>
              <a:rPr sz="1300" b="0" i="0">
                <a:solidFill>
                  <a:srgbClr val="1A1A1A"/>
                </a:solidFill>
                <a:latin typeface="Geist"/>
              </a:rPr>
              <a:t>AI agent data connectivity platform</a:t>
            </a:r>
          </a:p>
        </p:txBody>
      </p:sp>
      <p:sp>
        <p:nvSpPr>
          <p:cNvPr id="23" name="TextBox 22"/>
          <p:cNvSpPr txBox="1"/>
          <p:nvPr/>
        </p:nvSpPr>
        <p:spPr>
          <a:xfrm>
            <a:off x="5465628" y="4490000"/>
            <a:ext cx="3800000" cy="420000"/>
          </a:xfrm>
          <a:prstGeom prst="rect">
            <a:avLst/>
          </a:prstGeom>
          <a:noFill/>
        </p:spPr>
        <p:txBody>
          <a:bodyPr wrap="square">
            <a:spAutoFit/>
          </a:bodyPr>
          <a:lstStyle/>
          <a:p>
            <a:pPr algn="l"/>
            <a:r>
              <a:rPr sz="1300" b="0" i="0">
                <a:solidFill>
                  <a:srgbClr val="1A1A1A"/>
                </a:solidFill>
                <a:latin typeface="Geist"/>
              </a:rPr>
              <a:t>Composio — "best overall"</a:t>
            </a:r>
          </a:p>
        </p:txBody>
      </p:sp>
      <p:sp>
        <p:nvSpPr>
          <p:cNvPr id="24" name="TextBox 23"/>
          <p:cNvSpPr txBox="1"/>
          <p:nvPr/>
        </p:nvSpPr>
        <p:spPr>
          <a:xfrm>
            <a:off x="9465628" y="4490000"/>
            <a:ext cx="1600000" cy="420000"/>
          </a:xfrm>
          <a:prstGeom prst="rect">
            <a:avLst/>
          </a:prstGeom>
          <a:noFill/>
        </p:spPr>
        <p:txBody>
          <a:bodyPr wrap="none">
            <a:spAutoFit/>
          </a:bodyPr>
          <a:lstStyle/>
          <a:p>
            <a:pPr algn="l"/>
            <a:r>
              <a:rPr sz="1300" b="0" i="0">
                <a:solidFill>
                  <a:srgbClr val="808080"/>
                </a:solidFill>
                <a:latin typeface="Geist"/>
              </a:rPr>
              <a:t>—</a:t>
            </a:r>
          </a:p>
        </p:txBody>
      </p:sp>
      <p:sp>
        <p:nvSpPr>
          <p:cNvPr id="25" name="Rectangle 24"/>
          <p:cNvSpPr/>
          <p:nvPr/>
        </p:nvSpPr>
        <p:spPr>
          <a:xfrm>
            <a:off x="685628" y="5080000"/>
            <a:ext cx="10820744" cy="72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5628" y="5250000"/>
            <a:ext cx="4200000" cy="420000"/>
          </a:xfrm>
          <a:prstGeom prst="rect">
            <a:avLst/>
          </a:prstGeom>
          <a:noFill/>
        </p:spPr>
        <p:txBody>
          <a:bodyPr wrap="square">
            <a:spAutoFit/>
          </a:bodyPr>
          <a:lstStyle/>
          <a:p>
            <a:pPr algn="l"/>
            <a:r>
              <a:rPr sz="1300" b="0" i="0">
                <a:solidFill>
                  <a:srgbClr val="1A1A1A"/>
                </a:solidFill>
                <a:latin typeface="Geist"/>
              </a:rPr>
              <a:t>Connect Salesforce + NetSuite to LLM</a:t>
            </a:r>
          </a:p>
        </p:txBody>
      </p:sp>
      <p:sp>
        <p:nvSpPr>
          <p:cNvPr id="27" name="TextBox 26"/>
          <p:cNvSpPr txBox="1"/>
          <p:nvPr/>
        </p:nvSpPr>
        <p:spPr>
          <a:xfrm>
            <a:off x="5465628" y="5250000"/>
            <a:ext cx="3800000" cy="420000"/>
          </a:xfrm>
          <a:prstGeom prst="rect">
            <a:avLst/>
          </a:prstGeom>
          <a:noFill/>
        </p:spPr>
        <p:txBody>
          <a:bodyPr wrap="square">
            <a:spAutoFit/>
          </a:bodyPr>
          <a:lstStyle/>
          <a:p>
            <a:pPr algn="l"/>
            <a:r>
              <a:rPr sz="1300" b="0" i="0">
                <a:solidFill>
                  <a:srgbClr val="1A1A1A"/>
                </a:solidFill>
                <a:latin typeface="Geist"/>
              </a:rPr>
              <a:t>Composio, custom API clients</a:t>
            </a:r>
          </a:p>
        </p:txBody>
      </p:sp>
      <p:sp>
        <p:nvSpPr>
          <p:cNvPr id="28" name="TextBox 27"/>
          <p:cNvSpPr txBox="1"/>
          <p:nvPr/>
        </p:nvSpPr>
        <p:spPr>
          <a:xfrm>
            <a:off x="9465628" y="5250000"/>
            <a:ext cx="1600000" cy="420000"/>
          </a:xfrm>
          <a:prstGeom prst="rect">
            <a:avLst/>
          </a:prstGeom>
          <a:noFill/>
        </p:spPr>
        <p:txBody>
          <a:bodyPr wrap="none">
            <a:spAutoFit/>
          </a:bodyPr>
          <a:lstStyle/>
          <a:p>
            <a:pPr algn="l"/>
            <a:r>
              <a:rPr sz="1300" b="0" i="0">
                <a:solidFill>
                  <a:srgbClr val="808080"/>
                </a:solidFill>
                <a:latin typeface="Geist"/>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700000"/>
            <a:ext cx="10820744" cy="1100000"/>
          </a:xfrm>
          <a:prstGeom prst="rect">
            <a:avLst/>
          </a:prstGeom>
          <a:noFill/>
        </p:spPr>
        <p:txBody>
          <a:bodyPr wrap="square">
            <a:spAutoFit/>
          </a:bodyPr>
          <a:lstStyle/>
          <a:p>
            <a:pPr algn="l"/>
            <a:r>
              <a:rPr sz="4400" b="0" i="0">
                <a:solidFill>
                  <a:srgbClr val="FFFFFF"/>
                </a:solidFill>
                <a:latin typeface="Geist ExtraBold"/>
              </a:rPr>
              <a:t>LLMs are where this developer starts.</a:t>
            </a:r>
          </a:p>
        </p:txBody>
      </p:sp>
      <p:sp>
        <p:nvSpPr>
          <p:cNvPr id="4" name="TextBox 3"/>
          <p:cNvSpPr txBox="1"/>
          <p:nvPr/>
        </p:nvSpPr>
        <p:spPr>
          <a:xfrm>
            <a:off x="685628" y="3100000"/>
            <a:ext cx="10820744" cy="1000000"/>
          </a:xfrm>
          <a:prstGeom prst="rect">
            <a:avLst/>
          </a:prstGeom>
          <a:noFill/>
        </p:spPr>
        <p:txBody>
          <a:bodyPr wrap="square">
            <a:spAutoFit/>
          </a:bodyPr>
          <a:lstStyle/>
          <a:p>
            <a:pPr algn="l"/>
            <a:r>
              <a:rPr sz="2200" b="0" i="0">
                <a:solidFill>
                  <a:srgbClr val="808080"/>
                </a:solidFill>
                <a:latin typeface="Geist"/>
              </a:rPr>
              <a:t>If CData isn't in the training data, isn't in the GitHub repos they clone, isn't in the Stack Overflow answers they find —</a:t>
            </a:r>
          </a:p>
        </p:txBody>
      </p:sp>
      <p:sp>
        <p:nvSpPr>
          <p:cNvPr id="5" name="TextBox 4"/>
          <p:cNvSpPr txBox="1"/>
          <p:nvPr/>
        </p:nvSpPr>
        <p:spPr>
          <a:xfrm>
            <a:off x="685628" y="4250000"/>
            <a:ext cx="10820744" cy="700000"/>
          </a:xfrm>
          <a:prstGeom prst="rect">
            <a:avLst/>
          </a:prstGeom>
          <a:noFill/>
        </p:spPr>
        <p:txBody>
          <a:bodyPr wrap="square">
            <a:spAutoFit/>
          </a:bodyPr>
          <a:lstStyle/>
          <a:p>
            <a:pPr algn="l"/>
            <a:r>
              <a:rPr sz="2800" b="0" i="0">
                <a:solidFill>
                  <a:srgbClr val="FFE500"/>
                </a:solidFill>
                <a:latin typeface="Geist ExtraBold"/>
              </a:rPr>
              <a:t>it doesn't exist to them.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STRATEGIC FINDING #2</a:t>
            </a:r>
          </a:p>
        </p:txBody>
      </p:sp>
      <p:sp>
        <p:nvSpPr>
          <p:cNvPr id="4" name="TextBox 3"/>
          <p:cNvSpPr txBox="1"/>
          <p:nvPr/>
        </p:nvSpPr>
        <p:spPr>
          <a:xfrm>
            <a:off x="685628" y="1400000"/>
            <a:ext cx="10820744" cy="900000"/>
          </a:xfrm>
          <a:prstGeom prst="rect">
            <a:avLst/>
          </a:prstGeom>
          <a:noFill/>
        </p:spPr>
        <p:txBody>
          <a:bodyPr wrap="square">
            <a:spAutoFit/>
          </a:bodyPr>
          <a:lstStyle/>
          <a:p>
            <a:pPr algn="l"/>
            <a:r>
              <a:rPr sz="4400" b="0" i="0">
                <a:solidFill>
                  <a:srgbClr val="1A1A1A"/>
                </a:solidFill>
                <a:latin typeface="Geist ExtraBold"/>
              </a:rPr>
              <a:t>No Agent-Specific Path.</a:t>
            </a:r>
          </a:p>
        </p:txBody>
      </p:sp>
      <p:sp>
        <p:nvSpPr>
          <p:cNvPr id="5" name="TextBox 4"/>
          <p:cNvSpPr txBox="1"/>
          <p:nvPr/>
        </p:nvSpPr>
        <p:spPr>
          <a:xfrm>
            <a:off x="685628" y="2600000"/>
            <a:ext cx="10820744" cy="700000"/>
          </a:xfrm>
          <a:prstGeom prst="rect">
            <a:avLst/>
          </a:prstGeom>
          <a:noFill/>
        </p:spPr>
        <p:txBody>
          <a:bodyPr wrap="square">
            <a:spAutoFit/>
          </a:bodyPr>
          <a:lstStyle/>
          <a:p>
            <a:pPr algn="l"/>
            <a:r>
              <a:rPr sz="2400" b="0" i="0">
                <a:solidFill>
                  <a:srgbClr val="1A1A1A"/>
                </a:solidFill>
                <a:latin typeface="Geist"/>
              </a:rPr>
              <a:t>Composio has dedicated quickstarts for Claude, ChatGPT, Cursor, and Copilot.</a:t>
            </a:r>
          </a:p>
        </p:txBody>
      </p:sp>
      <p:sp>
        <p:nvSpPr>
          <p:cNvPr id="6" name="TextBox 5"/>
          <p:cNvSpPr txBox="1"/>
          <p:nvPr/>
        </p:nvSpPr>
        <p:spPr>
          <a:xfrm>
            <a:off x="685628" y="3450000"/>
            <a:ext cx="10820744" cy="600000"/>
          </a:xfrm>
          <a:prstGeom prst="rect">
            <a:avLst/>
          </a:prstGeom>
          <a:noFill/>
        </p:spPr>
        <p:txBody>
          <a:bodyPr wrap="square">
            <a:spAutoFit/>
          </a:bodyPr>
          <a:lstStyle/>
          <a:p>
            <a:pPr algn="l"/>
            <a:r>
              <a:rPr sz="2400" b="0" i="0">
                <a:solidFill>
                  <a:srgbClr val="1A1A1A"/>
                </a:solidFill>
                <a:latin typeface="Geist ExtraBold"/>
              </a:rPr>
              <a:t>You pick your tool. You get a path built for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800000"/>
            <a:ext cx="10820744" cy="1600000"/>
          </a:xfrm>
          <a:prstGeom prst="rect">
            <a:avLst/>
          </a:prstGeom>
          <a:noFill/>
        </p:spPr>
        <p:txBody>
          <a:bodyPr wrap="square">
            <a:spAutoFit/>
          </a:bodyPr>
          <a:lstStyle/>
          <a:p>
            <a:pPr algn="l"/>
            <a:r>
              <a:rPr sz="3200" b="0" i="0">
                <a:solidFill>
                  <a:srgbClr val="1A1A1A"/>
                </a:solidFill>
                <a:latin typeface="Geist ExtraBold"/>
              </a:rPr>
              <a:t>The Connect AI quickstart covers AI agent builders, BI analysts, and platform evaluators in the same seven steps.</a:t>
            </a:r>
          </a:p>
        </p:txBody>
      </p:sp>
      <p:sp>
        <p:nvSpPr>
          <p:cNvPr id="4" name="TextBox 3"/>
          <p:cNvSpPr txBox="1"/>
          <p:nvPr/>
        </p:nvSpPr>
        <p:spPr>
          <a:xfrm>
            <a:off x="685628" y="3700000"/>
            <a:ext cx="10820744" cy="900000"/>
          </a:xfrm>
          <a:prstGeom prst="rect">
            <a:avLst/>
          </a:prstGeom>
          <a:noFill/>
        </p:spPr>
        <p:txBody>
          <a:bodyPr wrap="square">
            <a:spAutoFit/>
          </a:bodyPr>
          <a:lstStyle/>
          <a:p>
            <a:pPr algn="l"/>
            <a:r>
              <a:rPr sz="2200" b="0" i="0">
                <a:solidFill>
                  <a:srgbClr val="4A4A4A"/>
                </a:solidFill>
                <a:latin typeface="Geist"/>
              </a:rPr>
              <a:t>It's broad by design. But a developer building an agent has to figure out which parts are for them.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900000"/>
            <a:ext cx="10820744" cy="900000"/>
          </a:xfrm>
          <a:prstGeom prst="rect">
            <a:avLst/>
          </a:prstGeom>
          <a:noFill/>
        </p:spPr>
        <p:txBody>
          <a:bodyPr wrap="square">
            <a:spAutoFit/>
          </a:bodyPr>
          <a:lstStyle/>
          <a:p>
            <a:pPr algn="l"/>
            <a:r>
              <a:rPr sz="3800" b="0" i="0">
                <a:solidFill>
                  <a:srgbClr val="1A1A1A"/>
                </a:solidFill>
                <a:latin typeface="Geist ExtraBold"/>
              </a:rPr>
              <a:t>cdata.com/ai/ is a marketing page.</a:t>
            </a:r>
          </a:p>
        </p:txBody>
      </p:sp>
      <p:sp>
        <p:nvSpPr>
          <p:cNvPr id="4" name="TextBox 3"/>
          <p:cNvSpPr txBox="1"/>
          <p:nvPr/>
        </p:nvSpPr>
        <p:spPr>
          <a:xfrm>
            <a:off x="685628" y="3000000"/>
            <a:ext cx="10820744" cy="600000"/>
          </a:xfrm>
          <a:prstGeom prst="rect">
            <a:avLst/>
          </a:prstGeom>
          <a:noFill/>
        </p:spPr>
        <p:txBody>
          <a:bodyPr wrap="square">
            <a:spAutoFit/>
          </a:bodyPr>
          <a:lstStyle/>
          <a:p>
            <a:pPr algn="l"/>
            <a:r>
              <a:rPr sz="2400" b="0" i="0">
                <a:solidFill>
                  <a:srgbClr val="4A4A4A"/>
                </a:solidFill>
                <a:latin typeface="Geist"/>
              </a:rPr>
              <a:t>The primary CTAs go to a signup form.</a:t>
            </a:r>
          </a:p>
        </p:txBody>
      </p:sp>
      <p:sp>
        <p:nvSpPr>
          <p:cNvPr id="5" name="TextBox 4"/>
          <p:cNvSpPr txBox="1"/>
          <p:nvPr/>
        </p:nvSpPr>
        <p:spPr>
          <a:xfrm>
            <a:off x="685628" y="3800000"/>
            <a:ext cx="10820744" cy="900000"/>
          </a:xfrm>
          <a:prstGeom prst="rect">
            <a:avLst/>
          </a:prstGeom>
          <a:noFill/>
        </p:spPr>
        <p:txBody>
          <a:bodyPr wrap="square">
            <a:spAutoFit/>
          </a:bodyPr>
          <a:lstStyle/>
          <a:p>
            <a:pPr algn="l"/>
            <a:r>
              <a:rPr sz="2000" b="0" i="0">
                <a:solidFill>
                  <a:srgbClr val="4A4A4A"/>
                </a:solidFill>
                <a:latin typeface="Geist"/>
              </a:rPr>
              <a:t>The docs and quickstart aren't above the fold — a developer landing there to evaluate the product has to go looking.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STRATEGIC FINDING #3</a:t>
            </a:r>
          </a:p>
        </p:txBody>
      </p:sp>
      <p:sp>
        <p:nvSpPr>
          <p:cNvPr id="4" name="TextBox 3"/>
          <p:cNvSpPr txBox="1"/>
          <p:nvPr/>
        </p:nvSpPr>
        <p:spPr>
          <a:xfrm>
            <a:off x="685628" y="620000"/>
            <a:ext cx="10820744" cy="1000000"/>
          </a:xfrm>
          <a:prstGeom prst="rect">
            <a:avLst/>
          </a:prstGeom>
          <a:noFill/>
        </p:spPr>
        <p:txBody>
          <a:bodyPr wrap="square">
            <a:spAutoFit/>
          </a:bodyPr>
          <a:lstStyle/>
          <a:p>
            <a:pPr algn="l"/>
            <a:r>
              <a:rPr sz="3600" b="0" i="0">
                <a:solidFill>
                  <a:srgbClr val="1A1A1A"/>
                </a:solidFill>
                <a:latin typeface="Geist ExtraBold"/>
              </a:rPr>
              <a:t>Connect AI Is Not a First-Class Product on the Marketing Site.</a:t>
            </a:r>
          </a:p>
        </p:txBody>
      </p:sp>
      <p:sp>
        <p:nvSpPr>
          <p:cNvPr id="5" name="TextBox 4"/>
          <p:cNvSpPr txBox="1"/>
          <p:nvPr/>
        </p:nvSpPr>
        <p:spPr>
          <a:xfrm>
            <a:off x="685628" y="2000000"/>
            <a:ext cx="10820744" cy="500000"/>
          </a:xfrm>
          <a:prstGeom prst="rect">
            <a:avLst/>
          </a:prstGeom>
          <a:noFill/>
        </p:spPr>
        <p:txBody>
          <a:bodyPr wrap="square">
            <a:spAutoFit/>
          </a:bodyPr>
          <a:lstStyle/>
          <a:p>
            <a:pPr algn="l"/>
            <a:r>
              <a:rPr sz="2400" b="0" i="0">
                <a:solidFill>
                  <a:srgbClr val="1A1A1A"/>
                </a:solidFill>
                <a:latin typeface="Geist"/>
              </a:rPr>
              <a:t>Connect AI has its own documentation.</a:t>
            </a:r>
          </a:p>
        </p:txBody>
      </p:sp>
      <p:sp>
        <p:nvSpPr>
          <p:cNvPr id="6" name="TextBox 5"/>
          <p:cNvSpPr txBox="1"/>
          <p:nvPr/>
        </p:nvSpPr>
        <p:spPr>
          <a:xfrm>
            <a:off x="685628" y="2650000"/>
            <a:ext cx="10820744" cy="600000"/>
          </a:xfrm>
          <a:prstGeom prst="rect">
            <a:avLst/>
          </a:prstGeom>
          <a:noFill/>
        </p:spPr>
        <p:txBody>
          <a:bodyPr wrap="square">
            <a:spAutoFit/>
          </a:bodyPr>
          <a:lstStyle/>
          <a:p>
            <a:pPr algn="l"/>
            <a:r>
              <a:rPr sz="2400" b="0" i="0">
                <a:solidFill>
                  <a:srgbClr val="1A1A1A"/>
                </a:solidFill>
                <a:latin typeface="Geist ExtraBold"/>
              </a:rPr>
              <a:t>It's real, it's complete, and it's effectively orphaned.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800000"/>
            <a:ext cx="10820744" cy="1600000"/>
          </a:xfrm>
          <a:prstGeom prst="rect">
            <a:avLst/>
          </a:prstGeom>
          <a:noFill/>
        </p:spPr>
        <p:txBody>
          <a:bodyPr wrap="square">
            <a:spAutoFit/>
          </a:bodyPr>
          <a:lstStyle/>
          <a:p>
            <a:pPr algn="l"/>
            <a:r>
              <a:rPr sz="3200" b="0" i="0">
                <a:solidFill>
                  <a:srgbClr val="1A1A1A"/>
                </a:solidFill>
                <a:latin typeface="Geist ExtraBold"/>
              </a:rPr>
              <a:t>A developer landing on cdata.com trying to find Connect AI documentation has to know where to look.</a:t>
            </a:r>
          </a:p>
        </p:txBody>
      </p:sp>
      <p:sp>
        <p:nvSpPr>
          <p:cNvPr id="4" name="TextBox 3"/>
          <p:cNvSpPr txBox="1"/>
          <p:nvPr/>
        </p:nvSpPr>
        <p:spPr>
          <a:xfrm>
            <a:off x="685628" y="3600000"/>
            <a:ext cx="10820744" cy="900000"/>
          </a:xfrm>
          <a:prstGeom prst="rect">
            <a:avLst/>
          </a:prstGeom>
          <a:noFill/>
        </p:spPr>
        <p:txBody>
          <a:bodyPr wrap="square">
            <a:spAutoFit/>
          </a:bodyPr>
          <a:lstStyle/>
          <a:p>
            <a:pPr algn="l"/>
            <a:r>
              <a:rPr sz="2200" b="0" i="0">
                <a:solidFill>
                  <a:srgbClr val="4A4A4A"/>
                </a:solidFill>
                <a:latin typeface="Geist"/>
              </a:rPr>
              <a:t>It's not in the primary nav. The Connect AI page is a marketing page with a signup CTA.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000000"/>
            <a:ext cx="10820744" cy="1600000"/>
          </a:xfrm>
          <a:prstGeom prst="rect">
            <a:avLst/>
          </a:prstGeom>
          <a:noFill/>
        </p:spPr>
        <p:txBody>
          <a:bodyPr wrap="square">
            <a:spAutoFit/>
          </a:bodyPr>
          <a:lstStyle/>
          <a:p>
            <a:pPr algn="l"/>
            <a:r>
              <a:rPr sz="3000" b="0" i="0">
                <a:solidFill>
                  <a:srgbClr val="1A1A1A"/>
                </a:solidFill>
                <a:latin typeface="Geist ExtraBold"/>
              </a:rPr>
              <a:t>When an AI developer clicks Help inside Connect AI, they end up in CData Sync documentation.</a:t>
            </a:r>
          </a:p>
        </p:txBody>
      </p:sp>
      <p:sp>
        <p:nvSpPr>
          <p:cNvPr id="4" name="Rectangle 3"/>
          <p:cNvSpPr/>
          <p:nvPr/>
        </p:nvSpPr>
        <p:spPr>
          <a:xfrm>
            <a:off x="685628" y="2900000"/>
            <a:ext cx="2800000" cy="56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628" y="2900000"/>
            <a:ext cx="10000" cy="56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5628" y="2980000"/>
            <a:ext cx="2600000" cy="400000"/>
          </a:xfrm>
          <a:prstGeom prst="rect">
            <a:avLst/>
          </a:prstGeom>
          <a:noFill/>
        </p:spPr>
        <p:txBody>
          <a:bodyPr wrap="none">
            <a:spAutoFit/>
          </a:bodyPr>
          <a:lstStyle/>
          <a:p>
            <a:pPr algn="l"/>
            <a:r>
              <a:rPr sz="2000" b="0" i="0">
                <a:solidFill>
                  <a:srgbClr val="1A1A1A"/>
                </a:solidFill>
                <a:latin typeface="Geist ExtraBold"/>
              </a:rPr>
              <a:t>The docs exist.</a:t>
            </a:r>
          </a:p>
        </p:txBody>
      </p:sp>
      <p:sp>
        <p:nvSpPr>
          <p:cNvPr id="7" name="Rectangle 6"/>
          <p:cNvSpPr/>
          <p:nvPr/>
        </p:nvSpPr>
        <p:spPr>
          <a:xfrm>
            <a:off x="3685628" y="2900000"/>
            <a:ext cx="2800000" cy="56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85628" y="2900000"/>
            <a:ext cx="10000" cy="560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05628" y="2980000"/>
            <a:ext cx="2600000" cy="400000"/>
          </a:xfrm>
          <a:prstGeom prst="rect">
            <a:avLst/>
          </a:prstGeom>
          <a:noFill/>
        </p:spPr>
        <p:txBody>
          <a:bodyPr wrap="none">
            <a:spAutoFit/>
          </a:bodyPr>
          <a:lstStyle/>
          <a:p>
            <a:pPr algn="l"/>
            <a:r>
              <a:rPr sz="2000" b="0" i="0">
                <a:solidFill>
                  <a:srgbClr val="1A1A1A"/>
                </a:solidFill>
                <a:latin typeface="Geist ExtraBold"/>
              </a:rPr>
              <a:t>The path to them doesn't.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FFE500"/>
                </a:solidFill>
                <a:latin typeface="DM Sans"/>
              </a:rPr>
              <a:t>THE PATTERN</a:t>
            </a:r>
          </a:p>
        </p:txBody>
      </p:sp>
      <p:sp>
        <p:nvSpPr>
          <p:cNvPr id="4" name="TextBox 3"/>
          <p:cNvSpPr txBox="1"/>
          <p:nvPr/>
        </p:nvSpPr>
        <p:spPr>
          <a:xfrm>
            <a:off x="685628" y="2000000"/>
            <a:ext cx="10820744" cy="2600000"/>
          </a:xfrm>
          <a:prstGeom prst="rect">
            <a:avLst/>
          </a:prstGeom>
          <a:noFill/>
        </p:spPr>
        <p:txBody>
          <a:bodyPr wrap="square">
            <a:spAutoFit/>
          </a:bodyPr>
          <a:lstStyle/>
          <a:p>
            <a:pPr algn="l"/>
            <a:r>
              <a:rPr sz="4800" b="0" i="0">
                <a:solidFill>
                  <a:srgbClr val="FFFFFF"/>
                </a:solidFill>
                <a:latin typeface="Geist ExtraBold"/>
              </a:rPr>
              <a:t>Connect AI is hard to find, the experience for AI developers is incomplete, and it's not answering the questions this audience actually has.</a:t>
            </a:r>
          </a:p>
        </p:txBody>
      </p:sp>
      <p:sp>
        <p:nvSpPr>
          <p:cNvPr id="5" name="TextBox 4"/>
          <p:cNvSpPr txBox="1"/>
          <p:nvPr/>
        </p:nvSpPr>
        <p:spPr>
          <a:xfrm>
            <a:off x="685628" y="4800000"/>
            <a:ext cx="10820744" cy="800000"/>
          </a:xfrm>
          <a:prstGeom prst="rect">
            <a:avLst/>
          </a:prstGeom>
          <a:noFill/>
        </p:spPr>
        <p:txBody>
          <a:bodyPr wrap="square">
            <a:spAutoFit/>
          </a:bodyPr>
          <a:lstStyle/>
          <a:p>
            <a:pPr algn="l"/>
            <a:r>
              <a:rPr sz="2000" b="0" i="0">
                <a:solidFill>
                  <a:srgbClr val="808080"/>
                </a:solidFill>
                <a:latin typeface="Geist"/>
              </a:rPr>
              <a:t>Three findings. Same underlying issue.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WHAT COMES NEXT</a:t>
            </a:r>
          </a:p>
        </p:txBody>
      </p:sp>
      <p:sp>
        <p:nvSpPr>
          <p:cNvPr id="4" name="TextBox 3"/>
          <p:cNvSpPr txBox="1"/>
          <p:nvPr/>
        </p:nvSpPr>
        <p:spPr>
          <a:xfrm>
            <a:off x="685628" y="620000"/>
            <a:ext cx="10820744" cy="900000"/>
          </a:xfrm>
          <a:prstGeom prst="rect">
            <a:avLst/>
          </a:prstGeom>
          <a:noFill/>
        </p:spPr>
        <p:txBody>
          <a:bodyPr wrap="square">
            <a:spAutoFit/>
          </a:bodyPr>
          <a:lstStyle/>
          <a:p>
            <a:pPr algn="l"/>
            <a:r>
              <a:rPr sz="4000" b="0" i="0">
                <a:solidFill>
                  <a:srgbClr val="1A1A1A"/>
                </a:solidFill>
                <a:latin typeface="Geist ExtraBold"/>
              </a:rPr>
              <a:t>These findings split into two buckets.</a:t>
            </a:r>
          </a:p>
        </p:txBody>
      </p:sp>
      <p:sp>
        <p:nvSpPr>
          <p:cNvPr id="5" name="Rounded Rectangle 4"/>
          <p:cNvSpPr/>
          <p:nvPr/>
        </p:nvSpPr>
        <p:spPr>
          <a:xfrm>
            <a:off x="685628" y="1900000"/>
            <a:ext cx="5300372" cy="3600000"/>
          </a:xfrm>
          <a:prstGeom prst="round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0628" y="2085000"/>
            <a:ext cx="4930372" cy="430000"/>
          </a:xfrm>
          <a:prstGeom prst="rect">
            <a:avLst/>
          </a:prstGeom>
          <a:noFill/>
        </p:spPr>
        <p:txBody>
          <a:bodyPr wrap="square">
            <a:spAutoFit/>
          </a:bodyPr>
          <a:lstStyle/>
          <a:p>
            <a:pPr algn="l"/>
            <a:r>
              <a:rPr sz="1700" b="0" i="0">
                <a:solidFill>
                  <a:srgbClr val="1A1A1A"/>
                </a:solidFill>
                <a:latin typeface="Geist ExtraBold"/>
              </a:rPr>
              <a:t>PMM fixes</a:t>
            </a:r>
          </a:p>
        </p:txBody>
      </p:sp>
      <p:sp>
        <p:nvSpPr>
          <p:cNvPr id="7" name="TextBox 6"/>
          <p:cNvSpPr txBox="1"/>
          <p:nvPr/>
        </p:nvSpPr>
        <p:spPr>
          <a:xfrm>
            <a:off x="870628" y="2545000"/>
            <a:ext cx="4930372" cy="2770000"/>
          </a:xfrm>
          <a:prstGeom prst="rect">
            <a:avLst/>
          </a:prstGeom>
          <a:noFill/>
        </p:spPr>
        <p:txBody>
          <a:bodyPr wrap="square">
            <a:spAutoFit/>
          </a:bodyPr>
          <a:lstStyle/>
          <a:p>
            <a:pPr algn="l"/>
            <a:r>
              <a:rPr sz="1400" b="0" i="0">
                <a:solidFill>
                  <a:srgbClr val="4A4A4A"/>
                </a:solidFill>
                <a:latin typeface="Geist"/>
              </a:rPr>
              <a:t>llms.txt rewrite
Add docs link to Connect AI nav
Agent-specific quickstart path
Comparison content (vs Composio)
Fix in-product Help link routing</a:t>
            </a:r>
          </a:p>
        </p:txBody>
      </p:sp>
      <p:sp>
        <p:nvSpPr>
          <p:cNvPr id="8" name="Rounded Rectangle 7"/>
          <p:cNvSpPr/>
          <p:nvPr/>
        </p:nvSpPr>
        <p:spPr>
          <a:xfrm>
            <a:off x="6206000" y="1900000"/>
            <a:ext cx="5300372" cy="3600000"/>
          </a:xfrm>
          <a:prstGeom prst="round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91000" y="2085000"/>
            <a:ext cx="4930372" cy="430000"/>
          </a:xfrm>
          <a:prstGeom prst="rect">
            <a:avLst/>
          </a:prstGeom>
          <a:noFill/>
        </p:spPr>
        <p:txBody>
          <a:bodyPr wrap="square">
            <a:spAutoFit/>
          </a:bodyPr>
          <a:lstStyle/>
          <a:p>
            <a:pPr algn="l"/>
            <a:r>
              <a:rPr sz="1700" b="0" i="0">
                <a:solidFill>
                  <a:srgbClr val="1A1A1A"/>
                </a:solidFill>
                <a:latin typeface="Geist ExtraBold"/>
              </a:rPr>
              <a:t>Product conversations</a:t>
            </a:r>
          </a:p>
        </p:txBody>
      </p:sp>
      <p:sp>
        <p:nvSpPr>
          <p:cNvPr id="10" name="TextBox 9"/>
          <p:cNvSpPr txBox="1"/>
          <p:nvPr/>
        </p:nvSpPr>
        <p:spPr>
          <a:xfrm>
            <a:off x="6391000" y="2545000"/>
            <a:ext cx="4930372" cy="2770000"/>
          </a:xfrm>
          <a:prstGeom prst="rect">
            <a:avLst/>
          </a:prstGeom>
          <a:noFill/>
        </p:spPr>
        <p:txBody>
          <a:bodyPr wrap="square">
            <a:spAutoFit/>
          </a:bodyPr>
          <a:lstStyle/>
          <a:p>
            <a:pPr algn="l"/>
            <a:r>
              <a:rPr sz="1400" b="0" i="0">
                <a:solidFill>
                  <a:srgbClr val="4A4A4A"/>
                </a:solidFill>
                <a:latin typeface="Geist"/>
              </a:rPr>
              <a:t>No sandbox environment
PAT scoping (no read-only option)
getInstructions metadata loop
No SQL preview before write operations
stdio-only local MCP server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700000"/>
            <a:ext cx="10820744" cy="900000"/>
          </a:xfrm>
          <a:prstGeom prst="rect">
            <a:avLst/>
          </a:prstGeom>
          <a:noFill/>
        </p:spPr>
        <p:txBody>
          <a:bodyPr wrap="square">
            <a:spAutoFit/>
          </a:bodyPr>
          <a:lstStyle/>
          <a:p>
            <a:pPr algn="l"/>
            <a:r>
              <a:rPr sz="3600" b="0" i="0">
                <a:solidFill>
                  <a:srgbClr val="1A1A1A"/>
                </a:solidFill>
                <a:latin typeface="Geist ExtraBold"/>
              </a:rPr>
              <a:t>The point isn't "I bring bugs to product."</a:t>
            </a:r>
          </a:p>
        </p:txBody>
      </p:sp>
      <p:sp>
        <p:nvSpPr>
          <p:cNvPr id="4" name="TextBox 3"/>
          <p:cNvSpPr txBox="1"/>
          <p:nvPr/>
        </p:nvSpPr>
        <p:spPr>
          <a:xfrm>
            <a:off x="685628" y="2900000"/>
            <a:ext cx="10820744" cy="1400000"/>
          </a:xfrm>
          <a:prstGeom prst="rect">
            <a:avLst/>
          </a:prstGeom>
          <a:noFill/>
        </p:spPr>
        <p:txBody>
          <a:bodyPr wrap="square">
            <a:spAutoFit/>
          </a:bodyPr>
          <a:lstStyle/>
          <a:p>
            <a:pPr algn="l"/>
            <a:r>
              <a:rPr sz="2000" b="0" i="0">
                <a:solidFill>
                  <a:srgbClr val="4A4A4A"/>
                </a:solidFill>
                <a:latin typeface="Geist"/>
              </a:rPr>
              <a:t>The best PMM/product work happens earlier — helping frame what's being built before it ships, technically reviewing it, and making sure the external story matches what developers actually experience.</a:t>
            </a:r>
          </a:p>
        </p:txBody>
      </p:sp>
      <p:sp>
        <p:nvSpPr>
          <p:cNvPr id="5" name="TextBox 4"/>
          <p:cNvSpPr txBox="1"/>
          <p:nvPr/>
        </p:nvSpPr>
        <p:spPr>
          <a:xfrm>
            <a:off x="685628" y="4550000"/>
            <a:ext cx="10820744" cy="600000"/>
          </a:xfrm>
          <a:prstGeom prst="rect">
            <a:avLst/>
          </a:prstGeom>
          <a:noFill/>
        </p:spPr>
        <p:txBody>
          <a:bodyPr wrap="square">
            <a:spAutoFit/>
          </a:bodyPr>
          <a:lstStyle/>
          <a:p>
            <a:pPr algn="l"/>
            <a:r>
              <a:rPr sz="2200" b="0" i="0">
                <a:solidFill>
                  <a:srgbClr val="1A1A1A"/>
                </a:solidFill>
                <a:latin typeface="Geist ExtraBold"/>
              </a:rPr>
              <a:t>The DX audit is an example of all three.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0" y="800000"/>
            <a:ext cx="12192000" cy="400000"/>
          </a:xfrm>
          <a:prstGeom prst="rect">
            <a:avLst/>
          </a:prstGeom>
          <a:noFill/>
        </p:spPr>
        <p:txBody>
          <a:bodyPr wrap="square">
            <a:spAutoFit/>
          </a:bodyPr>
          <a:lstStyle/>
          <a:p>
            <a:pPr algn="ctr"/>
            <a:r>
              <a:rPr sz="1300" b="1" i="0">
                <a:solidFill>
                  <a:srgbClr val="808080"/>
                </a:solidFill>
                <a:latin typeface="DM Sans"/>
              </a:rPr>
              <a:t>Part 3: The GTM Plan</a:t>
            </a:r>
          </a:p>
        </p:txBody>
      </p:sp>
      <p:sp>
        <p:nvSpPr>
          <p:cNvPr id="4" name="TextBox 3"/>
          <p:cNvSpPr txBox="1"/>
          <p:nvPr/>
        </p:nvSpPr>
        <p:spPr>
          <a:xfrm>
            <a:off x="0" y="1900000"/>
            <a:ext cx="12192000" cy="1800000"/>
          </a:xfrm>
          <a:prstGeom prst="rect">
            <a:avLst/>
          </a:prstGeom>
          <a:noFill/>
        </p:spPr>
        <p:txBody>
          <a:bodyPr wrap="square">
            <a:spAutoFit/>
          </a:bodyPr>
          <a:lstStyle/>
          <a:p>
            <a:pPr algn="ctr"/>
            <a:r>
              <a:rPr sz="10000" b="0" i="0">
                <a:solidFill>
                  <a:srgbClr val="FFFFFF"/>
                </a:solidFill>
                <a:latin typeface="Geist ExtraBold"/>
              </a:rPr>
              <a:t>90 days.</a:t>
            </a:r>
          </a:p>
        </p:txBody>
      </p:sp>
      <p:sp>
        <p:nvSpPr>
          <p:cNvPr id="5" name="TextBox 4"/>
          <p:cNvSpPr txBox="1"/>
          <p:nvPr/>
        </p:nvSpPr>
        <p:spPr>
          <a:xfrm>
            <a:off x="685628" y="4200000"/>
            <a:ext cx="10820744" cy="700000"/>
          </a:xfrm>
          <a:prstGeom prst="rect">
            <a:avLst/>
          </a:prstGeom>
          <a:noFill/>
        </p:spPr>
        <p:txBody>
          <a:bodyPr wrap="square">
            <a:spAutoFit/>
          </a:bodyPr>
          <a:lstStyle/>
          <a:p>
            <a:pPr algn="l"/>
            <a:r>
              <a:rPr sz="1600" b="0" i="0">
                <a:solidFill>
                  <a:srgbClr val="808080"/>
                </a:solidFill>
                <a:latin typeface="Geist"/>
              </a:rPr>
              <a:t>The audit I just showed you is the document I'd share with product and leadership. Everything in this plan follows from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E500"/>
        </a:solidFill>
        <a:effectLst/>
      </p:bgPr>
    </p:bg>
    <p:spTree>
      <p:nvGrpSpPr>
        <p:cNvPr id="1" name=""/>
        <p:cNvGrpSpPr/>
        <p:nvPr/>
      </p:nvGrpSpPr>
      <p:grpSpPr/>
      <p:pic>
        <p:nvPicPr>
          <p:cNvPr id="2" name="Picture 1" descr="cdata-logo-yellow.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2200000"/>
            <a:ext cx="10820744" cy="3000000"/>
          </a:xfrm>
          <a:prstGeom prst="rect">
            <a:avLst/>
          </a:prstGeom>
          <a:noFill/>
        </p:spPr>
        <p:txBody>
          <a:bodyPr wrap="square">
            <a:spAutoFit/>
          </a:bodyPr>
          <a:lstStyle/>
          <a:p>
            <a:pPr algn="l"/>
            <a:r>
              <a:rPr sz="3400" b="0" i="0">
                <a:solidFill>
                  <a:srgbClr val="1A1A1A"/>
                </a:solidFill>
                <a:latin typeface="Geist ExtraBold"/>
              </a:rPr>
              <a:t>Days 1–30: Establish the baseline. Ship the quick fixes. Run everything in parallel.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DAYS 1–30</a:t>
            </a:r>
          </a:p>
        </p:txBody>
      </p:sp>
      <p:sp>
        <p:nvSpPr>
          <p:cNvPr id="4" name="TextBox 3"/>
          <p:cNvSpPr txBox="1"/>
          <p:nvPr/>
        </p:nvSpPr>
        <p:spPr>
          <a:xfrm>
            <a:off x="685628" y="620000"/>
            <a:ext cx="10820744" cy="900000"/>
          </a:xfrm>
          <a:prstGeom prst="rect">
            <a:avLst/>
          </a:prstGeom>
          <a:noFill/>
        </p:spPr>
        <p:txBody>
          <a:bodyPr wrap="square">
            <a:spAutoFit/>
          </a:bodyPr>
          <a:lstStyle/>
          <a:p>
            <a:pPr algn="l"/>
            <a:r>
              <a:rPr sz="3000" b="0" i="0">
                <a:solidFill>
                  <a:srgbClr val="1A1A1A"/>
                </a:solidFill>
                <a:latin typeface="Geist ExtraBold"/>
              </a:rPr>
              <a:t>Three parallel workstreams. All start on Day 1. Nothing waits for a report.</a:t>
            </a:r>
          </a:p>
        </p:txBody>
      </p:sp>
      <p:sp>
        <p:nvSpPr>
          <p:cNvPr id="5" name="Rounded Rectangle 4"/>
          <p:cNvSpPr/>
          <p:nvPr/>
        </p:nvSpPr>
        <p:spPr>
          <a:xfrm>
            <a:off x="685628" y="1900000"/>
            <a:ext cx="3483581" cy="4700000"/>
          </a:xfrm>
          <a:prstGeom prst="round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0628" y="2085000"/>
            <a:ext cx="3113581" cy="430000"/>
          </a:xfrm>
          <a:prstGeom prst="rect">
            <a:avLst/>
          </a:prstGeom>
          <a:noFill/>
        </p:spPr>
        <p:txBody>
          <a:bodyPr wrap="square">
            <a:spAutoFit/>
          </a:bodyPr>
          <a:lstStyle/>
          <a:p>
            <a:pPr algn="l"/>
            <a:r>
              <a:rPr sz="1700" b="0" i="0">
                <a:solidFill>
                  <a:srgbClr val="1A1A1A"/>
                </a:solidFill>
                <a:latin typeface="Geist ExtraBold"/>
              </a:rPr>
              <a:t>Funnel Instrumentation</a:t>
            </a:r>
          </a:p>
        </p:txBody>
      </p:sp>
      <p:sp>
        <p:nvSpPr>
          <p:cNvPr id="7" name="TextBox 6"/>
          <p:cNvSpPr txBox="1"/>
          <p:nvPr/>
        </p:nvSpPr>
        <p:spPr>
          <a:xfrm>
            <a:off x="870628" y="2545000"/>
            <a:ext cx="3113581" cy="3870000"/>
          </a:xfrm>
          <a:prstGeom prst="rect">
            <a:avLst/>
          </a:prstGeom>
          <a:noFill/>
        </p:spPr>
        <p:txBody>
          <a:bodyPr wrap="square">
            <a:spAutoFit/>
          </a:bodyPr>
          <a:lstStyle/>
          <a:p>
            <a:pPr algn="l"/>
            <a:r>
              <a:rPr sz="1400" b="0" i="0">
                <a:solidFill>
                  <a:srgbClr val="4A4A4A"/>
                </a:solidFill>
                <a:latin typeface="Geist"/>
              </a:rPr>
              <a:t>Map Discover → Evaluate → First API call → Build → Scale.
Verify analytics coverage at each stage. Pull product usage data — which connectors are getting trial activity? Where are developers dropping off?
First funnel health report by week 2.</a:t>
            </a:r>
          </a:p>
        </p:txBody>
      </p:sp>
      <p:sp>
        <p:nvSpPr>
          <p:cNvPr id="8" name="Rounded Rectangle 7"/>
          <p:cNvSpPr/>
          <p:nvPr/>
        </p:nvSpPr>
        <p:spPr>
          <a:xfrm>
            <a:off x="4354209" y="1900000"/>
            <a:ext cx="3483581" cy="4700000"/>
          </a:xfrm>
          <a:prstGeom prst="round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9209" y="2085000"/>
            <a:ext cx="3113581" cy="430000"/>
          </a:xfrm>
          <a:prstGeom prst="rect">
            <a:avLst/>
          </a:prstGeom>
          <a:noFill/>
        </p:spPr>
        <p:txBody>
          <a:bodyPr wrap="square">
            <a:spAutoFit/>
          </a:bodyPr>
          <a:lstStyle/>
          <a:p>
            <a:pPr algn="l"/>
            <a:r>
              <a:rPr sz="1700" b="0" i="0">
                <a:solidFill>
                  <a:srgbClr val="1A1A1A"/>
                </a:solidFill>
                <a:latin typeface="Geist ExtraBold"/>
              </a:rPr>
              <a:t>Keyword + Site Health</a:t>
            </a:r>
          </a:p>
        </p:txBody>
      </p:sp>
      <p:sp>
        <p:nvSpPr>
          <p:cNvPr id="10" name="TextBox 9"/>
          <p:cNvSpPr txBox="1"/>
          <p:nvPr/>
        </p:nvSpPr>
        <p:spPr>
          <a:xfrm>
            <a:off x="4539209" y="2545000"/>
            <a:ext cx="3113581" cy="3870000"/>
          </a:xfrm>
          <a:prstGeom prst="rect">
            <a:avLst/>
          </a:prstGeom>
          <a:noFill/>
        </p:spPr>
        <p:txBody>
          <a:bodyPr wrap="square">
            <a:spAutoFit/>
          </a:bodyPr>
          <a:lstStyle/>
          <a:p>
            <a:pPr algn="l"/>
            <a:r>
              <a:rPr sz="1400" b="0" i="0">
                <a:solidFill>
                  <a:srgbClr val="4A4A4A"/>
                </a:solidFill>
                <a:latin typeface="Geist"/>
              </a:rPr>
              <a:t>Technical SEO audit: redirect chains, Core Web Vitals, crawl health, internal linking.
Keyword clusters: "enterprise MCP server," "AI agent data access," "SQL connectivity for LLMs."
Remediate obvious issues immediately — don't wait for the full audit.</a:t>
            </a:r>
          </a:p>
        </p:txBody>
      </p:sp>
      <p:sp>
        <p:nvSpPr>
          <p:cNvPr id="11" name="Rounded Rectangle 10"/>
          <p:cNvSpPr/>
          <p:nvPr/>
        </p:nvSpPr>
        <p:spPr>
          <a:xfrm>
            <a:off x="8022790" y="1900000"/>
            <a:ext cx="3483581" cy="4700000"/>
          </a:xfrm>
          <a:prstGeom prst="round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07790" y="2085000"/>
            <a:ext cx="3113581" cy="430000"/>
          </a:xfrm>
          <a:prstGeom prst="rect">
            <a:avLst/>
          </a:prstGeom>
          <a:noFill/>
        </p:spPr>
        <p:txBody>
          <a:bodyPr wrap="square">
            <a:spAutoFit/>
          </a:bodyPr>
          <a:lstStyle/>
          <a:p>
            <a:pPr algn="l"/>
            <a:r>
              <a:rPr sz="1700" b="0" i="0">
                <a:solidFill>
                  <a:srgbClr val="1A1A1A"/>
                </a:solidFill>
                <a:latin typeface="Geist ExtraBold"/>
              </a:rPr>
              <a:t>LLM Discoverability + DX</a:t>
            </a:r>
          </a:p>
        </p:txBody>
      </p:sp>
      <p:sp>
        <p:nvSpPr>
          <p:cNvPr id="13" name="TextBox 12"/>
          <p:cNvSpPr txBox="1"/>
          <p:nvPr/>
        </p:nvSpPr>
        <p:spPr>
          <a:xfrm>
            <a:off x="8207790" y="2545000"/>
            <a:ext cx="3113581" cy="3870000"/>
          </a:xfrm>
          <a:prstGeom prst="rect">
            <a:avLst/>
          </a:prstGeom>
          <a:noFill/>
        </p:spPr>
        <p:txBody>
          <a:bodyPr wrap="square">
            <a:spAutoFit/>
          </a:bodyPr>
          <a:lstStyle/>
          <a:p>
            <a:pPr algn="l"/>
            <a:r>
              <a:rPr sz="1400" b="0" i="0">
                <a:solidFill>
                  <a:srgbClr val="4A4A4A"/>
                </a:solidFill>
                <a:latin typeface="Geist"/>
              </a:rPr>
              <a:t>LLM baseline already run: CData absent from all 5 key queries.
llms.txt rewrite: Connect AI product guide, not a page index. One week.
Start shipping into training-data surfaces in parallel: README improvements, Stack Overflow, GitHub examples.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DAYS 1–30</a:t>
            </a:r>
          </a:p>
        </p:txBody>
      </p:sp>
      <p:sp>
        <p:nvSpPr>
          <p:cNvPr id="4" name="TextBox 3"/>
          <p:cNvSpPr txBox="1"/>
          <p:nvPr/>
        </p:nvSpPr>
        <p:spPr>
          <a:xfrm>
            <a:off x="685628" y="620000"/>
            <a:ext cx="10820744" cy="800000"/>
          </a:xfrm>
          <a:prstGeom prst="rect">
            <a:avLst/>
          </a:prstGeom>
          <a:noFill/>
        </p:spPr>
        <p:txBody>
          <a:bodyPr wrap="square">
            <a:spAutoFit/>
          </a:bodyPr>
          <a:lstStyle/>
          <a:p>
            <a:pPr algn="l"/>
            <a:r>
              <a:rPr sz="3600" b="0" i="0">
                <a:solidFill>
                  <a:srgbClr val="1A1A1A"/>
                </a:solidFill>
                <a:latin typeface="Geist ExtraBold"/>
              </a:rPr>
              <a:t>Immediate fixes that don't wait for data.</a:t>
            </a:r>
          </a:p>
        </p:txBody>
      </p:sp>
      <p:sp>
        <p:nvSpPr>
          <p:cNvPr id="5" name="Rectangle 4"/>
          <p:cNvSpPr/>
          <p:nvPr/>
        </p:nvSpPr>
        <p:spPr>
          <a:xfrm>
            <a:off x="685628" y="1800000"/>
            <a:ext cx="10820744" cy="110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628" y="1800000"/>
            <a:ext cx="10000" cy="110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5628" y="1900000"/>
            <a:ext cx="4000000" cy="340000"/>
          </a:xfrm>
          <a:prstGeom prst="rect">
            <a:avLst/>
          </a:prstGeom>
          <a:noFill/>
        </p:spPr>
        <p:txBody>
          <a:bodyPr wrap="none">
            <a:spAutoFit/>
          </a:bodyPr>
          <a:lstStyle/>
          <a:p>
            <a:pPr algn="l"/>
            <a:r>
              <a:rPr sz="1700" b="0" i="0">
                <a:solidFill>
                  <a:srgbClr val="1A1A1A"/>
                </a:solidFill>
                <a:latin typeface="Geist ExtraBold"/>
              </a:rPr>
              <a:t>Rewrite llms.txt</a:t>
            </a:r>
          </a:p>
        </p:txBody>
      </p:sp>
      <p:sp>
        <p:nvSpPr>
          <p:cNvPr id="8" name="TextBox 7"/>
          <p:cNvSpPr txBox="1"/>
          <p:nvPr/>
        </p:nvSpPr>
        <p:spPr>
          <a:xfrm>
            <a:off x="925628" y="2280000"/>
            <a:ext cx="10380744" cy="540000"/>
          </a:xfrm>
          <a:prstGeom prst="rect">
            <a:avLst/>
          </a:prstGeom>
          <a:noFill/>
        </p:spPr>
        <p:txBody>
          <a:bodyPr wrap="square">
            <a:spAutoFit/>
          </a:bodyPr>
          <a:lstStyle/>
          <a:p>
            <a:pPr algn="l"/>
            <a:r>
              <a:rPr sz="1300" b="0" i="0">
                <a:solidFill>
                  <a:srgbClr val="4A4A4A"/>
                </a:solidFill>
                <a:latin typeface="Geist"/>
              </a:rPr>
              <a:t>Lead with a Connect AI product description: what it does, how it differs from Composio, the quickstart URL, the enterprise source list. Currently a page index. One week of work.</a:t>
            </a:r>
          </a:p>
        </p:txBody>
      </p:sp>
      <p:sp>
        <p:nvSpPr>
          <p:cNvPr id="9" name="Rectangle 8"/>
          <p:cNvSpPr/>
          <p:nvPr/>
        </p:nvSpPr>
        <p:spPr>
          <a:xfrm>
            <a:off x="685628" y="3000000"/>
            <a:ext cx="10820744" cy="110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628" y="3000000"/>
            <a:ext cx="10000" cy="110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5628" y="3100000"/>
            <a:ext cx="4000000" cy="340000"/>
          </a:xfrm>
          <a:prstGeom prst="rect">
            <a:avLst/>
          </a:prstGeom>
          <a:noFill/>
        </p:spPr>
        <p:txBody>
          <a:bodyPr wrap="none">
            <a:spAutoFit/>
          </a:bodyPr>
          <a:lstStyle/>
          <a:p>
            <a:pPr algn="l"/>
            <a:r>
              <a:rPr sz="1700" b="0" i="0">
                <a:solidFill>
                  <a:srgbClr val="1A1A1A"/>
                </a:solidFill>
                <a:latin typeface="Geist ExtraBold"/>
              </a:rPr>
              <a:t>Add a docs link to the Connect AI nav</a:t>
            </a:r>
          </a:p>
        </p:txBody>
      </p:sp>
      <p:sp>
        <p:nvSpPr>
          <p:cNvPr id="12" name="TextBox 11"/>
          <p:cNvSpPr txBox="1"/>
          <p:nvPr/>
        </p:nvSpPr>
        <p:spPr>
          <a:xfrm>
            <a:off x="925628" y="3480000"/>
            <a:ext cx="10380744" cy="540000"/>
          </a:xfrm>
          <a:prstGeom prst="rect">
            <a:avLst/>
          </a:prstGeom>
          <a:noFill/>
        </p:spPr>
        <p:txBody>
          <a:bodyPr wrap="square">
            <a:spAutoFit/>
          </a:bodyPr>
          <a:lstStyle/>
          <a:p>
            <a:pPr algn="l"/>
            <a:r>
              <a:rPr sz="1300" b="0" i="0">
                <a:solidFill>
                  <a:srgbClr val="4A4A4A"/>
                </a:solidFill>
                <a:latin typeface="Geist"/>
              </a:rPr>
              <a:t>The documentation exists. Put it where the developer can find it. This is a nav item, not a campaign.</a:t>
            </a:r>
          </a:p>
        </p:txBody>
      </p:sp>
      <p:sp>
        <p:nvSpPr>
          <p:cNvPr id="13" name="Rectangle 12"/>
          <p:cNvSpPr/>
          <p:nvPr/>
        </p:nvSpPr>
        <p:spPr>
          <a:xfrm>
            <a:off x="685628" y="4200000"/>
            <a:ext cx="10820744" cy="110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628" y="4200000"/>
            <a:ext cx="10000" cy="110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628" y="4300000"/>
            <a:ext cx="4000000" cy="340000"/>
          </a:xfrm>
          <a:prstGeom prst="rect">
            <a:avLst/>
          </a:prstGeom>
          <a:noFill/>
        </p:spPr>
        <p:txBody>
          <a:bodyPr wrap="none">
            <a:spAutoFit/>
          </a:bodyPr>
          <a:lstStyle/>
          <a:p>
            <a:pPr algn="l"/>
            <a:r>
              <a:rPr sz="1700" b="0" i="0">
                <a:solidFill>
                  <a:srgbClr val="1A1A1A"/>
                </a:solidFill>
                <a:latin typeface="Geist ExtraBold"/>
              </a:rPr>
              <a:t>Fix the in-product Help link</a:t>
            </a:r>
          </a:p>
        </p:txBody>
      </p:sp>
      <p:sp>
        <p:nvSpPr>
          <p:cNvPr id="16" name="TextBox 15"/>
          <p:cNvSpPr txBox="1"/>
          <p:nvPr/>
        </p:nvSpPr>
        <p:spPr>
          <a:xfrm>
            <a:off x="925628" y="4680000"/>
            <a:ext cx="10380744" cy="540000"/>
          </a:xfrm>
          <a:prstGeom prst="rect">
            <a:avLst/>
          </a:prstGeom>
          <a:noFill/>
        </p:spPr>
        <p:txBody>
          <a:bodyPr wrap="square">
            <a:spAutoFit/>
          </a:bodyPr>
          <a:lstStyle/>
          <a:p>
            <a:pPr algn="l"/>
            <a:r>
              <a:rPr sz="1300" b="0" i="0">
                <a:solidFill>
                  <a:srgbClr val="4A4A4A"/>
                </a:solidFill>
                <a:latin typeface="Geist"/>
              </a:rPr>
              <a:t>Help currently routes to CData Sync documentation. Route it to Connect AI. This is a single redirect.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DAYS 1–30 · DX FINDING</a:t>
            </a:r>
          </a:p>
        </p:txBody>
      </p:sp>
      <p:sp>
        <p:nvSpPr>
          <p:cNvPr id="4" name="TextBox 3"/>
          <p:cNvSpPr txBox="1"/>
          <p:nvPr/>
        </p:nvSpPr>
        <p:spPr>
          <a:xfrm>
            <a:off x="685628" y="620000"/>
            <a:ext cx="10820744" cy="700000"/>
          </a:xfrm>
          <a:prstGeom prst="rect">
            <a:avLst/>
          </a:prstGeom>
          <a:noFill/>
        </p:spPr>
        <p:txBody>
          <a:bodyPr wrap="square">
            <a:spAutoFit/>
          </a:bodyPr>
          <a:lstStyle/>
          <a:p>
            <a:pPr algn="l"/>
            <a:r>
              <a:rPr sz="4400" b="0" i="0">
                <a:solidFill>
                  <a:srgbClr val="1A1A1A"/>
                </a:solidFill>
                <a:latin typeface="Geist ExtraBold"/>
              </a:rPr>
              <a:t>The Quick Start Problem.</a:t>
            </a:r>
          </a:p>
        </p:txBody>
      </p:sp>
      <p:sp>
        <p:nvSpPr>
          <p:cNvPr id="5" name="Rectangle 4"/>
          <p:cNvSpPr/>
          <p:nvPr/>
        </p:nvSpPr>
        <p:spPr>
          <a:xfrm>
            <a:off x="685628" y="1550000"/>
            <a:ext cx="5210372" cy="280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5628" y="1610000"/>
            <a:ext cx="4970372" cy="200000"/>
          </a:xfrm>
          <a:prstGeom prst="rect">
            <a:avLst/>
          </a:prstGeom>
          <a:noFill/>
        </p:spPr>
        <p:txBody>
          <a:bodyPr wrap="none">
            <a:spAutoFit/>
          </a:bodyPr>
          <a:lstStyle/>
          <a:p>
            <a:pPr algn="l"/>
            <a:r>
              <a:rPr sz="1300" b="0" i="0">
                <a:solidFill>
                  <a:srgbClr val="F5F5F0"/>
                </a:solidFill>
                <a:latin typeface="Geist ExtraBold"/>
              </a:rPr>
              <a:t>Current Quick Start</a:t>
            </a:r>
          </a:p>
        </p:txBody>
      </p:sp>
      <p:sp>
        <p:nvSpPr>
          <p:cNvPr id="7" name="Rectangle 6"/>
          <p:cNvSpPr/>
          <p:nvPr/>
        </p:nvSpPr>
        <p:spPr>
          <a:xfrm>
            <a:off x="685628" y="1980000"/>
            <a:ext cx="8000" cy="20000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5628" y="1910000"/>
            <a:ext cx="5030372" cy="320000"/>
          </a:xfrm>
          <a:prstGeom prst="rect">
            <a:avLst/>
          </a:prstGeom>
          <a:noFill/>
        </p:spPr>
        <p:txBody>
          <a:bodyPr wrap="square">
            <a:spAutoFit/>
          </a:bodyPr>
          <a:lstStyle/>
          <a:p>
            <a:pPr algn="l"/>
            <a:r>
              <a:rPr sz="1400" b="0" i="0">
                <a:solidFill>
                  <a:srgbClr val="4A4A4A"/>
                </a:solidFill>
                <a:latin typeface="Geist"/>
              </a:rPr>
              <a:t>Walks you through connecting a source</a:t>
            </a:r>
          </a:p>
        </p:txBody>
      </p:sp>
      <p:sp>
        <p:nvSpPr>
          <p:cNvPr id="9" name="Rectangle 8"/>
          <p:cNvSpPr/>
          <p:nvPr/>
        </p:nvSpPr>
        <p:spPr>
          <a:xfrm>
            <a:off x="685628" y="2360000"/>
            <a:ext cx="8000" cy="20000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5628" y="2290000"/>
            <a:ext cx="5030372" cy="320000"/>
          </a:xfrm>
          <a:prstGeom prst="rect">
            <a:avLst/>
          </a:prstGeom>
          <a:noFill/>
        </p:spPr>
        <p:txBody>
          <a:bodyPr wrap="square">
            <a:spAutoFit/>
          </a:bodyPr>
          <a:lstStyle/>
          <a:p>
            <a:pPr algn="l"/>
            <a:r>
              <a:rPr sz="1400" b="0" i="0">
                <a:solidFill>
                  <a:srgbClr val="4A4A4A"/>
                </a:solidFill>
                <a:latin typeface="Geist"/>
              </a:rPr>
              <a:t>Branches: Power BI · Excel · Tableau · REST · OData</a:t>
            </a:r>
          </a:p>
        </p:txBody>
      </p:sp>
      <p:sp>
        <p:nvSpPr>
          <p:cNvPr id="11" name="Rectangle 10"/>
          <p:cNvSpPr/>
          <p:nvPr/>
        </p:nvSpPr>
        <p:spPr>
          <a:xfrm>
            <a:off x="685628" y="2740000"/>
            <a:ext cx="8000" cy="20000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5628" y="2670000"/>
            <a:ext cx="5030372" cy="320000"/>
          </a:xfrm>
          <a:prstGeom prst="rect">
            <a:avLst/>
          </a:prstGeom>
          <a:noFill/>
        </p:spPr>
        <p:txBody>
          <a:bodyPr wrap="square">
            <a:spAutoFit/>
          </a:bodyPr>
          <a:lstStyle/>
          <a:p>
            <a:pPr algn="l"/>
            <a:r>
              <a:rPr sz="1400" b="0" i="0">
                <a:solidFill>
                  <a:srgbClr val="4A4A4A"/>
                </a:solidFill>
                <a:latin typeface="Geist"/>
              </a:rPr>
              <a:t>No expected output shown</a:t>
            </a:r>
          </a:p>
        </p:txBody>
      </p:sp>
      <p:sp>
        <p:nvSpPr>
          <p:cNvPr id="13" name="Rectangle 12"/>
          <p:cNvSpPr/>
          <p:nvPr/>
        </p:nvSpPr>
        <p:spPr>
          <a:xfrm>
            <a:off x="685628" y="3120000"/>
            <a:ext cx="8000" cy="20000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5628" y="3050000"/>
            <a:ext cx="5030372" cy="320000"/>
          </a:xfrm>
          <a:prstGeom prst="rect">
            <a:avLst/>
          </a:prstGeom>
          <a:noFill/>
        </p:spPr>
        <p:txBody>
          <a:bodyPr wrap="square">
            <a:spAutoFit/>
          </a:bodyPr>
          <a:lstStyle/>
          <a:p>
            <a:pPr algn="l"/>
            <a:r>
              <a:rPr sz="1400" b="0" i="0">
                <a:solidFill>
                  <a:srgbClr val="4A4A4A"/>
                </a:solidFill>
                <a:latin typeface="Geist"/>
              </a:rPr>
              <a:t>Ends at "here are your options"</a:t>
            </a:r>
          </a:p>
        </p:txBody>
      </p:sp>
      <p:sp>
        <p:nvSpPr>
          <p:cNvPr id="15" name="Rectangle 14"/>
          <p:cNvSpPr/>
          <p:nvPr/>
        </p:nvSpPr>
        <p:spPr>
          <a:xfrm>
            <a:off x="685628" y="3500000"/>
            <a:ext cx="8000" cy="20000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628" y="3430000"/>
            <a:ext cx="5030372" cy="320000"/>
          </a:xfrm>
          <a:prstGeom prst="rect">
            <a:avLst/>
          </a:prstGeom>
          <a:noFill/>
        </p:spPr>
        <p:txBody>
          <a:bodyPr wrap="square">
            <a:spAutoFit/>
          </a:bodyPr>
          <a:lstStyle/>
          <a:p>
            <a:pPr algn="l"/>
            <a:r>
              <a:rPr sz="1400" b="0" i="0">
                <a:solidFill>
                  <a:srgbClr val="4A4A4A"/>
                </a:solidFill>
                <a:latin typeface="Geist"/>
              </a:rPr>
              <a:t>MCP server and Python SDK: invisible</a:t>
            </a:r>
          </a:p>
        </p:txBody>
      </p:sp>
      <p:sp>
        <p:nvSpPr>
          <p:cNvPr id="17" name="TextBox 16"/>
          <p:cNvSpPr txBox="1"/>
          <p:nvPr/>
        </p:nvSpPr>
        <p:spPr>
          <a:xfrm>
            <a:off x="5996000" y="2450000"/>
            <a:ext cx="220000" cy="400000"/>
          </a:xfrm>
          <a:prstGeom prst="rect">
            <a:avLst/>
          </a:prstGeom>
          <a:noFill/>
        </p:spPr>
        <p:txBody>
          <a:bodyPr wrap="none">
            <a:spAutoFit/>
          </a:bodyPr>
          <a:lstStyle/>
          <a:p>
            <a:pPr algn="l"/>
            <a:r>
              <a:rPr sz="3600" b="0" i="0">
                <a:solidFill>
                  <a:srgbClr val="FFE500"/>
                </a:solidFill>
                <a:latin typeface="Geist ExtraBold"/>
              </a:rPr>
              <a:t>→</a:t>
            </a:r>
          </a:p>
        </p:txBody>
      </p:sp>
      <p:sp>
        <p:nvSpPr>
          <p:cNvPr id="18" name="Rectangle 17"/>
          <p:cNvSpPr/>
          <p:nvPr/>
        </p:nvSpPr>
        <p:spPr>
          <a:xfrm>
            <a:off x="6296000" y="1550000"/>
            <a:ext cx="5210372" cy="28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6000" y="1610000"/>
            <a:ext cx="4970372" cy="200000"/>
          </a:xfrm>
          <a:prstGeom prst="rect">
            <a:avLst/>
          </a:prstGeom>
          <a:noFill/>
        </p:spPr>
        <p:txBody>
          <a:bodyPr wrap="none">
            <a:spAutoFit/>
          </a:bodyPr>
          <a:lstStyle/>
          <a:p>
            <a:pPr algn="l"/>
            <a:r>
              <a:rPr sz="1300" b="0" i="0">
                <a:solidFill>
                  <a:srgbClr val="1A1A1A"/>
                </a:solidFill>
                <a:latin typeface="Geist ExtraBold"/>
              </a:rPr>
              <a:t>What it should be</a:t>
            </a:r>
          </a:p>
        </p:txBody>
      </p:sp>
      <p:sp>
        <p:nvSpPr>
          <p:cNvPr id="20" name="Rectangle 19"/>
          <p:cNvSpPr/>
          <p:nvPr/>
        </p:nvSpPr>
        <p:spPr>
          <a:xfrm>
            <a:off x="6296000" y="1980000"/>
            <a:ext cx="8000" cy="200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6000" y="1910000"/>
            <a:ext cx="5030372" cy="320000"/>
          </a:xfrm>
          <a:prstGeom prst="rect">
            <a:avLst/>
          </a:prstGeom>
          <a:noFill/>
        </p:spPr>
        <p:txBody>
          <a:bodyPr wrap="square">
            <a:spAutoFit/>
          </a:bodyPr>
          <a:lstStyle/>
          <a:p>
            <a:pPr algn="l"/>
            <a:r>
              <a:rPr sz="1400" b="0" i="0">
                <a:solidFill>
                  <a:srgbClr val="1A1A1A"/>
                </a:solidFill>
                <a:latin typeface="Geist"/>
              </a:rPr>
              <a:t>pip install cdata-connect-ai</a:t>
            </a:r>
          </a:p>
        </p:txBody>
      </p:sp>
      <p:sp>
        <p:nvSpPr>
          <p:cNvPr id="22" name="Rectangle 21"/>
          <p:cNvSpPr/>
          <p:nvPr/>
        </p:nvSpPr>
        <p:spPr>
          <a:xfrm>
            <a:off x="6296000" y="2360000"/>
            <a:ext cx="8000" cy="200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6000" y="2290000"/>
            <a:ext cx="5030372" cy="320000"/>
          </a:xfrm>
          <a:prstGeom prst="rect">
            <a:avLst/>
          </a:prstGeom>
          <a:noFill/>
        </p:spPr>
        <p:txBody>
          <a:bodyPr wrap="square">
            <a:spAutoFit/>
          </a:bodyPr>
          <a:lstStyle/>
          <a:p>
            <a:pPr algn="l"/>
            <a:r>
              <a:rPr sz="1400" b="0" i="0">
                <a:solidFill>
                  <a:srgbClr val="1A1A1A"/>
                </a:solidFill>
                <a:latin typeface="Geist"/>
              </a:rPr>
              <a:t>Credentials: one step, not five</a:t>
            </a:r>
          </a:p>
        </p:txBody>
      </p:sp>
      <p:sp>
        <p:nvSpPr>
          <p:cNvPr id="24" name="Rectangle 23"/>
          <p:cNvSpPr/>
          <p:nvPr/>
        </p:nvSpPr>
        <p:spPr>
          <a:xfrm>
            <a:off x="6296000" y="2740000"/>
            <a:ext cx="8000" cy="200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6000" y="2670000"/>
            <a:ext cx="5030372" cy="320000"/>
          </a:xfrm>
          <a:prstGeom prst="rect">
            <a:avLst/>
          </a:prstGeom>
          <a:noFill/>
        </p:spPr>
        <p:txBody>
          <a:bodyPr wrap="square">
            <a:spAutoFit/>
          </a:bodyPr>
          <a:lstStyle/>
          <a:p>
            <a:pPr algn="l"/>
            <a:r>
              <a:rPr sz="1400" b="0" i="0">
                <a:solidFill>
                  <a:srgbClr val="1A1A1A"/>
                </a:solidFill>
                <a:latin typeface="Geist"/>
              </a:rPr>
              <a:t>10 lines of code → run it → see output</a:t>
            </a:r>
          </a:p>
        </p:txBody>
      </p:sp>
      <p:sp>
        <p:nvSpPr>
          <p:cNvPr id="26" name="Rectangle 25"/>
          <p:cNvSpPr/>
          <p:nvPr/>
        </p:nvSpPr>
        <p:spPr>
          <a:xfrm>
            <a:off x="6296000" y="3120000"/>
            <a:ext cx="8000" cy="200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6000" y="3050000"/>
            <a:ext cx="5030372" cy="320000"/>
          </a:xfrm>
          <a:prstGeom prst="rect">
            <a:avLst/>
          </a:prstGeom>
          <a:noFill/>
        </p:spPr>
        <p:txBody>
          <a:bodyPr wrap="square">
            <a:spAutoFit/>
          </a:bodyPr>
          <a:lstStyle/>
          <a:p>
            <a:pPr algn="l"/>
            <a:r>
              <a:rPr sz="1400" b="0" i="0">
                <a:solidFill>
                  <a:srgbClr val="1A1A1A"/>
                </a:solidFill>
                <a:latin typeface="Geist"/>
              </a:rPr>
              <a:t>Shows exactly what success looks like</a:t>
            </a:r>
          </a:p>
        </p:txBody>
      </p:sp>
      <p:sp>
        <p:nvSpPr>
          <p:cNvPr id="28" name="Rectangle 27"/>
          <p:cNvSpPr/>
          <p:nvPr/>
        </p:nvSpPr>
        <p:spPr>
          <a:xfrm>
            <a:off x="6296000" y="3500000"/>
            <a:ext cx="8000" cy="200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76000" y="3430000"/>
            <a:ext cx="5030372" cy="320000"/>
          </a:xfrm>
          <a:prstGeom prst="rect">
            <a:avLst/>
          </a:prstGeom>
          <a:noFill/>
        </p:spPr>
        <p:txBody>
          <a:bodyPr wrap="square">
            <a:spAutoFit/>
          </a:bodyPr>
          <a:lstStyle/>
          <a:p>
            <a:pPr algn="l"/>
            <a:r>
              <a:rPr sz="1400" b="0" i="0">
                <a:solidFill>
                  <a:srgbClr val="1A1A1A"/>
                </a:solidFill>
                <a:latin typeface="Geist"/>
              </a:rPr>
              <a:t>Ends with a working agent querying real data</a:t>
            </a:r>
          </a:p>
        </p:txBody>
      </p:sp>
      <p:sp>
        <p:nvSpPr>
          <p:cNvPr id="30" name="TextBox 29"/>
          <p:cNvSpPr txBox="1"/>
          <p:nvPr/>
        </p:nvSpPr>
        <p:spPr>
          <a:xfrm>
            <a:off x="685628" y="4700000"/>
            <a:ext cx="10820744" cy="500000"/>
          </a:xfrm>
          <a:prstGeom prst="rect">
            <a:avLst/>
          </a:prstGeom>
          <a:noFill/>
        </p:spPr>
        <p:txBody>
          <a:bodyPr wrap="square">
            <a:spAutoFit/>
          </a:bodyPr>
          <a:lstStyle/>
          <a:p>
            <a:pPr algn="l"/>
            <a:r>
              <a:rPr sz="1800" b="0" i="0">
                <a:solidFill>
                  <a:srgbClr val="1A1A1A"/>
                </a:solidFill>
                <a:latin typeface="Geist ExtraBold"/>
              </a:rPr>
              <a:t>Time-to-first-successful-query is the metric. Right now we're not measuring it — and it shows.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DAYS 1–30</a:t>
            </a:r>
          </a:p>
        </p:txBody>
      </p:sp>
      <p:sp>
        <p:nvSpPr>
          <p:cNvPr id="4" name="TextBox 3"/>
          <p:cNvSpPr txBox="1"/>
          <p:nvPr/>
        </p:nvSpPr>
        <p:spPr>
          <a:xfrm>
            <a:off x="685628" y="620000"/>
            <a:ext cx="10820744" cy="800000"/>
          </a:xfrm>
          <a:prstGeom prst="rect">
            <a:avLst/>
          </a:prstGeom>
          <a:noFill/>
        </p:spPr>
        <p:txBody>
          <a:bodyPr wrap="square">
            <a:spAutoFit/>
          </a:bodyPr>
          <a:lstStyle/>
          <a:p>
            <a:pPr algn="l"/>
            <a:r>
              <a:rPr sz="4400" b="0" i="0">
                <a:solidFill>
                  <a:srgbClr val="1A1A1A"/>
                </a:solidFill>
                <a:latin typeface="Geist ExtraBold"/>
              </a:rPr>
              <a:t>AI developer entry point.</a:t>
            </a:r>
          </a:p>
        </p:txBody>
      </p:sp>
      <p:sp>
        <p:nvSpPr>
          <p:cNvPr id="5" name="Rounded Rectangle 4"/>
          <p:cNvSpPr/>
          <p:nvPr/>
        </p:nvSpPr>
        <p:spPr>
          <a:xfrm>
            <a:off x="685628" y="1900000"/>
            <a:ext cx="10820744" cy="1600000"/>
          </a:xfrm>
          <a:prstGeom prst="round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5628" y="2200000"/>
            <a:ext cx="10020744" cy="600000"/>
          </a:xfrm>
          <a:prstGeom prst="rect">
            <a:avLst/>
          </a:prstGeom>
          <a:noFill/>
        </p:spPr>
        <p:txBody>
          <a:bodyPr wrap="square">
            <a:spAutoFit/>
          </a:bodyPr>
          <a:lstStyle/>
          <a:p>
            <a:pPr algn="l"/>
            <a:r>
              <a:rPr sz="2600" b="1" i="0">
                <a:solidFill>
                  <a:srgbClr val="1A1A1A"/>
                </a:solidFill>
                <a:latin typeface="Courier New"/>
              </a:rPr>
              <a:t>"Building with Claude? Start here."</a:t>
            </a:r>
          </a:p>
        </p:txBody>
      </p:sp>
      <p:sp>
        <p:nvSpPr>
          <p:cNvPr id="7" name="TextBox 6"/>
          <p:cNvSpPr txBox="1"/>
          <p:nvPr/>
        </p:nvSpPr>
        <p:spPr>
          <a:xfrm>
            <a:off x="685628" y="3800000"/>
            <a:ext cx="10820744" cy="700000"/>
          </a:xfrm>
          <a:prstGeom prst="rect">
            <a:avLst/>
          </a:prstGeom>
          <a:noFill/>
        </p:spPr>
        <p:txBody>
          <a:bodyPr wrap="square">
            <a:spAutoFit/>
          </a:bodyPr>
          <a:lstStyle/>
          <a:p>
            <a:pPr algn="l"/>
            <a:r>
              <a:rPr sz="2000" b="0" i="0">
                <a:solidFill>
                  <a:srgbClr val="4A4A4A"/>
                </a:solidFill>
                <a:latin typeface="Geist"/>
              </a:rPr>
              <a:t>Build an agent-specific path into the existing quickstart. Link it from the Connect AI page.</a:t>
            </a:r>
          </a:p>
        </p:txBody>
      </p:sp>
      <p:sp>
        <p:nvSpPr>
          <p:cNvPr id="8" name="TextBox 7"/>
          <p:cNvSpPr txBox="1"/>
          <p:nvPr/>
        </p:nvSpPr>
        <p:spPr>
          <a:xfrm>
            <a:off x="685628" y="4600000"/>
            <a:ext cx="10820744" cy="600000"/>
          </a:xfrm>
          <a:prstGeom prst="rect">
            <a:avLst/>
          </a:prstGeom>
          <a:noFill/>
        </p:spPr>
        <p:txBody>
          <a:bodyPr wrap="square">
            <a:spAutoFit/>
          </a:bodyPr>
          <a:lstStyle/>
          <a:p>
            <a:pPr algn="l"/>
            <a:r>
              <a:rPr sz="1800" b="0" i="0">
                <a:solidFill>
                  <a:srgbClr val="808080"/>
                </a:solidFill>
                <a:latin typeface="Geist"/>
              </a:rPr>
              <a:t>This is content work, not a product change. Tested with a stopwatch before it ships.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DAYS 31–60</a:t>
            </a:r>
          </a:p>
        </p:txBody>
      </p:sp>
      <p:sp>
        <p:nvSpPr>
          <p:cNvPr id="4" name="TextBox 3"/>
          <p:cNvSpPr txBox="1"/>
          <p:nvPr/>
        </p:nvSpPr>
        <p:spPr>
          <a:xfrm>
            <a:off x="685628" y="620000"/>
            <a:ext cx="10820744" cy="500000"/>
          </a:xfrm>
          <a:prstGeom prst="rect">
            <a:avLst/>
          </a:prstGeom>
          <a:noFill/>
        </p:spPr>
        <p:txBody>
          <a:bodyPr wrap="square">
            <a:spAutoFit/>
          </a:bodyPr>
          <a:lstStyle/>
          <a:p>
            <a:pPr algn="l"/>
            <a:r>
              <a:rPr sz="3200" b="0" i="0">
                <a:solidFill>
                  <a:srgbClr val="1A1A1A"/>
                </a:solidFill>
                <a:latin typeface="Geist ExtraBold"/>
              </a:rPr>
              <a:t>Two tracks. One ships Day 31 — the other follows data.</a:t>
            </a:r>
          </a:p>
        </p:txBody>
      </p:sp>
      <p:sp>
        <p:nvSpPr>
          <p:cNvPr id="5" name="Rectangle 4"/>
          <p:cNvSpPr/>
          <p:nvPr/>
        </p:nvSpPr>
        <p:spPr>
          <a:xfrm>
            <a:off x="685628" y="1350000"/>
            <a:ext cx="4900000" cy="28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5628" y="1400000"/>
            <a:ext cx="4660000" cy="200000"/>
          </a:xfrm>
          <a:prstGeom prst="rect">
            <a:avLst/>
          </a:prstGeom>
          <a:noFill/>
        </p:spPr>
        <p:txBody>
          <a:bodyPr wrap="none">
            <a:spAutoFit/>
          </a:bodyPr>
          <a:lstStyle/>
          <a:p>
            <a:pPr algn="l"/>
            <a:r>
              <a:rPr sz="1300" b="0" i="0">
                <a:solidFill>
                  <a:srgbClr val="1A1A1A"/>
                </a:solidFill>
                <a:latin typeface="Geist ExtraBold"/>
              </a:rPr>
              <a:t>Ships Day 31 — no signal needed</a:t>
            </a:r>
          </a:p>
        </p:txBody>
      </p:sp>
      <p:sp>
        <p:nvSpPr>
          <p:cNvPr id="7" name="Rectangle 6"/>
          <p:cNvSpPr/>
          <p:nvPr/>
        </p:nvSpPr>
        <p:spPr>
          <a:xfrm>
            <a:off x="685628" y="1770000"/>
            <a:ext cx="8000" cy="200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5628" y="1710000"/>
            <a:ext cx="4720000" cy="320000"/>
          </a:xfrm>
          <a:prstGeom prst="rect">
            <a:avLst/>
          </a:prstGeom>
          <a:noFill/>
        </p:spPr>
        <p:txBody>
          <a:bodyPr wrap="square">
            <a:spAutoFit/>
          </a:bodyPr>
          <a:lstStyle/>
          <a:p>
            <a:pPr algn="l"/>
            <a:r>
              <a:rPr sz="1500" b="0" i="0">
                <a:solidFill>
                  <a:srgbClr val="1A1A1A"/>
                </a:solidFill>
                <a:latin typeface="Geist"/>
              </a:rPr>
              <a:t>Re-run LLM baseline — day 60 vs day 30</a:t>
            </a:r>
          </a:p>
        </p:txBody>
      </p:sp>
      <p:sp>
        <p:nvSpPr>
          <p:cNvPr id="9" name="Rectangle 8"/>
          <p:cNvSpPr/>
          <p:nvPr/>
        </p:nvSpPr>
        <p:spPr>
          <a:xfrm>
            <a:off x="685628" y="2170000"/>
            <a:ext cx="8000" cy="200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5628" y="2110000"/>
            <a:ext cx="4720000" cy="320000"/>
          </a:xfrm>
          <a:prstGeom prst="rect">
            <a:avLst/>
          </a:prstGeom>
          <a:noFill/>
        </p:spPr>
        <p:txBody>
          <a:bodyPr wrap="square">
            <a:spAutoFit/>
          </a:bodyPr>
          <a:lstStyle/>
          <a:p>
            <a:pPr algn="l"/>
            <a:r>
              <a:rPr sz="1500" b="0" i="0">
                <a:solidFill>
                  <a:srgbClr val="1A1A1A"/>
                </a:solidFill>
                <a:latin typeface="Geist"/>
              </a:rPr>
              <a:t>Composio vs CData honest comparison (the "which should I use?" piece)</a:t>
            </a:r>
          </a:p>
        </p:txBody>
      </p:sp>
      <p:sp>
        <p:nvSpPr>
          <p:cNvPr id="11" name="Rectangle 10"/>
          <p:cNvSpPr/>
          <p:nvPr/>
        </p:nvSpPr>
        <p:spPr>
          <a:xfrm>
            <a:off x="685628" y="2570000"/>
            <a:ext cx="8000" cy="200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5628" y="2510000"/>
            <a:ext cx="4720000" cy="320000"/>
          </a:xfrm>
          <a:prstGeom prst="rect">
            <a:avLst/>
          </a:prstGeom>
          <a:noFill/>
        </p:spPr>
        <p:txBody>
          <a:bodyPr wrap="square">
            <a:spAutoFit/>
          </a:bodyPr>
          <a:lstStyle/>
          <a:p>
            <a:pPr algn="l"/>
            <a:r>
              <a:rPr sz="1500" b="0" i="0">
                <a:solidFill>
                  <a:srgbClr val="1A1A1A"/>
                </a:solidFill>
                <a:latin typeface="Geist"/>
              </a:rPr>
              <a:t>Fix all 5 AI doc standard misses from the audit</a:t>
            </a:r>
          </a:p>
        </p:txBody>
      </p:sp>
      <p:sp>
        <p:nvSpPr>
          <p:cNvPr id="13" name="Rectangle 12"/>
          <p:cNvSpPr/>
          <p:nvPr/>
        </p:nvSpPr>
        <p:spPr>
          <a:xfrm>
            <a:off x="5785628" y="1350000"/>
            <a:ext cx="5000" cy="1600000"/>
          </a:xfrm>
          <a:prstGeom prst="rect">
            <a:avLst/>
          </a:prstGeom>
          <a:solidFill>
            <a:srgbClr val="D0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85628" y="1350000"/>
            <a:ext cx="5520744" cy="28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65628" y="1400000"/>
            <a:ext cx="5360744" cy="200000"/>
          </a:xfrm>
          <a:prstGeom prst="rect">
            <a:avLst/>
          </a:prstGeom>
          <a:noFill/>
        </p:spPr>
        <p:txBody>
          <a:bodyPr wrap="none">
            <a:spAutoFit/>
          </a:bodyPr>
          <a:lstStyle/>
          <a:p>
            <a:pPr algn="l"/>
            <a:r>
              <a:rPr sz="1300" b="0" i="0">
                <a:solidFill>
                  <a:srgbClr val="1A1A1A"/>
                </a:solidFill>
                <a:latin typeface="Geist ExtraBold"/>
              </a:rPr>
              <a:t>Day 30 data decides</a:t>
            </a:r>
          </a:p>
        </p:txBody>
      </p:sp>
      <p:sp>
        <p:nvSpPr>
          <p:cNvPr id="16" name="TextBox 15"/>
          <p:cNvSpPr txBox="1"/>
          <p:nvPr/>
        </p:nvSpPr>
        <p:spPr>
          <a:xfrm>
            <a:off x="5985628" y="1710000"/>
            <a:ext cx="5520744" cy="200000"/>
          </a:xfrm>
          <a:prstGeom prst="rect">
            <a:avLst/>
          </a:prstGeom>
          <a:noFill/>
        </p:spPr>
        <p:txBody>
          <a:bodyPr wrap="none">
            <a:spAutoFit/>
          </a:bodyPr>
          <a:lstStyle/>
          <a:p>
            <a:pPr algn="l"/>
            <a:r>
              <a:rPr sz="1400" b="0" i="0">
                <a:solidFill>
                  <a:srgbClr val="1A1A1A"/>
                </a:solidFill>
                <a:latin typeface="Geist ExtraBold"/>
              </a:rPr>
              <a:t>Discovery bottleneck</a:t>
            </a:r>
          </a:p>
        </p:txBody>
      </p:sp>
      <p:sp>
        <p:nvSpPr>
          <p:cNvPr id="17" name="TextBox 16"/>
          <p:cNvSpPr txBox="1"/>
          <p:nvPr/>
        </p:nvSpPr>
        <p:spPr>
          <a:xfrm>
            <a:off x="5985628" y="1910000"/>
            <a:ext cx="5520744" cy="180000"/>
          </a:xfrm>
          <a:prstGeom prst="rect">
            <a:avLst/>
          </a:prstGeom>
          <a:noFill/>
        </p:spPr>
        <p:txBody>
          <a:bodyPr wrap="square">
            <a:spAutoFit/>
          </a:bodyPr>
          <a:lstStyle/>
          <a:p>
            <a:pPr algn="l"/>
            <a:r>
              <a:rPr sz="1300" b="0" i="0">
                <a:solidFill>
                  <a:srgbClr val="4A4A4A"/>
                </a:solidFill>
                <a:latin typeface="Geist"/>
              </a:rPr>
              <a:t>→ SEO + LLM presence content</a:t>
            </a:r>
          </a:p>
        </p:txBody>
      </p:sp>
      <p:sp>
        <p:nvSpPr>
          <p:cNvPr id="18" name="TextBox 17"/>
          <p:cNvSpPr txBox="1"/>
          <p:nvPr/>
        </p:nvSpPr>
        <p:spPr>
          <a:xfrm>
            <a:off x="5985628" y="2190000"/>
            <a:ext cx="5520744" cy="200000"/>
          </a:xfrm>
          <a:prstGeom prst="rect">
            <a:avLst/>
          </a:prstGeom>
          <a:noFill/>
        </p:spPr>
        <p:txBody>
          <a:bodyPr wrap="none">
            <a:spAutoFit/>
          </a:bodyPr>
          <a:lstStyle/>
          <a:p>
            <a:pPr algn="l"/>
            <a:r>
              <a:rPr sz="1400" b="0" i="0">
                <a:solidFill>
                  <a:srgbClr val="1A1A1A"/>
                </a:solidFill>
                <a:latin typeface="Geist ExtraBold"/>
              </a:rPr>
              <a:t>Evaluation drop-off</a:t>
            </a:r>
          </a:p>
        </p:txBody>
      </p:sp>
      <p:sp>
        <p:nvSpPr>
          <p:cNvPr id="19" name="TextBox 18"/>
          <p:cNvSpPr txBox="1"/>
          <p:nvPr/>
        </p:nvSpPr>
        <p:spPr>
          <a:xfrm>
            <a:off x="5985628" y="2390000"/>
            <a:ext cx="5520744" cy="180000"/>
          </a:xfrm>
          <a:prstGeom prst="rect">
            <a:avLst/>
          </a:prstGeom>
          <a:noFill/>
        </p:spPr>
        <p:txBody>
          <a:bodyPr wrap="square">
            <a:spAutoFit/>
          </a:bodyPr>
          <a:lstStyle/>
          <a:p>
            <a:pPr algn="l"/>
            <a:r>
              <a:rPr sz="1300" b="0" i="0">
                <a:solidFill>
                  <a:srgbClr val="4A4A4A"/>
                </a:solidFill>
                <a:latin typeface="Geist"/>
              </a:rPr>
              <a:t>→ Comparison content + quickstart fix</a:t>
            </a:r>
          </a:p>
        </p:txBody>
      </p:sp>
      <p:sp>
        <p:nvSpPr>
          <p:cNvPr id="20" name="TextBox 19"/>
          <p:cNvSpPr txBox="1"/>
          <p:nvPr/>
        </p:nvSpPr>
        <p:spPr>
          <a:xfrm>
            <a:off x="5985628" y="2670000"/>
            <a:ext cx="5520744" cy="200000"/>
          </a:xfrm>
          <a:prstGeom prst="rect">
            <a:avLst/>
          </a:prstGeom>
          <a:noFill/>
        </p:spPr>
        <p:txBody>
          <a:bodyPr wrap="none">
            <a:spAutoFit/>
          </a:bodyPr>
          <a:lstStyle/>
          <a:p>
            <a:pPr algn="l"/>
            <a:r>
              <a:rPr sz="1400" b="0" i="0">
                <a:solidFill>
                  <a:srgbClr val="1A1A1A"/>
                </a:solidFill>
                <a:latin typeface="Geist ExtraBold"/>
              </a:rPr>
              <a:t>Activation friction</a:t>
            </a:r>
          </a:p>
        </p:txBody>
      </p:sp>
      <p:sp>
        <p:nvSpPr>
          <p:cNvPr id="21" name="TextBox 20"/>
          <p:cNvSpPr txBox="1"/>
          <p:nvPr/>
        </p:nvSpPr>
        <p:spPr>
          <a:xfrm>
            <a:off x="5985628" y="2870000"/>
            <a:ext cx="5520744" cy="180000"/>
          </a:xfrm>
          <a:prstGeom prst="rect">
            <a:avLst/>
          </a:prstGeom>
          <a:noFill/>
        </p:spPr>
        <p:txBody>
          <a:bodyPr wrap="square">
            <a:spAutoFit/>
          </a:bodyPr>
          <a:lstStyle/>
          <a:p>
            <a:pPr algn="l"/>
            <a:r>
              <a:rPr sz="1300" b="0" i="0">
                <a:solidFill>
                  <a:srgbClr val="4A4A4A"/>
                </a:solidFill>
                <a:latin typeface="Geist"/>
              </a:rPr>
              <a:t>→ DX improvements + error messages</a:t>
            </a:r>
          </a:p>
        </p:txBody>
      </p:sp>
      <p:sp>
        <p:nvSpPr>
          <p:cNvPr id="22" name="Rectangle 21"/>
          <p:cNvSpPr/>
          <p:nvPr/>
        </p:nvSpPr>
        <p:spPr>
          <a:xfrm>
            <a:off x="685628" y="3250000"/>
            <a:ext cx="10820744" cy="60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5628" y="3330000"/>
            <a:ext cx="1900000" cy="280000"/>
          </a:xfrm>
          <a:prstGeom prst="rect">
            <a:avLst/>
          </a:prstGeom>
          <a:noFill/>
        </p:spPr>
        <p:txBody>
          <a:bodyPr wrap="none">
            <a:spAutoFit/>
          </a:bodyPr>
          <a:lstStyle/>
          <a:p>
            <a:pPr algn="l"/>
            <a:r>
              <a:rPr sz="1400" b="0" i="0">
                <a:solidFill>
                  <a:srgbClr val="1A1A1A"/>
                </a:solidFill>
                <a:latin typeface="Geist ExtraBold"/>
              </a:rPr>
              <a:t>Product track</a:t>
            </a:r>
          </a:p>
        </p:txBody>
      </p:sp>
      <p:sp>
        <p:nvSpPr>
          <p:cNvPr id="24" name="TextBox 23"/>
          <p:cNvSpPr txBox="1"/>
          <p:nvPr/>
        </p:nvSpPr>
        <p:spPr>
          <a:xfrm>
            <a:off x="2785628" y="3330000"/>
            <a:ext cx="8520744" cy="400000"/>
          </a:xfrm>
          <a:prstGeom prst="rect">
            <a:avLst/>
          </a:prstGeom>
          <a:noFill/>
        </p:spPr>
        <p:txBody>
          <a:bodyPr wrap="square">
            <a:spAutoFit/>
          </a:bodyPr>
          <a:lstStyle/>
          <a:p>
            <a:pPr algn="l"/>
            <a:r>
              <a:rPr sz="1400" b="0" i="0">
                <a:solidFill>
                  <a:srgbClr val="4A4A4A"/>
                </a:solidFill>
                <a:latin typeface="Geist"/>
              </a:rPr>
              <a:t>Take the 47-issue audit + baseline data to the product team — before/after framing, not a wish list.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DAYS 61–90</a:t>
            </a:r>
          </a:p>
        </p:txBody>
      </p:sp>
      <p:sp>
        <p:nvSpPr>
          <p:cNvPr id="4" name="TextBox 3"/>
          <p:cNvSpPr txBox="1"/>
          <p:nvPr/>
        </p:nvSpPr>
        <p:spPr>
          <a:xfrm>
            <a:off x="685628" y="620000"/>
            <a:ext cx="10820744" cy="500000"/>
          </a:xfrm>
          <a:prstGeom prst="rect">
            <a:avLst/>
          </a:prstGeom>
          <a:noFill/>
        </p:spPr>
        <p:txBody>
          <a:bodyPr wrap="square">
            <a:spAutoFit/>
          </a:bodyPr>
          <a:lstStyle/>
          <a:p>
            <a:pPr algn="l"/>
            <a:r>
              <a:rPr sz="3200" b="0" i="0">
                <a:solidFill>
                  <a:srgbClr val="1A1A1A"/>
                </a:solidFill>
                <a:latin typeface="Geist ExtraBold"/>
              </a:rPr>
              <a:t>60 days of evidence earns us the right to build this.</a:t>
            </a:r>
          </a:p>
        </p:txBody>
      </p:sp>
      <p:sp>
        <p:nvSpPr>
          <p:cNvPr id="5" name="Rounded Rectangle 4"/>
          <p:cNvSpPr/>
          <p:nvPr/>
        </p:nvSpPr>
        <p:spPr>
          <a:xfrm>
            <a:off x="685628" y="1350000"/>
            <a:ext cx="3483581" cy="4900000"/>
          </a:xfrm>
          <a:prstGeom prst="round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0628" y="1535000"/>
            <a:ext cx="3113581" cy="430000"/>
          </a:xfrm>
          <a:prstGeom prst="rect">
            <a:avLst/>
          </a:prstGeom>
          <a:noFill/>
        </p:spPr>
        <p:txBody>
          <a:bodyPr wrap="square">
            <a:spAutoFit/>
          </a:bodyPr>
          <a:lstStyle/>
          <a:p>
            <a:pPr algn="l"/>
            <a:r>
              <a:rPr sz="1700" b="0" i="0">
                <a:solidFill>
                  <a:srgbClr val="1A1A1A"/>
                </a:solidFill>
                <a:latin typeface="Geist ExtraBold"/>
              </a:rPr>
              <a:t>Double Down on What Moved</a:t>
            </a:r>
          </a:p>
        </p:txBody>
      </p:sp>
      <p:sp>
        <p:nvSpPr>
          <p:cNvPr id="7" name="TextBox 6"/>
          <p:cNvSpPr txBox="1"/>
          <p:nvPr/>
        </p:nvSpPr>
        <p:spPr>
          <a:xfrm>
            <a:off x="870628" y="1995000"/>
            <a:ext cx="3113581" cy="4070000"/>
          </a:xfrm>
          <a:prstGeom prst="rect">
            <a:avLst/>
          </a:prstGeom>
          <a:noFill/>
        </p:spPr>
        <p:txBody>
          <a:bodyPr wrap="square">
            <a:spAutoFit/>
          </a:bodyPr>
          <a:lstStyle/>
          <a:p>
            <a:pPr algn="l"/>
            <a:r>
              <a:rPr sz="1400" b="0" i="0">
                <a:solidFill>
                  <a:srgbClr val="4A4A4A"/>
                </a:solidFill>
                <a:latin typeface="Geist"/>
              </a:rPr>
              <a:t>Content expands where signal is strongest.
Comparison piece worked → SAP, NetSuite, Workday quickstarts. Enterprise sources Composio can't touch.
Community seeding worked → conference talk + OSS working demo.
We don't guess — we expand on proof.</a:t>
            </a:r>
          </a:p>
        </p:txBody>
      </p:sp>
      <p:sp>
        <p:nvSpPr>
          <p:cNvPr id="8" name="Rounded Rectangle 7"/>
          <p:cNvSpPr/>
          <p:nvPr/>
        </p:nvSpPr>
        <p:spPr>
          <a:xfrm>
            <a:off x="4354209" y="1350000"/>
            <a:ext cx="3483581" cy="4900000"/>
          </a:xfrm>
          <a:prstGeom prst="round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9209" y="1535000"/>
            <a:ext cx="3113581" cy="430000"/>
          </a:xfrm>
          <a:prstGeom prst="rect">
            <a:avLst/>
          </a:prstGeom>
          <a:noFill/>
        </p:spPr>
        <p:txBody>
          <a:bodyPr wrap="square">
            <a:spAutoFit/>
          </a:bodyPr>
          <a:lstStyle/>
          <a:p>
            <a:pPr algn="l"/>
            <a:r>
              <a:rPr sz="1700" b="0" i="0">
                <a:solidFill>
                  <a:srgbClr val="1A1A1A"/>
                </a:solidFill>
                <a:latin typeface="Geist ExtraBold"/>
              </a:rPr>
              <a:t>Sales Enablement</a:t>
            </a:r>
          </a:p>
        </p:txBody>
      </p:sp>
      <p:sp>
        <p:nvSpPr>
          <p:cNvPr id="10" name="TextBox 9"/>
          <p:cNvSpPr txBox="1"/>
          <p:nvPr/>
        </p:nvSpPr>
        <p:spPr>
          <a:xfrm>
            <a:off x="4539209" y="1995000"/>
            <a:ext cx="3113581" cy="4070000"/>
          </a:xfrm>
          <a:prstGeom prst="rect">
            <a:avLst/>
          </a:prstGeom>
          <a:noFill/>
        </p:spPr>
        <p:txBody>
          <a:bodyPr wrap="square">
            <a:spAutoFit/>
          </a:bodyPr>
          <a:lstStyle/>
          <a:p>
            <a:pPr algn="l"/>
            <a:r>
              <a:rPr sz="1400" b="0" i="0">
                <a:solidFill>
                  <a:srgbClr val="4A4A4A"/>
                </a:solidFill>
                <a:latin typeface="Geist"/>
              </a:rPr>
              <a:t>Enterprise deals stall when the AE can't answer the technical question.
Battlecard: Connect AI vs Composio — one honest answer per objection.
"When an engineer asks about Connect AI" — a one-page technical guide for the field.
PMM ships this. DevRel tests it with community.</a:t>
            </a:r>
          </a:p>
        </p:txBody>
      </p:sp>
      <p:sp>
        <p:nvSpPr>
          <p:cNvPr id="11" name="Rounded Rectangle 10"/>
          <p:cNvSpPr/>
          <p:nvPr/>
        </p:nvSpPr>
        <p:spPr>
          <a:xfrm>
            <a:off x="8022790" y="1350000"/>
            <a:ext cx="3483581" cy="4900000"/>
          </a:xfrm>
          <a:prstGeom prst="round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07790" y="1535000"/>
            <a:ext cx="3113581" cy="430000"/>
          </a:xfrm>
          <a:prstGeom prst="rect">
            <a:avLst/>
          </a:prstGeom>
          <a:noFill/>
        </p:spPr>
        <p:txBody>
          <a:bodyPr wrap="square">
            <a:spAutoFit/>
          </a:bodyPr>
          <a:lstStyle/>
          <a:p>
            <a:pPr algn="l"/>
            <a:r>
              <a:rPr sz="1700" b="0" i="0">
                <a:solidFill>
                  <a:srgbClr val="1A1A1A"/>
                </a:solidFill>
                <a:latin typeface="Geist ExtraBold"/>
              </a:rPr>
              <a:t>Day 90: Re-run the Baseline</a:t>
            </a:r>
          </a:p>
        </p:txBody>
      </p:sp>
      <p:sp>
        <p:nvSpPr>
          <p:cNvPr id="13" name="TextBox 12"/>
          <p:cNvSpPr txBox="1"/>
          <p:nvPr/>
        </p:nvSpPr>
        <p:spPr>
          <a:xfrm>
            <a:off x="8207790" y="1995000"/>
            <a:ext cx="3113581" cy="4070000"/>
          </a:xfrm>
          <a:prstGeom prst="rect">
            <a:avLst/>
          </a:prstGeom>
          <a:noFill/>
        </p:spPr>
        <p:txBody>
          <a:bodyPr wrap="square">
            <a:spAutoFit/>
          </a:bodyPr>
          <a:lstStyle/>
          <a:p>
            <a:pPr algn="l"/>
            <a:r>
              <a:rPr sz="1400" b="0" i="0">
                <a:solidFill>
                  <a:srgbClr val="4A4A4A"/>
                </a:solidFill>
                <a:latin typeface="Geist"/>
              </a:rPr>
              <a:t>Same 5 LLM queries from Day 1.
Day 1:   0 / 5 mentioned CData.
Target:  2–3 / 5.
This is the number we're accountable to. Not traffic, not MQLs. The metric that proves positioning actually moved.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GOALS</a:t>
            </a:r>
          </a:p>
        </p:txBody>
      </p:sp>
      <p:sp>
        <p:nvSpPr>
          <p:cNvPr id="4" name="TextBox 3"/>
          <p:cNvSpPr txBox="1"/>
          <p:nvPr/>
        </p:nvSpPr>
        <p:spPr>
          <a:xfrm>
            <a:off x="685628" y="620000"/>
            <a:ext cx="10820744" cy="700000"/>
          </a:xfrm>
          <a:prstGeom prst="rect">
            <a:avLst/>
          </a:prstGeom>
          <a:noFill/>
        </p:spPr>
        <p:txBody>
          <a:bodyPr wrap="square">
            <a:spAutoFit/>
          </a:bodyPr>
          <a:lstStyle/>
          <a:p>
            <a:pPr algn="l"/>
            <a:r>
              <a:rPr sz="4000" b="0" i="0">
                <a:solidFill>
                  <a:srgbClr val="1A1A1A"/>
                </a:solidFill>
                <a:latin typeface="Geist ExtraBold"/>
              </a:rPr>
              <a:t>Goals framework.</a:t>
            </a:r>
          </a:p>
        </p:txBody>
      </p:sp>
      <p:sp>
        <p:nvSpPr>
          <p:cNvPr id="5" name="Rectangle 4"/>
          <p:cNvSpPr/>
          <p:nvPr/>
        </p:nvSpPr>
        <p:spPr>
          <a:xfrm>
            <a:off x="685628" y="1700000"/>
            <a:ext cx="10820744" cy="380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5628" y="1780000"/>
            <a:ext cx="4000000" cy="240000"/>
          </a:xfrm>
          <a:prstGeom prst="rect">
            <a:avLst/>
          </a:prstGeom>
          <a:noFill/>
        </p:spPr>
        <p:txBody>
          <a:bodyPr wrap="none">
            <a:spAutoFit/>
          </a:bodyPr>
          <a:lstStyle/>
          <a:p>
            <a:pPr algn="l"/>
            <a:r>
              <a:rPr sz="1100" b="0" i="0">
                <a:solidFill>
                  <a:srgbClr val="FFFFFF"/>
                </a:solidFill>
                <a:latin typeface="Geist ExtraBold"/>
              </a:rPr>
              <a:t>Metric</a:t>
            </a:r>
          </a:p>
        </p:txBody>
      </p:sp>
      <p:sp>
        <p:nvSpPr>
          <p:cNvPr id="7" name="TextBox 6"/>
          <p:cNvSpPr txBox="1"/>
          <p:nvPr/>
        </p:nvSpPr>
        <p:spPr>
          <a:xfrm>
            <a:off x="6265628" y="1780000"/>
            <a:ext cx="4000000" cy="240000"/>
          </a:xfrm>
          <a:prstGeom prst="rect">
            <a:avLst/>
          </a:prstGeom>
          <a:noFill/>
        </p:spPr>
        <p:txBody>
          <a:bodyPr wrap="none">
            <a:spAutoFit/>
          </a:bodyPr>
          <a:lstStyle/>
          <a:p>
            <a:pPr algn="l"/>
            <a:r>
              <a:rPr sz="1100" b="0" i="0">
                <a:solidFill>
                  <a:srgbClr val="FFFFFF"/>
                </a:solidFill>
                <a:latin typeface="Geist ExtraBold"/>
              </a:rPr>
              <a:t>Day 30 baseline</a:t>
            </a:r>
          </a:p>
        </p:txBody>
      </p:sp>
      <p:sp>
        <p:nvSpPr>
          <p:cNvPr id="8" name="TextBox 7"/>
          <p:cNvSpPr txBox="1"/>
          <p:nvPr/>
        </p:nvSpPr>
        <p:spPr>
          <a:xfrm>
            <a:off x="9465628" y="1780000"/>
            <a:ext cx="4000000" cy="240000"/>
          </a:xfrm>
          <a:prstGeom prst="rect">
            <a:avLst/>
          </a:prstGeom>
          <a:noFill/>
        </p:spPr>
        <p:txBody>
          <a:bodyPr wrap="none">
            <a:spAutoFit/>
          </a:bodyPr>
          <a:lstStyle/>
          <a:p>
            <a:pPr algn="l"/>
            <a:r>
              <a:rPr sz="1100" b="0" i="0">
                <a:solidFill>
                  <a:srgbClr val="FFFFFF"/>
                </a:solidFill>
                <a:latin typeface="Geist ExtraBold"/>
              </a:rPr>
              <a:t>Day 90 target</a:t>
            </a:r>
          </a:p>
        </p:txBody>
      </p:sp>
      <p:sp>
        <p:nvSpPr>
          <p:cNvPr id="9" name="Rectangle 8"/>
          <p:cNvSpPr/>
          <p:nvPr/>
        </p:nvSpPr>
        <p:spPr>
          <a:xfrm>
            <a:off x="685628" y="2080000"/>
            <a:ext cx="10820744" cy="79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5628" y="2220000"/>
            <a:ext cx="5000000" cy="560000"/>
          </a:xfrm>
          <a:prstGeom prst="rect">
            <a:avLst/>
          </a:prstGeom>
          <a:noFill/>
        </p:spPr>
        <p:txBody>
          <a:bodyPr wrap="square">
            <a:spAutoFit/>
          </a:bodyPr>
          <a:lstStyle/>
          <a:p>
            <a:pPr algn="l"/>
            <a:r>
              <a:rPr sz="1300" b="0" i="0">
                <a:solidFill>
                  <a:srgbClr val="1A1A1A"/>
                </a:solidFill>
                <a:latin typeface="Geist"/>
              </a:rPr>
              <a:t>LLM discoverability (5 key queries)</a:t>
            </a:r>
          </a:p>
        </p:txBody>
      </p:sp>
      <p:sp>
        <p:nvSpPr>
          <p:cNvPr id="11" name="TextBox 10"/>
          <p:cNvSpPr txBox="1"/>
          <p:nvPr/>
        </p:nvSpPr>
        <p:spPr>
          <a:xfrm>
            <a:off x="6265628" y="2220000"/>
            <a:ext cx="2900000" cy="560000"/>
          </a:xfrm>
          <a:prstGeom prst="rect">
            <a:avLst/>
          </a:prstGeom>
          <a:noFill/>
        </p:spPr>
        <p:txBody>
          <a:bodyPr wrap="square">
            <a:spAutoFit/>
          </a:bodyPr>
          <a:lstStyle/>
          <a:p>
            <a:pPr algn="l"/>
            <a:r>
              <a:rPr sz="1300" b="0" i="0">
                <a:solidFill>
                  <a:srgbClr val="4A4A4A"/>
                </a:solidFill>
                <a:latin typeface="Geist"/>
              </a:rPr>
              <a:t>0/5 — current baseline</a:t>
            </a:r>
          </a:p>
        </p:txBody>
      </p:sp>
      <p:sp>
        <p:nvSpPr>
          <p:cNvPr id="12" name="TextBox 11"/>
          <p:cNvSpPr txBox="1"/>
          <p:nvPr/>
        </p:nvSpPr>
        <p:spPr>
          <a:xfrm>
            <a:off x="9465628" y="2220000"/>
            <a:ext cx="2000000" cy="560000"/>
          </a:xfrm>
          <a:prstGeom prst="rect">
            <a:avLst/>
          </a:prstGeom>
          <a:noFill/>
        </p:spPr>
        <p:txBody>
          <a:bodyPr wrap="square">
            <a:spAutoFit/>
          </a:bodyPr>
          <a:lstStyle/>
          <a:p>
            <a:pPr algn="l"/>
            <a:r>
              <a:rPr sz="1300" b="0" i="0">
                <a:solidFill>
                  <a:srgbClr val="1A1A1A"/>
                </a:solidFill>
                <a:latin typeface="Geist"/>
              </a:rPr>
              <a:t>2–3/5</a:t>
            </a:r>
          </a:p>
        </p:txBody>
      </p:sp>
      <p:sp>
        <p:nvSpPr>
          <p:cNvPr id="13" name="Rectangle 12"/>
          <p:cNvSpPr/>
          <p:nvPr/>
        </p:nvSpPr>
        <p:spPr>
          <a:xfrm>
            <a:off x="685628" y="2900000"/>
            <a:ext cx="10820744" cy="790000"/>
          </a:xfrm>
          <a:prstGeom prst="rect">
            <a:avLst/>
          </a:prstGeom>
          <a:solidFill>
            <a:srgbClr val="F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5628" y="3040000"/>
            <a:ext cx="5000000" cy="560000"/>
          </a:xfrm>
          <a:prstGeom prst="rect">
            <a:avLst/>
          </a:prstGeom>
          <a:noFill/>
        </p:spPr>
        <p:txBody>
          <a:bodyPr wrap="square">
            <a:spAutoFit/>
          </a:bodyPr>
          <a:lstStyle/>
          <a:p>
            <a:pPr algn="l"/>
            <a:r>
              <a:rPr sz="1300" b="0" i="0">
                <a:solidFill>
                  <a:srgbClr val="1A1A1A"/>
                </a:solidFill>
                <a:latin typeface="Geist"/>
              </a:rPr>
              <a:t>Time-to-first-API-call</a:t>
            </a:r>
          </a:p>
        </p:txBody>
      </p:sp>
      <p:sp>
        <p:nvSpPr>
          <p:cNvPr id="15" name="TextBox 14"/>
          <p:cNvSpPr txBox="1"/>
          <p:nvPr/>
        </p:nvSpPr>
        <p:spPr>
          <a:xfrm>
            <a:off x="6265628" y="3040000"/>
            <a:ext cx="2900000" cy="560000"/>
          </a:xfrm>
          <a:prstGeom prst="rect">
            <a:avLst/>
          </a:prstGeom>
          <a:noFill/>
        </p:spPr>
        <p:txBody>
          <a:bodyPr wrap="square">
            <a:spAutoFit/>
          </a:bodyPr>
          <a:lstStyle/>
          <a:p>
            <a:pPr algn="l"/>
            <a:r>
              <a:rPr sz="1300" b="0" i="0">
                <a:solidFill>
                  <a:srgbClr val="4A4A4A"/>
                </a:solidFill>
                <a:latin typeface="Geist"/>
              </a:rPr>
              <a:t>~15 min, 6 friction pts</a:t>
            </a:r>
          </a:p>
        </p:txBody>
      </p:sp>
      <p:sp>
        <p:nvSpPr>
          <p:cNvPr id="16" name="TextBox 15"/>
          <p:cNvSpPr txBox="1"/>
          <p:nvPr/>
        </p:nvSpPr>
        <p:spPr>
          <a:xfrm>
            <a:off x="9465628" y="3040000"/>
            <a:ext cx="2000000" cy="560000"/>
          </a:xfrm>
          <a:prstGeom prst="rect">
            <a:avLst/>
          </a:prstGeom>
          <a:noFill/>
        </p:spPr>
        <p:txBody>
          <a:bodyPr wrap="square">
            <a:spAutoFit/>
          </a:bodyPr>
          <a:lstStyle/>
          <a:p>
            <a:pPr algn="l"/>
            <a:r>
              <a:rPr sz="1300" b="0" i="0">
                <a:solidFill>
                  <a:srgbClr val="1A1A1A"/>
                </a:solidFill>
                <a:latin typeface="Geist"/>
              </a:rPr>
              <a:t>Under 15 min, clean</a:t>
            </a:r>
          </a:p>
        </p:txBody>
      </p:sp>
      <p:sp>
        <p:nvSpPr>
          <p:cNvPr id="17" name="Rectangle 16"/>
          <p:cNvSpPr/>
          <p:nvPr/>
        </p:nvSpPr>
        <p:spPr>
          <a:xfrm>
            <a:off x="685628" y="3720000"/>
            <a:ext cx="10820744" cy="79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5628" y="3860000"/>
            <a:ext cx="5000000" cy="560000"/>
          </a:xfrm>
          <a:prstGeom prst="rect">
            <a:avLst/>
          </a:prstGeom>
          <a:noFill/>
        </p:spPr>
        <p:txBody>
          <a:bodyPr wrap="square">
            <a:spAutoFit/>
          </a:bodyPr>
          <a:lstStyle/>
          <a:p>
            <a:pPr algn="l"/>
            <a:r>
              <a:rPr sz="1300" b="0" i="0">
                <a:solidFill>
                  <a:srgbClr val="1A1A1A"/>
                </a:solidFill>
                <a:latin typeface="Geist"/>
              </a:rPr>
              <a:t>Developer funnel drop-off (by stage)</a:t>
            </a:r>
          </a:p>
        </p:txBody>
      </p:sp>
      <p:sp>
        <p:nvSpPr>
          <p:cNvPr id="19" name="TextBox 18"/>
          <p:cNvSpPr txBox="1"/>
          <p:nvPr/>
        </p:nvSpPr>
        <p:spPr>
          <a:xfrm>
            <a:off x="6265628" y="3860000"/>
            <a:ext cx="2900000" cy="560000"/>
          </a:xfrm>
          <a:prstGeom prst="rect">
            <a:avLst/>
          </a:prstGeom>
          <a:noFill/>
        </p:spPr>
        <p:txBody>
          <a:bodyPr wrap="square">
            <a:spAutoFit/>
          </a:bodyPr>
          <a:lstStyle/>
          <a:p>
            <a:pPr algn="l"/>
            <a:r>
              <a:rPr sz="1300" b="0" i="0">
                <a:solidFill>
                  <a:srgbClr val="4A4A4A"/>
                </a:solidFill>
                <a:latin typeface="Geist"/>
              </a:rPr>
              <a:t>Established at Day 30</a:t>
            </a:r>
          </a:p>
        </p:txBody>
      </p:sp>
      <p:sp>
        <p:nvSpPr>
          <p:cNvPr id="20" name="TextBox 19"/>
          <p:cNvSpPr txBox="1"/>
          <p:nvPr/>
        </p:nvSpPr>
        <p:spPr>
          <a:xfrm>
            <a:off x="9465628" y="3860000"/>
            <a:ext cx="2000000" cy="560000"/>
          </a:xfrm>
          <a:prstGeom prst="rect">
            <a:avLst/>
          </a:prstGeom>
          <a:noFill/>
        </p:spPr>
        <p:txBody>
          <a:bodyPr wrap="square">
            <a:spAutoFit/>
          </a:bodyPr>
          <a:lstStyle/>
          <a:p>
            <a:pPr algn="l"/>
            <a:r>
              <a:rPr sz="1300" b="0" i="0">
                <a:solidFill>
                  <a:srgbClr val="1A1A1A"/>
                </a:solidFill>
                <a:latin typeface="Geist"/>
              </a:rPr>
              <a:t>20%+ improvement at highest-loss stage</a:t>
            </a:r>
          </a:p>
        </p:txBody>
      </p:sp>
      <p:sp>
        <p:nvSpPr>
          <p:cNvPr id="21" name="Rectangle 20"/>
          <p:cNvSpPr/>
          <p:nvPr/>
        </p:nvSpPr>
        <p:spPr>
          <a:xfrm>
            <a:off x="685628" y="4540000"/>
            <a:ext cx="10820744" cy="790000"/>
          </a:xfrm>
          <a:prstGeom prst="rect">
            <a:avLst/>
          </a:prstGeom>
          <a:solidFill>
            <a:srgbClr val="F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5628" y="4680000"/>
            <a:ext cx="5000000" cy="560000"/>
          </a:xfrm>
          <a:prstGeom prst="rect">
            <a:avLst/>
          </a:prstGeom>
          <a:noFill/>
        </p:spPr>
        <p:txBody>
          <a:bodyPr wrap="square">
            <a:spAutoFit/>
          </a:bodyPr>
          <a:lstStyle/>
          <a:p>
            <a:pPr algn="l"/>
            <a:r>
              <a:rPr sz="1300" b="0" i="0">
                <a:solidFill>
                  <a:srgbClr val="1A1A1A"/>
                </a:solidFill>
                <a:latin typeface="Geist"/>
              </a:rPr>
              <a:t>Keyword cluster rankings (5 clusters)</a:t>
            </a:r>
          </a:p>
        </p:txBody>
      </p:sp>
      <p:sp>
        <p:nvSpPr>
          <p:cNvPr id="23" name="TextBox 22"/>
          <p:cNvSpPr txBox="1"/>
          <p:nvPr/>
        </p:nvSpPr>
        <p:spPr>
          <a:xfrm>
            <a:off x="6265628" y="4680000"/>
            <a:ext cx="2900000" cy="560000"/>
          </a:xfrm>
          <a:prstGeom prst="rect">
            <a:avLst/>
          </a:prstGeom>
          <a:noFill/>
        </p:spPr>
        <p:txBody>
          <a:bodyPr wrap="square">
            <a:spAutoFit/>
          </a:bodyPr>
          <a:lstStyle/>
          <a:p>
            <a:pPr algn="l"/>
            <a:r>
              <a:rPr sz="1300" b="0" i="0">
                <a:solidFill>
                  <a:srgbClr val="4A4A4A"/>
                </a:solidFill>
                <a:latin typeface="Geist"/>
              </a:rPr>
              <a:t>Mapped at Day 30</a:t>
            </a:r>
          </a:p>
        </p:txBody>
      </p:sp>
      <p:sp>
        <p:nvSpPr>
          <p:cNvPr id="24" name="TextBox 23"/>
          <p:cNvSpPr txBox="1"/>
          <p:nvPr/>
        </p:nvSpPr>
        <p:spPr>
          <a:xfrm>
            <a:off x="9465628" y="4680000"/>
            <a:ext cx="2000000" cy="560000"/>
          </a:xfrm>
          <a:prstGeom prst="rect">
            <a:avLst/>
          </a:prstGeom>
          <a:noFill/>
        </p:spPr>
        <p:txBody>
          <a:bodyPr wrap="square">
            <a:spAutoFit/>
          </a:bodyPr>
          <a:lstStyle/>
          <a:p>
            <a:pPr algn="l"/>
            <a:r>
              <a:rPr sz="1300" b="0" i="0">
                <a:solidFill>
                  <a:srgbClr val="1A1A1A"/>
                </a:solidFill>
                <a:latin typeface="Geist"/>
              </a:rPr>
              <a:t>Movement on 3–5 clusters</a:t>
            </a:r>
          </a:p>
        </p:txBody>
      </p:sp>
      <p:sp>
        <p:nvSpPr>
          <p:cNvPr id="25" name="Rectangle 24"/>
          <p:cNvSpPr/>
          <p:nvPr/>
        </p:nvSpPr>
        <p:spPr>
          <a:xfrm>
            <a:off x="685628" y="5360000"/>
            <a:ext cx="10820744" cy="790000"/>
          </a:xfrm>
          <a:prstGeom prst="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5628" y="5500000"/>
            <a:ext cx="5000000" cy="560000"/>
          </a:xfrm>
          <a:prstGeom prst="rect">
            <a:avLst/>
          </a:prstGeom>
          <a:noFill/>
        </p:spPr>
        <p:txBody>
          <a:bodyPr wrap="square">
            <a:spAutoFit/>
          </a:bodyPr>
          <a:lstStyle/>
          <a:p>
            <a:pPr algn="l"/>
            <a:r>
              <a:rPr sz="1300" b="0" i="0">
                <a:solidFill>
                  <a:srgbClr val="1A1A1A"/>
                </a:solidFill>
                <a:latin typeface="Geist"/>
              </a:rPr>
              <a:t>Community-influenced pipeline</a:t>
            </a:r>
          </a:p>
        </p:txBody>
      </p:sp>
      <p:sp>
        <p:nvSpPr>
          <p:cNvPr id="27" name="TextBox 26"/>
          <p:cNvSpPr txBox="1"/>
          <p:nvPr/>
        </p:nvSpPr>
        <p:spPr>
          <a:xfrm>
            <a:off x="6265628" y="5500000"/>
            <a:ext cx="2900000" cy="560000"/>
          </a:xfrm>
          <a:prstGeom prst="rect">
            <a:avLst/>
          </a:prstGeom>
          <a:noFill/>
        </p:spPr>
        <p:txBody>
          <a:bodyPr wrap="square">
            <a:spAutoFit/>
          </a:bodyPr>
          <a:lstStyle/>
          <a:p>
            <a:pPr algn="l"/>
            <a:r>
              <a:rPr sz="1300" b="0" i="0">
                <a:solidFill>
                  <a:srgbClr val="4A4A4A"/>
                </a:solidFill>
                <a:latin typeface="Geist"/>
              </a:rPr>
              <a:t>Not attributed</a:t>
            </a:r>
          </a:p>
        </p:txBody>
      </p:sp>
      <p:sp>
        <p:nvSpPr>
          <p:cNvPr id="28" name="TextBox 27"/>
          <p:cNvSpPr txBox="1"/>
          <p:nvPr/>
        </p:nvSpPr>
        <p:spPr>
          <a:xfrm>
            <a:off x="9465628" y="5500000"/>
            <a:ext cx="2000000" cy="560000"/>
          </a:xfrm>
          <a:prstGeom prst="rect">
            <a:avLst/>
          </a:prstGeom>
          <a:noFill/>
        </p:spPr>
        <p:txBody>
          <a:bodyPr wrap="square">
            <a:spAutoFit/>
          </a:bodyPr>
          <a:lstStyle/>
          <a:p>
            <a:pPr algn="l"/>
            <a:r>
              <a:rPr sz="1300" b="0" i="0">
                <a:solidFill>
                  <a:srgbClr val="1A1A1A"/>
                </a:solidFill>
                <a:latin typeface="Geist"/>
              </a:rPr>
              <a:t>Attribution established + first tagged deal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pic>
        <p:nvPicPr>
          <p:cNvPr id="2" name="Picture 1" descr="cdata-logo-dark.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340000"/>
            <a:ext cx="5803500" cy="220000"/>
          </a:xfrm>
          <a:prstGeom prst="rect">
            <a:avLst/>
          </a:prstGeom>
          <a:noFill/>
        </p:spPr>
        <p:txBody>
          <a:bodyPr wrap="square">
            <a:spAutoFit/>
          </a:bodyPr>
          <a:lstStyle/>
          <a:p>
            <a:pPr algn="l"/>
            <a:r>
              <a:rPr sz="1100" b="0" i="0">
                <a:solidFill>
                  <a:srgbClr val="1A1A1A"/>
                </a:solidFill>
                <a:latin typeface="DM Sans"/>
              </a:rPr>
              <a:t>TEAM STRUCTURE</a:t>
            </a:r>
          </a:p>
        </p:txBody>
      </p:sp>
      <p:sp>
        <p:nvSpPr>
          <p:cNvPr id="4" name="TextBox 3"/>
          <p:cNvSpPr txBox="1"/>
          <p:nvPr/>
        </p:nvSpPr>
        <p:spPr>
          <a:xfrm>
            <a:off x="685628" y="620000"/>
            <a:ext cx="10820744" cy="700000"/>
          </a:xfrm>
          <a:prstGeom prst="rect">
            <a:avLst/>
          </a:prstGeom>
          <a:noFill/>
        </p:spPr>
        <p:txBody>
          <a:bodyPr wrap="square">
            <a:spAutoFit/>
          </a:bodyPr>
          <a:lstStyle/>
          <a:p>
            <a:pPr algn="l"/>
            <a:r>
              <a:rPr sz="4400" b="0" i="0">
                <a:solidFill>
                  <a:srgbClr val="1A1A1A"/>
                </a:solidFill>
                <a:latin typeface="Geist ExtraBold"/>
              </a:rPr>
              <a:t>PMM and DevRel.</a:t>
            </a:r>
          </a:p>
        </p:txBody>
      </p:sp>
      <p:sp>
        <p:nvSpPr>
          <p:cNvPr id="5" name="Rounded Rectangle 4"/>
          <p:cNvSpPr/>
          <p:nvPr/>
        </p:nvSpPr>
        <p:spPr>
          <a:xfrm>
            <a:off x="685628" y="1800000"/>
            <a:ext cx="5300372" cy="3200000"/>
          </a:xfrm>
          <a:prstGeom prst="round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0628" y="1985000"/>
            <a:ext cx="4930372" cy="430000"/>
          </a:xfrm>
          <a:prstGeom prst="rect">
            <a:avLst/>
          </a:prstGeom>
          <a:noFill/>
        </p:spPr>
        <p:txBody>
          <a:bodyPr wrap="square">
            <a:spAutoFit/>
          </a:bodyPr>
          <a:lstStyle/>
          <a:p>
            <a:pPr algn="l"/>
            <a:r>
              <a:rPr sz="1700" b="0" i="0">
                <a:solidFill>
                  <a:srgbClr val="1A1A1A"/>
                </a:solidFill>
                <a:latin typeface="Geist ExtraBold"/>
              </a:rPr>
              <a:t>DevRel earns trust</a:t>
            </a:r>
          </a:p>
        </p:txBody>
      </p:sp>
      <p:sp>
        <p:nvSpPr>
          <p:cNvPr id="7" name="TextBox 6"/>
          <p:cNvSpPr txBox="1"/>
          <p:nvPr/>
        </p:nvSpPr>
        <p:spPr>
          <a:xfrm>
            <a:off x="870628" y="2445000"/>
            <a:ext cx="4930372" cy="2370000"/>
          </a:xfrm>
          <a:prstGeom prst="rect">
            <a:avLst/>
          </a:prstGeom>
          <a:noFill/>
        </p:spPr>
        <p:txBody>
          <a:bodyPr wrap="square">
            <a:spAutoFit/>
          </a:bodyPr>
          <a:lstStyle/>
          <a:p>
            <a:pPr algn="l"/>
            <a:r>
              <a:rPr sz="1400" b="0" i="0">
                <a:solidFill>
                  <a:srgbClr val="4A4A4A"/>
                </a:solidFill>
                <a:latin typeface="Geist"/>
              </a:rPr>
              <a:t>Discord, GitHub, conference talks, working demos.
Builds presence where the developer actually is.
Brings back what developers are asking and what they're struggling with.</a:t>
            </a:r>
          </a:p>
        </p:txBody>
      </p:sp>
      <p:sp>
        <p:nvSpPr>
          <p:cNvPr id="8" name="Rounded Rectangle 7"/>
          <p:cNvSpPr/>
          <p:nvPr/>
        </p:nvSpPr>
        <p:spPr>
          <a:xfrm>
            <a:off x="6206000" y="1800000"/>
            <a:ext cx="5300372" cy="3200000"/>
          </a:xfrm>
          <a:prstGeom prst="roundRect">
            <a:avLst/>
          </a:prstGeom>
          <a:solidFill>
            <a:srgbClr val="EC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91000" y="1985000"/>
            <a:ext cx="4930372" cy="430000"/>
          </a:xfrm>
          <a:prstGeom prst="rect">
            <a:avLst/>
          </a:prstGeom>
          <a:noFill/>
        </p:spPr>
        <p:txBody>
          <a:bodyPr wrap="square">
            <a:spAutoFit/>
          </a:bodyPr>
          <a:lstStyle/>
          <a:p>
            <a:pPr algn="l"/>
            <a:r>
              <a:rPr sz="1700" b="0" i="0">
                <a:solidFill>
                  <a:srgbClr val="1A1A1A"/>
                </a:solidFill>
                <a:latin typeface="Geist ExtraBold"/>
              </a:rPr>
              <a:t>PMM turns trust into pipeline</a:t>
            </a:r>
          </a:p>
        </p:txBody>
      </p:sp>
      <p:sp>
        <p:nvSpPr>
          <p:cNvPr id="10" name="TextBox 9"/>
          <p:cNvSpPr txBox="1"/>
          <p:nvPr/>
        </p:nvSpPr>
        <p:spPr>
          <a:xfrm>
            <a:off x="6391000" y="2445000"/>
            <a:ext cx="4930372" cy="2370000"/>
          </a:xfrm>
          <a:prstGeom prst="rect">
            <a:avLst/>
          </a:prstGeom>
          <a:noFill/>
        </p:spPr>
        <p:txBody>
          <a:bodyPr wrap="square">
            <a:spAutoFit/>
          </a:bodyPr>
          <a:lstStyle/>
          <a:p>
            <a:pPr algn="l"/>
            <a:r>
              <a:rPr sz="1400" b="0" i="0">
                <a:solidFill>
                  <a:srgbClr val="4A4A4A"/>
                </a:solidFill>
                <a:latin typeface="Geist"/>
              </a:rPr>
              <a:t>Positioning, comparison content, attribution, Sales enablement.
Translates developer signal into commercial messaging.
Builds the content and funnel infrastructure that connects developer adoption to enterprise deals.</a:t>
            </a:r>
          </a:p>
        </p:txBody>
      </p:sp>
      <p:sp>
        <p:nvSpPr>
          <p:cNvPr id="11" name="TextBox 10"/>
          <p:cNvSpPr txBox="1"/>
          <p:nvPr/>
        </p:nvSpPr>
        <p:spPr>
          <a:xfrm>
            <a:off x="685628" y="5300000"/>
            <a:ext cx="10820744" cy="500000"/>
          </a:xfrm>
          <a:prstGeom prst="rect">
            <a:avLst/>
          </a:prstGeom>
          <a:noFill/>
        </p:spPr>
        <p:txBody>
          <a:bodyPr wrap="square">
            <a:spAutoFit/>
          </a:bodyPr>
          <a:lstStyle/>
          <a:p>
            <a:pPr algn="l"/>
            <a:r>
              <a:rPr sz="1400" b="0" i="0">
                <a:solidFill>
                  <a:srgbClr val="808080"/>
                </a:solidFill>
                <a:latin typeface="Geist"/>
              </a:rPr>
              <a:t>These are different jobs. They fail when blurred. Interface: weekly sync, shared funnel definition.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400000"/>
            <a:ext cx="10820744" cy="600000"/>
          </a:xfrm>
          <a:prstGeom prst="rect">
            <a:avLst/>
          </a:prstGeom>
          <a:noFill/>
        </p:spPr>
        <p:txBody>
          <a:bodyPr wrap="square">
            <a:spAutoFit/>
          </a:bodyPr>
          <a:lstStyle/>
          <a:p>
            <a:pPr algn="l"/>
            <a:r>
              <a:rPr sz="2200" b="0" i="0">
                <a:solidFill>
                  <a:srgbClr val="FFE500"/>
                </a:solidFill>
                <a:latin typeface="Geist"/>
              </a:rPr>
              <a:t>What developer content actually works:</a:t>
            </a:r>
          </a:p>
        </p:txBody>
      </p:sp>
      <p:sp>
        <p:nvSpPr>
          <p:cNvPr id="4" name="TextBox 3"/>
          <p:cNvSpPr txBox="1"/>
          <p:nvPr/>
        </p:nvSpPr>
        <p:spPr>
          <a:xfrm>
            <a:off x="685628" y="2150000"/>
            <a:ext cx="10820744" cy="1200000"/>
          </a:xfrm>
          <a:prstGeom prst="rect">
            <a:avLst/>
          </a:prstGeom>
          <a:noFill/>
        </p:spPr>
        <p:txBody>
          <a:bodyPr wrap="square">
            <a:spAutoFit/>
          </a:bodyPr>
          <a:lstStyle/>
          <a:p>
            <a:pPr algn="l"/>
            <a:r>
              <a:rPr sz="3800" b="0" i="0">
                <a:solidFill>
                  <a:srgbClr val="FFFFFF"/>
                </a:solidFill>
                <a:latin typeface="Geist ExtraBold"/>
              </a:rPr>
              <a:t>it's specific, it's runnable, and it's honest about failure modes.</a:t>
            </a:r>
          </a:p>
        </p:txBody>
      </p:sp>
      <p:sp>
        <p:nvSpPr>
          <p:cNvPr id="5" name="Rectangle 4"/>
          <p:cNvSpPr/>
          <p:nvPr/>
        </p:nvSpPr>
        <p:spPr>
          <a:xfrm>
            <a:off x="685628" y="3600000"/>
            <a:ext cx="10820744" cy="40000"/>
          </a:xfrm>
          <a:prstGeom prst="rect">
            <a:avLst/>
          </a:prstGeom>
          <a:solidFill>
            <a:srgbClr val="D0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628" y="3800000"/>
            <a:ext cx="10820744" cy="500000"/>
          </a:xfrm>
          <a:prstGeom prst="rect">
            <a:avLst/>
          </a:prstGeom>
          <a:noFill/>
        </p:spPr>
        <p:txBody>
          <a:bodyPr wrap="square">
            <a:spAutoFit/>
          </a:bodyPr>
          <a:lstStyle/>
          <a:p>
            <a:pPr algn="l"/>
            <a:r>
              <a:rPr sz="1800" b="0" i="0">
                <a:solidFill>
                  <a:srgbClr val="808080"/>
                </a:solidFill>
                <a:latin typeface="Geist"/>
              </a:rPr>
              <a:t>"Seamless enterprise connectivity" without a code sample gets ignored.</a:t>
            </a:r>
          </a:p>
        </p:txBody>
      </p:sp>
      <p:sp>
        <p:nvSpPr>
          <p:cNvPr id="7" name="TextBox 6"/>
          <p:cNvSpPr txBox="1"/>
          <p:nvPr/>
        </p:nvSpPr>
        <p:spPr>
          <a:xfrm>
            <a:off x="685628" y="4500000"/>
            <a:ext cx="10820744" cy="600000"/>
          </a:xfrm>
          <a:prstGeom prst="rect">
            <a:avLst/>
          </a:prstGeom>
          <a:noFill/>
        </p:spPr>
        <p:txBody>
          <a:bodyPr wrap="square">
            <a:spAutoFit/>
          </a:bodyPr>
          <a:lstStyle/>
          <a:p>
            <a:pPr algn="l"/>
            <a:r>
              <a:rPr sz="1800" b="0" i="0">
                <a:solidFill>
                  <a:srgbClr val="FFFFFF"/>
                </a:solidFill>
                <a:latin typeface="Geist ExtraBold"/>
              </a:rPr>
              <a:t>"Here's what happens when your PAT expires mid-query and how to handle it" gets bookmarked.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600000"/>
            <a:ext cx="10820744" cy="700000"/>
          </a:xfrm>
          <a:prstGeom prst="rect">
            <a:avLst/>
          </a:prstGeom>
          <a:noFill/>
        </p:spPr>
        <p:txBody>
          <a:bodyPr wrap="square">
            <a:spAutoFit/>
          </a:bodyPr>
          <a:lstStyle/>
          <a:p>
            <a:pPr algn="l"/>
            <a:r>
              <a:rPr sz="4000" b="0" i="0">
                <a:solidFill>
                  <a:srgbClr val="FFFFFF"/>
                </a:solidFill>
                <a:latin typeface="Geist ExtraBold"/>
              </a:rPr>
              <a:t>What I'm leaving behind.</a:t>
            </a:r>
          </a:p>
        </p:txBody>
      </p:sp>
      <p:sp>
        <p:nvSpPr>
          <p:cNvPr id="4" name="Rectangle 3"/>
          <p:cNvSpPr/>
          <p:nvPr/>
        </p:nvSpPr>
        <p:spPr>
          <a:xfrm>
            <a:off x="685628" y="170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5628" y="1700000"/>
            <a:ext cx="3400000" cy="380000"/>
          </a:xfrm>
          <a:prstGeom prst="rect">
            <a:avLst/>
          </a:prstGeom>
          <a:noFill/>
        </p:spPr>
        <p:txBody>
          <a:bodyPr wrap="none">
            <a:spAutoFit/>
          </a:bodyPr>
          <a:lstStyle/>
          <a:p>
            <a:pPr algn="l"/>
            <a:r>
              <a:rPr sz="1800" b="0" i="0">
                <a:solidFill>
                  <a:srgbClr val="FFFFFF"/>
                </a:solidFill>
                <a:latin typeface="Geist ExtraBold"/>
              </a:rPr>
              <a:t>Working demo</a:t>
            </a:r>
          </a:p>
        </p:txBody>
      </p:sp>
      <p:sp>
        <p:nvSpPr>
          <p:cNvPr id="6" name="TextBox 5"/>
          <p:cNvSpPr txBox="1"/>
          <p:nvPr/>
        </p:nvSpPr>
        <p:spPr>
          <a:xfrm>
            <a:off x="945628" y="2100000"/>
            <a:ext cx="7200000" cy="380000"/>
          </a:xfrm>
          <a:prstGeom prst="rect">
            <a:avLst/>
          </a:prstGeom>
          <a:noFill/>
        </p:spPr>
        <p:txBody>
          <a:bodyPr wrap="square">
            <a:spAutoFit/>
          </a:bodyPr>
          <a:lstStyle/>
          <a:p>
            <a:pPr algn="l"/>
            <a:r>
              <a:rPr sz="1400" b="0" i="0">
                <a:solidFill>
                  <a:srgbClr val="808080"/>
                </a:solidFill>
                <a:latin typeface="Geist"/>
              </a:rPr>
              <a:t>github.com/JoeKarlsson/connect-ai-agent-demo — clone it and run it. The agent queries live enterprise data.</a:t>
            </a:r>
          </a:p>
        </p:txBody>
      </p:sp>
      <p:sp>
        <p:nvSpPr>
          <p:cNvPr id="7" name="Rectangle 6"/>
          <p:cNvSpPr/>
          <p:nvPr/>
        </p:nvSpPr>
        <p:spPr>
          <a:xfrm>
            <a:off x="685628" y="260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5628" y="2600000"/>
            <a:ext cx="3400000" cy="380000"/>
          </a:xfrm>
          <a:prstGeom prst="rect">
            <a:avLst/>
          </a:prstGeom>
          <a:noFill/>
        </p:spPr>
        <p:txBody>
          <a:bodyPr wrap="none">
            <a:spAutoFit/>
          </a:bodyPr>
          <a:lstStyle/>
          <a:p>
            <a:pPr algn="l"/>
            <a:r>
              <a:rPr sz="1800" b="0" i="0">
                <a:solidFill>
                  <a:srgbClr val="FFFFFF"/>
                </a:solidFill>
                <a:latin typeface="Geist ExtraBold"/>
              </a:rPr>
              <a:t>47-issue DX audit</a:t>
            </a:r>
          </a:p>
        </p:txBody>
      </p:sp>
      <p:sp>
        <p:nvSpPr>
          <p:cNvPr id="9" name="TextBox 8"/>
          <p:cNvSpPr txBox="1"/>
          <p:nvPr/>
        </p:nvSpPr>
        <p:spPr>
          <a:xfrm>
            <a:off x="945628" y="3000000"/>
            <a:ext cx="7200000" cy="380000"/>
          </a:xfrm>
          <a:prstGeom prst="rect">
            <a:avLst/>
          </a:prstGeom>
          <a:noFill/>
        </p:spPr>
        <p:txBody>
          <a:bodyPr wrap="square">
            <a:spAutoFit/>
          </a:bodyPr>
          <a:lstStyle/>
          <a:p>
            <a:pPr algn="l"/>
            <a:r>
              <a:rPr sz="1400" b="0" i="0">
                <a:solidFill>
                  <a:srgbClr val="808080"/>
                </a:solidFill>
                <a:latin typeface="Geist"/>
              </a:rPr>
              <a:t>docs/dx-audit.md — root causes, recommended fixes, organized by category and impact.</a:t>
            </a:r>
          </a:p>
        </p:txBody>
      </p:sp>
      <p:sp>
        <p:nvSpPr>
          <p:cNvPr id="10" name="Rectangle 9"/>
          <p:cNvSpPr/>
          <p:nvPr/>
        </p:nvSpPr>
        <p:spPr>
          <a:xfrm>
            <a:off x="685628" y="350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5628" y="3500000"/>
            <a:ext cx="3400000" cy="380000"/>
          </a:xfrm>
          <a:prstGeom prst="rect">
            <a:avLst/>
          </a:prstGeom>
          <a:noFill/>
        </p:spPr>
        <p:txBody>
          <a:bodyPr wrap="none">
            <a:spAutoFit/>
          </a:bodyPr>
          <a:lstStyle/>
          <a:p>
            <a:pPr algn="l"/>
            <a:r>
              <a:rPr sz="1800" b="0" i="0">
                <a:solidFill>
                  <a:srgbClr val="FFFFFF"/>
                </a:solidFill>
                <a:latin typeface="Geist ExtraBold"/>
              </a:rPr>
              <a:t>Composio competitive brief</a:t>
            </a:r>
          </a:p>
        </p:txBody>
      </p:sp>
      <p:sp>
        <p:nvSpPr>
          <p:cNvPr id="12" name="TextBox 11"/>
          <p:cNvSpPr txBox="1"/>
          <p:nvPr/>
        </p:nvSpPr>
        <p:spPr>
          <a:xfrm>
            <a:off x="945628" y="3900000"/>
            <a:ext cx="7200000" cy="380000"/>
          </a:xfrm>
          <a:prstGeom prst="rect">
            <a:avLst/>
          </a:prstGeom>
          <a:noFill/>
        </p:spPr>
        <p:txBody>
          <a:bodyPr wrap="square">
            <a:spAutoFit/>
          </a:bodyPr>
          <a:lstStyle/>
          <a:p>
            <a:pPr algn="l"/>
            <a:r>
              <a:rPr sz="1400" b="0" i="0">
                <a:solidFill>
                  <a:srgbClr val="808080"/>
                </a:solidFill>
                <a:latin typeface="Geist"/>
              </a:rPr>
              <a:t>SQL vs. action-based, enterprise data coverage, pricing comparison, CData's defensible position.</a:t>
            </a:r>
          </a:p>
        </p:txBody>
      </p:sp>
      <p:sp>
        <p:nvSpPr>
          <p:cNvPr id="13" name="Rectangle 12"/>
          <p:cNvSpPr/>
          <p:nvPr/>
        </p:nvSpPr>
        <p:spPr>
          <a:xfrm>
            <a:off x="685628" y="4400000"/>
            <a:ext cx="90000" cy="90000"/>
          </a:xfrm>
          <a:prstGeom prst="rect">
            <a:avLst/>
          </a:prstGeom>
          <a:solidFill>
            <a:srgbClr val="FFE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5628" y="4400000"/>
            <a:ext cx="3400000" cy="380000"/>
          </a:xfrm>
          <a:prstGeom prst="rect">
            <a:avLst/>
          </a:prstGeom>
          <a:noFill/>
        </p:spPr>
        <p:txBody>
          <a:bodyPr wrap="none">
            <a:spAutoFit/>
          </a:bodyPr>
          <a:lstStyle/>
          <a:p>
            <a:pPr algn="l"/>
            <a:r>
              <a:rPr sz="1800" b="0" i="0">
                <a:solidFill>
                  <a:srgbClr val="FFFFFF"/>
                </a:solidFill>
                <a:latin typeface="Geist ExtraBold"/>
              </a:rPr>
              <a:t>LLM baseline data</a:t>
            </a:r>
          </a:p>
        </p:txBody>
      </p:sp>
      <p:sp>
        <p:nvSpPr>
          <p:cNvPr id="15" name="TextBox 14"/>
          <p:cNvSpPr txBox="1"/>
          <p:nvPr/>
        </p:nvSpPr>
        <p:spPr>
          <a:xfrm>
            <a:off x="945628" y="4800000"/>
            <a:ext cx="7200000" cy="380000"/>
          </a:xfrm>
          <a:prstGeom prst="rect">
            <a:avLst/>
          </a:prstGeom>
          <a:noFill/>
        </p:spPr>
        <p:txBody>
          <a:bodyPr wrap="square">
            <a:spAutoFit/>
          </a:bodyPr>
          <a:lstStyle/>
          <a:p>
            <a:pPr algn="l"/>
            <a:r>
              <a:rPr sz="1400" b="0" i="0">
                <a:solidFill>
                  <a:srgbClr val="808080"/>
                </a:solidFill>
                <a:latin typeface="Geist"/>
              </a:rPr>
              <a:t>5 key queries run May 8, 2026. CData 0/5. Composio 5/5. The before numbers.</a:t>
            </a:r>
          </a:p>
        </p:txBody>
      </p:sp>
      <p:pic>
        <p:nvPicPr>
          <p:cNvPr id="16" name="Picture 15" descr="repo-qr.png"/>
          <p:cNvPicPr>
            <a:picLocks noChangeAspect="1"/>
          </p:cNvPicPr>
          <p:nvPr/>
        </p:nvPicPr>
        <p:blipFill>
          <a:blip r:embed="rId3"/>
          <a:stretch>
            <a:fillRect/>
          </a:stretch>
        </p:blipFill>
        <p:spPr>
          <a:xfrm>
            <a:off x="9906372" y="2000000"/>
            <a:ext cx="1400000" cy="1400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685628" y="1000000"/>
            <a:ext cx="10820744" cy="508000"/>
          </a:xfrm>
          <a:prstGeom prst="rect">
            <a:avLst/>
          </a:prstGeom>
          <a:noFill/>
        </p:spPr>
        <p:txBody>
          <a:bodyPr wrap="square">
            <a:spAutoFit/>
          </a:bodyPr>
          <a:lstStyle/>
          <a:p>
            <a:pPr algn="l"/>
            <a:r>
              <a:rPr sz="2000" b="0" i="0">
                <a:solidFill>
                  <a:srgbClr val="808080"/>
                </a:solidFill>
                <a:latin typeface="Geist"/>
              </a:rPr>
              <a:t>There's a developer right now who needs to connect their AI agent to Salesforce and NetSuite in a single query.</a:t>
            </a:r>
          </a:p>
        </p:txBody>
      </p:sp>
      <p:sp>
        <p:nvSpPr>
          <p:cNvPr id="4" name="TextBox 3"/>
          <p:cNvSpPr txBox="1"/>
          <p:nvPr/>
        </p:nvSpPr>
        <p:spPr>
          <a:xfrm>
            <a:off x="685628" y="1628000"/>
            <a:ext cx="10820744" cy="558800"/>
          </a:xfrm>
          <a:prstGeom prst="rect">
            <a:avLst/>
          </a:prstGeom>
          <a:noFill/>
        </p:spPr>
        <p:txBody>
          <a:bodyPr wrap="square">
            <a:spAutoFit/>
          </a:bodyPr>
          <a:lstStyle/>
          <a:p>
            <a:pPr algn="l"/>
            <a:r>
              <a:rPr sz="2200" b="0" i="0">
                <a:solidFill>
                  <a:srgbClr val="FFFFFF"/>
                </a:solidFill>
                <a:latin typeface="Geist"/>
              </a:rPr>
              <a:t>They're going to Google it, ask Claude, check GitHub.</a:t>
            </a:r>
          </a:p>
        </p:txBody>
      </p:sp>
      <p:sp>
        <p:nvSpPr>
          <p:cNvPr id="5" name="TextBox 4"/>
          <p:cNvSpPr txBox="1"/>
          <p:nvPr/>
        </p:nvSpPr>
        <p:spPr>
          <a:xfrm>
            <a:off x="685628" y="2306800"/>
            <a:ext cx="10820744" cy="609600"/>
          </a:xfrm>
          <a:prstGeom prst="rect">
            <a:avLst/>
          </a:prstGeom>
          <a:noFill/>
        </p:spPr>
        <p:txBody>
          <a:bodyPr wrap="square">
            <a:spAutoFit/>
          </a:bodyPr>
          <a:lstStyle/>
          <a:p>
            <a:pPr algn="l"/>
            <a:r>
              <a:rPr sz="2400" b="0" i="0">
                <a:solidFill>
                  <a:srgbClr val="FFE500"/>
                </a:solidFill>
                <a:latin typeface="Geist"/>
              </a:rPr>
              <a:t>Right now, Composio comes up. CData doesn't.</a:t>
            </a:r>
          </a:p>
        </p:txBody>
      </p:sp>
      <p:sp>
        <p:nvSpPr>
          <p:cNvPr id="6" name="TextBox 5"/>
          <p:cNvSpPr txBox="1"/>
          <p:nvPr/>
        </p:nvSpPr>
        <p:spPr>
          <a:xfrm>
            <a:off x="685628" y="3036400"/>
            <a:ext cx="10820744" cy="558800"/>
          </a:xfrm>
          <a:prstGeom prst="rect">
            <a:avLst/>
          </a:prstGeom>
          <a:noFill/>
        </p:spPr>
        <p:txBody>
          <a:bodyPr wrap="square">
            <a:spAutoFit/>
          </a:bodyPr>
          <a:lstStyle/>
          <a:p>
            <a:pPr algn="l"/>
            <a:r>
              <a:rPr sz="2200" b="0" i="0">
                <a:solidFill>
                  <a:srgbClr val="FFFFFF"/>
                </a:solidFill>
                <a:latin typeface="Geist"/>
              </a:rPr>
              <a:t>That's not a product problem — CData has the product.</a:t>
            </a:r>
          </a:p>
        </p:txBody>
      </p:sp>
      <p:sp>
        <p:nvSpPr>
          <p:cNvPr id="7" name="TextBox 6"/>
          <p:cNvSpPr txBox="1"/>
          <p:nvPr/>
        </p:nvSpPr>
        <p:spPr>
          <a:xfrm>
            <a:off x="685628" y="3715200"/>
            <a:ext cx="10820744" cy="558800"/>
          </a:xfrm>
          <a:prstGeom prst="rect">
            <a:avLst/>
          </a:prstGeom>
          <a:noFill/>
        </p:spPr>
        <p:txBody>
          <a:bodyPr wrap="square">
            <a:spAutoFit/>
          </a:bodyPr>
          <a:lstStyle/>
          <a:p>
            <a:pPr algn="l"/>
            <a:r>
              <a:rPr sz="2200" b="0" i="0">
                <a:solidFill>
                  <a:srgbClr val="FFFFFF"/>
                </a:solidFill>
                <a:latin typeface="Geist"/>
              </a:rPr>
              <a:t>Getting there is a messaging, content, and distribution problem.</a:t>
            </a:r>
          </a:p>
        </p:txBody>
      </p:sp>
      <p:sp>
        <p:nvSpPr>
          <p:cNvPr id="8" name="TextBox 7"/>
          <p:cNvSpPr txBox="1"/>
          <p:nvPr/>
        </p:nvSpPr>
        <p:spPr>
          <a:xfrm>
            <a:off x="685628" y="4394000"/>
            <a:ext cx="10820744" cy="711200"/>
          </a:xfrm>
          <a:prstGeom prst="rect">
            <a:avLst/>
          </a:prstGeom>
          <a:noFill/>
        </p:spPr>
        <p:txBody>
          <a:bodyPr wrap="square">
            <a:spAutoFit/>
          </a:bodyPr>
          <a:lstStyle/>
          <a:p>
            <a:pPr algn="l"/>
            <a:r>
              <a:rPr sz="2800" b="0" i="0">
                <a:solidFill>
                  <a:srgbClr val="FFE500"/>
                </a:solidFill>
                <a:latin typeface="Geist"/>
              </a:rPr>
              <a:t>That's exactly what I do.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cdata-logo-light.png"/>
          <p:cNvPicPr>
            <a:picLocks noChangeAspect="1"/>
          </p:cNvPicPr>
          <p:nvPr/>
        </p:nvPicPr>
        <p:blipFill>
          <a:blip r:embed="rId2"/>
          <a:stretch>
            <a:fillRect/>
          </a:stretch>
        </p:blipFill>
        <p:spPr>
          <a:xfrm>
            <a:off x="10099706" y="260000"/>
            <a:ext cx="1406666" cy="380000"/>
          </a:xfrm>
          <a:prstGeom prst="rect">
            <a:avLst/>
          </a:prstGeom>
        </p:spPr>
      </p:pic>
      <p:sp>
        <p:nvSpPr>
          <p:cNvPr id="3" name="TextBox 2"/>
          <p:cNvSpPr txBox="1"/>
          <p:nvPr/>
        </p:nvSpPr>
        <p:spPr>
          <a:xfrm>
            <a:off x="0" y="2400000"/>
            <a:ext cx="12192000" cy="1400000"/>
          </a:xfrm>
          <a:prstGeom prst="rect">
            <a:avLst/>
          </a:prstGeom>
          <a:noFill/>
        </p:spPr>
        <p:txBody>
          <a:bodyPr wrap="square">
            <a:spAutoFit/>
          </a:bodyPr>
          <a:lstStyle/>
          <a:p>
            <a:pPr algn="ctr"/>
            <a:r>
              <a:rPr sz="8800" b="0" i="0">
                <a:solidFill>
                  <a:srgbClr val="FFFFFF"/>
                </a:solidFill>
                <a:latin typeface="Geist ExtraBold"/>
              </a:rPr>
              <a:t>Questions.</a:t>
            </a:r>
          </a:p>
        </p:txBody>
      </p:sp>
      <p:sp>
        <p:nvSpPr>
          <p:cNvPr id="4" name="TextBox 3"/>
          <p:cNvSpPr txBox="1"/>
          <p:nvPr/>
        </p:nvSpPr>
        <p:spPr>
          <a:xfrm>
            <a:off x="0" y="4200000"/>
            <a:ext cx="12192000" cy="500000"/>
          </a:xfrm>
          <a:prstGeom prst="rect">
            <a:avLst/>
          </a:prstGeom>
          <a:noFill/>
        </p:spPr>
        <p:txBody>
          <a:bodyPr wrap="square">
            <a:spAutoFit/>
          </a:bodyPr>
          <a:lstStyle/>
          <a:p>
            <a:pPr algn="ctr"/>
            <a:r>
              <a:rPr sz="1600" b="0" i="0" u="none">
                <a:solidFill>
                  <a:srgbClr val="808080"/>
                </a:solidFill>
                <a:latin typeface="Geist"/>
                <a:hlinkClick r:id="rId3"/>
              </a:rPr>
              <a:t>joekarlsson.com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nv0">
      <a:majorFont>
        <a:latin typeface="Geist"/>
        <a:ea typeface=""/>
        <a:cs typeface=""/>
      </a:majorFont>
      <a:minorFont>
        <a:latin typeface="Geis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nv0">
      <a:majorFont>
        <a:latin typeface="Geist"/>
        <a:ea typeface=""/>
        <a:cs typeface=""/>
      </a:majorFont>
      <a:minorFont>
        <a:latin typeface="Geis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