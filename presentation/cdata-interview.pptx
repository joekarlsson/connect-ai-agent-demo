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mbeddedFontLst>
    <p:embeddedFont>
      <p:font typeface="Geist" charset="0" pitchFamily="34"/>
      <p:regular r:id="rId28" uniqueId="{28BDAFF6-997C-4E49-AF81-5D824E36995D}"/>
      <p:bold r:id="rId29" uniqueId="{DA701B9E-F774-4048-98EA-70039169CC5B}"/>
    </p:embeddedFont>
    <p:embeddedFont>
      <p:font typeface="Geist ExtraBold" charset="0" pitchFamily="34"/>
      <p:regular r:id="rId30" uniqueId="{0ACDCDFE-589C-4C9C-B8BD-08BCD6EC04D4}"/>
    </p:embeddedFont>
    <p:embeddedFont>
      <p:font typeface="DM Sans" charset="0" pitchFamily="34"/>
      <p:regular r:id="rId31" uniqueId="{20AC15FD-8D17-4EC1-852A-70758378ACFF}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font" Target="fonts/font1.fntdata"/>
<Relationship Id="rId29" Type="http://schemas.openxmlformats.org/officeDocument/2006/relationships/font" Target="fonts/font2.fntdata"/>
<Relationship Id="rId30" Type="http://schemas.openxmlformats.org/officeDocument/2006/relationships/font" Target="fonts/font3.fntdata"/>
<Relationship Id="rId31" Type="http://schemas.openxmlformats.org/officeDocument/2006/relationships/font" Target="fonts/font4.fntdata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joekarlsson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hyperlink" Target="https://github.com/JoeKarlsson/connect-ai-agent-demo" TargetMode="External"/><Relationship Id="rId5" Type="http://schemas.openxmlformats.org/officeDocument/2006/relationships/hyperlink" Target="https://www.linkedin.com/in/joekarlsson" TargetMode="External"/><Relationship Id="rId6" Type="http://schemas.openxmlformats.org/officeDocument/2006/relationships/hyperlink" Target="https://joekarlsson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JoeKarlsson/connect-ai-agent-demo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linkedin.com/in/joekarlsson" TargetMode="External"/><Relationship Id="rId4" Type="http://schemas.openxmlformats.org/officeDocument/2006/relationships/hyperlink" Target="https://joekarlsson.com" TargetMode="External"/><Relationship Id="rId5" Type="http://schemas.openxmlformats.org/officeDocument/2006/relationships/hyperlink" Target="https://github.com/JoeKarlsson/connect-ai-agent-demo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67681" y="5400"/>
            <a:ext cx="4121400" cy="685800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data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628" y="1280000"/>
            <a:ext cx="58035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DM Sans"/>
              </a:rPr>
              <a:t>CDATA FINAL ROUND  ·  MAY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628" y="1680000"/>
            <a:ext cx="58035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0" i="0">
                <a:solidFill>
                  <a:srgbClr val="1A1A1A"/>
                </a:solidFill>
                <a:latin typeface="Geist ExtraBold"/>
              </a:rPr>
              <a:t>Developer Trust at Enterprise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628" y="3450000"/>
            <a:ext cx="58035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808080"/>
                </a:solidFill>
                <a:latin typeface="Geist"/>
              </a:rPr>
              <a:t>Content strategy, competitive positioning,
and a 90-day GTM plan for CData Connect 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628" y="4700000"/>
            <a:ext cx="58035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Geist ExtraBold"/>
              </a:rPr>
              <a:t>Joe Karlsson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628" y="5100000"/>
            <a:ext cx="58035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u="none">
                <a:solidFill>
                  <a:srgbClr val="808080"/>
                </a:solidFill>
                <a:latin typeface="Geist"/>
                <a:hlinkClick r:id="rId3"/>
              </a:rPr>
              <a:t>joekarlsson.com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ata-logo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2529000"/>
            <a:ext cx="121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FFE500"/>
                </a:solidFill>
                <a:latin typeface="Geist ExtraBold"/>
              </a:rPr>
              <a:t>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79000"/>
            <a:ext cx="121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E500"/>
                </a:solidFill>
                <a:latin typeface="DM Sans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739000"/>
            <a:ext cx="1219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0F0F0"/>
                </a:solidFill>
                <a:latin typeface="Geist ExtraBold"/>
              </a:rPr>
              <a:t>Enterprise Data AI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85628" y="4379000"/>
            <a:ext cx="9220744" cy="480000"/>
          </a:xfrm>
          <a:prstGeom prst="round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85628" y="4499000"/>
            <a:ext cx="8820744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FFE500"/>
                </a:solidFill>
                <a:latin typeface="Courier New"/>
              </a:rPr>
              <a:t>python main.py "Who is my top rep and what are their biggest open deals?"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5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ata-logo-yel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620000"/>
            <a:ext cx="12192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DM Sans"/>
              </a:rPr>
              <a:t>THE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50000"/>
            <a:ext cx="12192000" cy="1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0" i="0">
                <a:solidFill>
                  <a:srgbClr val="1A1A1A"/>
                </a:solidFill>
                <a:latin typeface="Geist ExtraBold"/>
              </a:rPr>
              <a:t>15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700000"/>
            <a:ext cx="1219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1A"/>
                </a:solidFill>
                <a:latin typeface="Geist"/>
              </a:rPr>
              <a:t>Zero SQL. Natural language to cross-source enterprise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85628" y="3380000"/>
            <a:ext cx="3820744" cy="34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628" y="3560000"/>
            <a:ext cx="1082074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Geist"/>
              </a:rPr>
              <a:t>The quickstart is the product's first content touchpoint — it has to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628" y="3890000"/>
            <a:ext cx="1082074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Geist"/>
              </a:rPr>
              <a:t>Auth errors without root causes = a troubleshooting guide that doesn't exist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628" y="4220000"/>
            <a:ext cx="1082074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Geist"/>
              </a:rPr>
              <a:t>Missing terminal-first path = a whole developer persona the content doesn't reach.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800000"/>
            <a:ext cx="12192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Geist ExtraBold"/>
              </a:rPr>
              <a:t>Anthropic, Databricks, and Palantir use this connectivity layer. The content has to be worthy of that reference.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628" y="6300000"/>
            <a:ext cx="10820744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Geist"/>
              </a:rPr>
              <a:t>SOURCE  Full first-session audit: docs/dx-audit.md  ·  github.com/JoeKarlsson/connect-ai-agent-demo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ata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628" y="340000"/>
            <a:ext cx="58035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DM Sans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628" y="544550"/>
            <a:ext cx="5803500" cy="15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000000"/>
                </a:solidFill>
                <a:latin typeface="Geist ExtraBold"/>
              </a:rPr>
              <a:t>Natural language to enterprise data in one hop.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26000" y="2350000"/>
            <a:ext cx="1900000" cy="145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26000" y="2650000"/>
            <a:ext cx="1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Geist ExtraBold"/>
              </a:rPr>
              <a:t>Natural
Language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26000" y="3930000"/>
            <a:ext cx="1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08080"/>
                </a:solidFill>
                <a:latin typeface="Geist"/>
              </a:rPr>
              <a:t>Plain English
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26000" y="2975000"/>
            <a:ext cx="38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0D0C8"/>
                </a:solidFill>
                <a:latin typeface="Geist ExtraBold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06000" y="2350000"/>
            <a:ext cx="1900000" cy="1450000"/>
          </a:xfrm>
          <a:prstGeom prst="round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6000" y="2650000"/>
            <a:ext cx="1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Geist ExtraBold"/>
              </a:rPr>
              <a:t>Claude
Sonnet 4.6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6000" y="3930000"/>
            <a:ext cx="1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08080"/>
                </a:solidFill>
                <a:latin typeface="Geist"/>
              </a:rPr>
              <a:t>Decides which
tools to 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6000" y="2975000"/>
            <a:ext cx="38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0D0C8"/>
                </a:solidFill>
                <a:latin typeface="Geist ExtraBold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000" y="2350000"/>
            <a:ext cx="1900000" cy="145000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6000" y="2650000"/>
            <a:ext cx="1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Geist ExtraBold"/>
              </a:rPr>
              <a:t>CData
MCP Server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6000" y="3930000"/>
            <a:ext cx="1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08080"/>
                </a:solidFill>
                <a:latin typeface="Geist"/>
              </a:rPr>
              <a:t>350+ sources
one SQL interface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6000" y="2975000"/>
            <a:ext cx="38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0D0C8"/>
                </a:solidFill>
                <a:latin typeface="Geist ExtraBold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66000" y="2350000"/>
            <a:ext cx="1900000" cy="145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66000" y="2650000"/>
            <a:ext cx="1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1A1A"/>
                </a:solidFill>
                <a:latin typeface="Geist ExtraBold"/>
              </a:rPr>
              <a:t>Data
Sources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6000" y="3930000"/>
            <a:ext cx="1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08080"/>
                </a:solidFill>
                <a:latin typeface="Geist"/>
              </a:rPr>
              <a:t>Sheets · GitHub
SAP · Postgres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685628" y="4650000"/>
            <a:ext cx="10820744" cy="467650"/>
          </a:xfrm>
          <a:prstGeom prst="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685628" y="4650000"/>
            <a:ext cx="60000" cy="46765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5628" y="4750000"/>
            <a:ext cx="10560744" cy="29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Geist"/>
              </a:rPr>
              <a:t>Add a source in the CData dashboard → immediately queryable. No code changes. No new connector to write.</a:t>
            </a:r>
          </a:p>
        </p:txBody>
      </p:sp>
    </p:spTree>
  </p:cSld>
  <p:clrMapOvr>
    <a:masterClrMapping/>
  </p:clrMapOvr>
  <p:timing>
    <p:tnLst>
      <p:par>
        <p:cTn id="235" dur="indefinite" restart="whenNotActive" nodeType="tmRoot">
          <p:childTnLst>
            <p:seq concurrent="1" nextAc="seek">
              <p:cTn id="236" dur="indefinite" nodeType="mainSeq">
                <p:childTnLst>
                  <p:par>
                    <p:cTn id="201" fill="hold">
                      <p:stCondLst>
                        <p:cond evt="onBegin" delay="indefinite"/>
                      </p:stCondLst>
                      <p:childTnLst>
                        <p:par>
                          <p:cTn id="202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3" dur="1" fill="hold"/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4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5" dur="1" fill="hold"/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6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7" dur="1" fill="hold"/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8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9" dur="1" fill="hold"/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evt="onBegin" delay="indefinite"/>
                      </p:stCondLst>
                      <p:childTnLst>
                        <p:par>
                          <p:cTn id="211" presetID="1" presetClass="entr" presetSubtype="0" fill="hold" grpId="1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2" dur="1" fill="hold"/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3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4" dur="1" fill="hold"/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5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6" dur="1" fill="hold"/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7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8" dur="1" fill="hold"/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>
                      <p:stCondLst>
                        <p:cond evt="onBegin" delay="indefinite"/>
                      </p:stCondLst>
                      <p:childTnLst>
                        <p:par>
                          <p:cTn id="220" presetID="1" presetClass="entr" presetSubtype="0" fill="hold" grpId="2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1" dur="1" fill="hold"/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2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3" dur="1" fill="hold"/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4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5" dur="1" fill="hold"/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6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7" dur="1" fill="hold"/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28" fill="hold">
                      <p:stCondLst>
                        <p:cond evt="onBegin" delay="indefinite"/>
                      </p:stCondLst>
                      <p:childTnLst>
                        <p:par>
                          <p:cTn id="229" presetID="1" presetClass="entr" presetSubtype="0" fill="hold" grpId="3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0" dur="1" fill="hold"/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31" presetID="1" presetClass="entr" presetSubtype="0" fill="hold" grpId="3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2" dur="1" fill="hold"/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33" presetID="1" presetClass="entr" presetSubtype="0" fill="hold" grpId="3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4" dur="1" fill="hold"/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Begin" delay="indefinite"/>
              </p:prevCondLst>
            </p:seq>
          </p:childTnLst>
        </p:cTn>
      </p:par>
    </p:tnLst>
    <p:bldLst>
      <p:bldP spid="5" grpId="0" uiExpand="1" build="allAtOnce"/>
      <p:bldP spid="6" grpId="0" uiExpand="1" build="allAtOnce"/>
      <p:bldP spid="7" grpId="0" uiExpand="1" build="allAtOnce"/>
      <p:bldP spid="8" grpId="0" uiExpand="1" build="allAtOnce"/>
      <p:bldP spid="9" grpId="1" uiExpand="1" build="allAtOnce"/>
      <p:bldP spid="10" grpId="1" uiExpand="1" build="allAtOnce"/>
      <p:bldP spid="11" grpId="1" uiExpand="1" build="allAtOnce"/>
      <p:bldP spid="12" grpId="1" uiExpand="1" build="allAtOnce"/>
      <p:bldP spid="13" grpId="2" uiExpand="1" build="allAtOnce"/>
      <p:bldP spid="14" grpId="2" uiExpand="1" build="allAtOnce"/>
      <p:bldP spid="15" grpId="2" uiExpand="1" build="allAtOnce"/>
      <p:bldP spid="16" grpId="2" uiExpand="1" build="allAtOnce"/>
      <p:bldP spid="17" grpId="3" uiExpand="1" build="allAtOnce"/>
      <p:bldP spid="18" grpId="3" uiExpand="1" build="allAtOnce"/>
      <p:bldP spid="19" grpId="3" uiExpand="1" build="allAtOnce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ata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628" y="340000"/>
            <a:ext cx="58035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DM Sans"/>
              </a:rPr>
              <a:t>TWO PATHS, ONE DATA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628" y="544550"/>
            <a:ext cx="5803500" cy="15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00000"/>
                </a:solidFill>
                <a:latin typeface="Geist ExtraBold"/>
              </a:rPr>
              <a:t>Two developers. Same platform. Different interfaces.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628" y="2140000"/>
            <a:ext cx="58035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808080"/>
                </a:solidFill>
                <a:latin typeface="Geist"/>
              </a:rPr>
              <a:t>Same data layer underneath. Right interface for each developer.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628" y="3520000"/>
            <a:ext cx="5300372" cy="308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0628" y="3705000"/>
            <a:ext cx="493037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MCP — for AI agent builders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628" y="4165000"/>
            <a:ext cx="4930372" cy="2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Standardized tool-calling interface (Model Context Protocol).
One tool namespace exposes 350+ sources.
Connect Claude, GPT-4o, or any MCP-compatible agent.
No per-source connector code.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6000" y="3520000"/>
            <a:ext cx="5300372" cy="308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000" y="3705000"/>
            <a:ext cx="493037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Python SDK — for data engineers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1000" y="4165000"/>
            <a:ext cx="4930372" cy="2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DB-API 2.0 cursor interface — familiar to any Python data engineer.
Works natively with pandas, SQLAlchemy, ETL pipelines.
Same underlying data layer as MCP.
Different evaluation criteria, different content.</a:t>
            </a:r>
          </a:p>
        </p:txBody>
      </p:sp>
    </p:spTree>
  </p:cSld>
  <p:clrMapOvr>
    <a:masterClrMapping/>
  </p:clrMapOvr>
  <p:timing>
    <p:tnLst>
      <p:par>
        <p:cTn id="215" dur="indefinite" restart="whenNotActive" nodeType="tmRoot">
          <p:childTnLst>
            <p:seq concurrent="1" nextAc="seek">
              <p:cTn id="216" dur="indefinite" nodeType="mainSeq">
                <p:childTnLst>
                  <p:par>
                    <p:cTn id="201" fill="hold">
                      <p:stCondLst>
                        <p:cond evt="onBegin" delay="indefinite"/>
                      </p:stCondLst>
                      <p:childTnLst>
                        <p:par>
                          <p:cTn id="202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3" dur="1" fill="hold"/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4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5" dur="1" fill="hold"/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6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7" dur="1" fill="hold"/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evt="onBegin" delay="indefinite"/>
                      </p:stCondLst>
                      <p:childTnLst>
                        <p:par>
                          <p:cTn id="209" presetID="1" presetClass="entr" presetSubtype="0" fill="hold" grpId="1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0" dur="1" fill="hold"/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1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2" dur="1" fill="hold"/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3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4" dur="1" fill="hold"/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Begin" delay="indefinite"/>
              </p:prevCondLst>
            </p:seq>
          </p:childTnLst>
        </p:cTn>
      </p:par>
    </p:tnLst>
    <p:bldLst>
      <p:bldP spid="6" grpId="0" uiExpand="1" build="allAtOnce"/>
      <p:bldP spid="7" grpId="0" uiExpand="1" build="allAtOnce"/>
      <p:bldP spid="8" grpId="0" uiExpand="1" build="allAtOnce"/>
      <p:bldP spid="9" grpId="1" uiExpand="1" build="allAtOnce"/>
      <p:bldP spid="10" grpId="1" uiExpand="1" build="allAtOnce"/>
      <p:bldP spid="11" grpId="1" uiExpand="1" build="allAtOnce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ata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628" y="340000"/>
            <a:ext cx="58035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DM San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628" y="544550"/>
            <a:ext cx="5803500" cy="15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0">
                <a:solidFill>
                  <a:srgbClr val="000000"/>
                </a:solidFill>
                <a:latin typeface="Geist ExtraBold"/>
              </a:rPr>
              <a:t>The N-Integration Debt 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628" y="2140000"/>
            <a:ext cx="58035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808080"/>
                </a:solidFill>
                <a:latin typeface="Geist"/>
              </a:rPr>
              <a:t>The pain every engineer who's maintained 3+ integrations has lived.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628" y="3520000"/>
            <a:ext cx="3483581" cy="240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0628" y="3705000"/>
            <a:ext cx="3113581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Connector 1 — weeks of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628" y="4165000"/>
            <a:ext cx="3113581" cy="1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OAuth flow. Token refresh. Rate limits. Pagination. Field-level permissions. You build it once and it works.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4209" y="3520000"/>
            <a:ext cx="3483581" cy="240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9209" y="3705000"/>
            <a:ext cx="3113581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Connectors 3–12 — the real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209" y="4165000"/>
            <a:ext cx="3113581" cy="1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Different OAuth. Different rate limits. Different field naming for conceptually identical data. Each breaks independently, on its own schedule.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2790" y="3520000"/>
            <a:ext cx="3483581" cy="240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790" y="3705000"/>
            <a:ext cx="3113581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Production failure at 2am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790" y="4165000"/>
            <a:ext cx="3113581" cy="1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Salesforce updates their API. QuickBooks deprecates an endpoint. You find out when your agent fails in production — not from a changelog.</a:t>
            </a:r>
          </a:p>
        </p:txBody>
      </p:sp>
    </p:spTree>
  </p:cSld>
  <p:clrMapOvr>
    <a:masterClrMapping/>
  </p:clrMapOvr>
  <p:timing>
    <p:tnLst>
      <p:par>
        <p:cTn id="222" dur="indefinite" restart="whenNotActive" nodeType="tmRoot">
          <p:childTnLst>
            <p:seq concurrent="1" nextAc="seek">
              <p:cTn id="223" dur="indefinite" nodeType="mainSeq">
                <p:childTnLst>
                  <p:par>
                    <p:cTn id="201" fill="hold">
                      <p:stCondLst>
                        <p:cond evt="onBegin" delay="indefinite"/>
                      </p:stCondLst>
                      <p:childTnLst>
                        <p:par>
                          <p:cTn id="202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3" dur="1" fill="hold"/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4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5" dur="1" fill="hold"/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6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7" dur="1" fill="hold"/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evt="onBegin" delay="indefinite"/>
                      </p:stCondLst>
                      <p:childTnLst>
                        <p:par>
                          <p:cTn id="209" presetID="1" presetClass="entr" presetSubtype="0" fill="hold" grpId="1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0" dur="1" fill="hold"/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1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2" dur="1" fill="hold"/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3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4" dur="1" fill="hold"/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evt="onBegin" delay="indefinite"/>
                      </p:stCondLst>
                      <p:childTnLst>
                        <p:par>
                          <p:cTn id="216" presetID="1" presetClass="entr" presetSubtype="0" fill="hold" grpId="2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7" dur="1" fill="hold"/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8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9" dur="1" fill="hold"/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0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1" dur="1" fill="hold"/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Begin" delay="indefinite"/>
              </p:prevCondLst>
            </p:seq>
          </p:childTnLst>
        </p:cTn>
      </p:par>
    </p:tnLst>
    <p:bldLst>
      <p:bldP spid="6" grpId="0" uiExpand="1" build="allAtOnce"/>
      <p:bldP spid="7" grpId="0" uiExpand="1" build="allAtOnce"/>
      <p:bldP spid="8" grpId="0" uiExpand="1" build="allAtOnce"/>
      <p:bldP spid="9" grpId="1" uiExpand="1" build="allAtOnce"/>
      <p:bldP spid="10" grpId="1" uiExpand="1" build="allAtOnce"/>
      <p:bldP spid="11" grpId="1" uiExpand="1" build="allAtOnce"/>
      <p:bldP spid="12" grpId="2" uiExpand="1" build="allAtOnce"/>
      <p:bldP spid="13" grpId="2" uiExpand="1" build="allAtOnce"/>
      <p:bldP spid="14" grpId="2" uiExpand="1" build="allAtOnce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5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ata-logo-yel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80000"/>
            <a:ext cx="12192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DM Sans"/>
              </a:rPr>
              <a:t>THE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628" y="1080000"/>
            <a:ext cx="10820744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1A1A1A"/>
                </a:solidFill>
                <a:latin typeface="Geist ExtraBold"/>
              </a:rPr>
              <a:t>"Connect AI is the data access layer your team would have built
if you had 6 months and dedicated maintenance bandwidth."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80000"/>
            <a:ext cx="12192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DM Sans"/>
              </a:rPr>
              <a:t>CONNECTIVITY  ·  CONTEXT  · 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85628" y="4050000"/>
            <a:ext cx="3620744" cy="34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628" y="4230000"/>
            <a:ext cx="10820744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33333"/>
                </a:solidFill>
                <a:latin typeface="Geist"/>
              </a:rPr>
              <a:t>The question isn't whether you can build it. It's whether that's what you want to be working on.</a:t>
            </a:r>
          </a:p>
        </p:txBody>
      </p:sp>
    </p:spTree>
  </p:cSld>
  <p:clrMapOvr>
    <a:masterClrMapping/>
  </p:clrMapOvr>
  <p:timing>
    <p:tnLst>
      <p:par>
        <p:cTn id="209" dur="indefinite" restart="whenNotActive" nodeType="tmRoot">
          <p:childTnLst>
            <p:seq concurrent="1" nextAc="seek">
              <p:cTn id="210" dur="indefinite" nodeType="mainSeq">
                <p:childTnLst>
                  <p:par>
                    <p:cTn id="201" fill="hold">
                      <p:stCondLst>
                        <p:cond evt="onBegin" delay="indefinite"/>
                      </p:stCondLst>
                      <p:childTnLst>
                        <p:par>
                          <p:cTn id="202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3" dur="1" fill="hold"/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evt="onBegin" delay="indefinite"/>
                      </p:stCondLst>
                      <p:childTnLst>
                        <p:par>
                          <p:cTn id="205" presetID="1" presetClass="entr" presetSubtype="0" fill="hold" grpId="1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6" dur="1" fill="hold"/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7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8" dur="1" fill="hold"/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Begin" delay="indefinite"/>
              </p:prevCondLst>
            </p:seq>
          </p:childTnLst>
        </p:cTn>
      </p:par>
    </p:tnLst>
    <p:bldLst>
      <p:bldP spid="4" grpId="0" uiExpand="1" build="allAtOnce"/>
      <p:bldP spid="5" grpId="1" uiExpand="1" build="allAtOnce"/>
      <p:bldP spid="7" grpId="1" uiExpand="1" build="allAtOnce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ata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628" y="340000"/>
            <a:ext cx="58035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DM Sans"/>
              </a:rPr>
              <a:t>DEVELOPER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628" y="544550"/>
            <a:ext cx="5803500" cy="15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Geist ExtraBold"/>
              </a:rPr>
              <a:t>The quickstart either runs in 20 minutes or it doesn't.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628" y="2140000"/>
            <a:ext cx="58035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808080"/>
                </a:solidFill>
                <a:latin typeface="Geist"/>
              </a:rPr>
              <a:t>That's the real evaluation. Everything else is downstream.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628" y="3520000"/>
            <a:ext cx="5300372" cy="240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0628" y="3705000"/>
            <a:ext cx="493037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What earns trust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628" y="4165000"/>
            <a:ext cx="4930372" cy="1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Specific numbers with context.
Code that actually runs.
Honest about limitations and failure modes.
Error messages that tell you what actually went wrong.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6000" y="3520000"/>
            <a:ext cx="5300372" cy="240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000" y="3705000"/>
            <a:ext cx="493037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What destroys trust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1000" y="4165000"/>
            <a:ext cx="4930372" cy="1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"Powerful." "Seamless." "Enterprise-grade."
Code samples with no error handling.
Docs that describe what an API does
but not what happens when it fails.</a:t>
            </a:r>
          </a:p>
        </p:txBody>
      </p:sp>
    </p:spTree>
  </p:cSld>
  <p:clrMapOvr>
    <a:masterClrMapping/>
  </p:clrMapOvr>
  <p:timing>
    <p:tnLst>
      <p:par>
        <p:cTn id="215" dur="indefinite" restart="whenNotActive" nodeType="tmRoot">
          <p:childTnLst>
            <p:seq concurrent="1" nextAc="seek">
              <p:cTn id="216" dur="indefinite" nodeType="mainSeq">
                <p:childTnLst>
                  <p:par>
                    <p:cTn id="201" fill="hold">
                      <p:stCondLst>
                        <p:cond evt="onBegin" delay="indefinite"/>
                      </p:stCondLst>
                      <p:childTnLst>
                        <p:par>
                          <p:cTn id="202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3" dur="1" fill="hold"/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4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5" dur="1" fill="hold"/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6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7" dur="1" fill="hold"/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evt="onBegin" delay="indefinite"/>
                      </p:stCondLst>
                      <p:childTnLst>
                        <p:par>
                          <p:cTn id="209" presetID="1" presetClass="entr" presetSubtype="0" fill="hold" grpId="1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0" dur="1" fill="hold"/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1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2" dur="1" fill="hold"/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3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4" dur="1" fill="hold"/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Begin" delay="indefinite"/>
              </p:prevCondLst>
            </p:seq>
          </p:childTnLst>
        </p:cTn>
      </p:par>
    </p:tnLst>
    <p:bldLst>
      <p:bldP spid="6" grpId="0" uiExpand="1" build="allAtOnce"/>
      <p:bldP spid="7" grpId="0" uiExpand="1" build="allAtOnce"/>
      <p:bldP spid="8" grpId="0" uiExpand="1" build="allAtOnce"/>
      <p:bldP spid="9" grpId="1" uiExpand="1" build="allAtOnce"/>
      <p:bldP spid="10" grpId="1" uiExpand="1" build="allAtOnce"/>
      <p:bldP spid="11" grpId="1" uiExpand="1" build="allAtOnce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5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ata-logo-yel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80000"/>
            <a:ext cx="12192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DM Sans"/>
              </a:rPr>
              <a:t>PRIOR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40000"/>
            <a:ext cx="12192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Geist"/>
              </a:rPr>
              <a:t>CloudQuery  ·  8 weeks  ·  same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628" y="1020000"/>
            <a:ext cx="2500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0" i="0">
                <a:solidFill>
                  <a:srgbClr val="1A1A1A"/>
                </a:solidFill>
                <a:latin typeface="Geist ExtraBold"/>
              </a:rPr>
              <a:t>+440%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628" y="1620000"/>
            <a:ext cx="2500000" cy="3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Geist"/>
              </a:rPr>
              <a:t>docs traffic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9209" y="1020000"/>
            <a:ext cx="2500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0" i="0">
                <a:solidFill>
                  <a:srgbClr val="1A1A1A"/>
                </a:solidFill>
                <a:latin typeface="Geist ExtraBold"/>
              </a:rPr>
              <a:t>0→23/wk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59209" y="1620000"/>
            <a:ext cx="2500000" cy="3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Geist"/>
              </a:rPr>
              <a:t>quickstart completions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2790" y="1020000"/>
            <a:ext cx="2500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0" i="0">
                <a:solidFill>
                  <a:srgbClr val="1A1A1A"/>
                </a:solidFill>
                <a:latin typeface="Geist ExtraBold"/>
              </a:rPr>
              <a:t>4.9×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2790" y="1620000"/>
            <a:ext cx="2500000" cy="3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Geist"/>
              </a:rPr>
              <a:t>search impressions 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371" y="1020000"/>
            <a:ext cx="2500000" cy="6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0" i="0">
                <a:solidFill>
                  <a:srgbClr val="1A1A1A"/>
                </a:solidFill>
                <a:latin typeface="Geist ExtraBold"/>
              </a:rPr>
              <a:t>+5.2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6371" y="1620000"/>
            <a:ext cx="2500000" cy="3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Geist"/>
              </a:rPr>
              <a:t>avg position (4 wks)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85628" y="2040000"/>
            <a:ext cx="4020744" cy="2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628" y="2160000"/>
            <a:ext cx="10820744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1A"/>
                </a:solidFill>
                <a:latin typeface="Geist ExtraBold"/>
              </a:rPr>
              <a:t>19 organic MQLs  ·  1 confirmed $10K SQO — content first-touch attribution</a:t>
            </a:r>
          </a:p>
        </p:txBody>
      </p:sp>
      <p:pic>
        <p:nvPicPr>
          <p:cNvPr id="15" name="Picture 14" descr="ahrefs-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9026" y="2640000"/>
            <a:ext cx="4873947" cy="330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5628" y="6060000"/>
            <a:ext cx="10820744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Geist"/>
              </a:rPr>
              <a:t>SOURCE  Ahrefs  ·  cloudquery.io  ·  Jan 2022 – May 2026  ·  red box = start of engagement</a:t>
            </a:r>
          </a:p>
        </p:txBody>
      </p:sp>
    </p:spTree>
  </p:cSld>
  <p:clrMapOvr>
    <a:masterClrMapping/>
  </p:clrMapOvr>
  <p:timing>
    <p:tnLst>
      <p:par>
        <p:cTn id="227" dur="indefinite" restart="whenNotActive" nodeType="tmRoot">
          <p:childTnLst>
            <p:seq concurrent="1" nextAc="seek">
              <p:cTn id="228" dur="indefinite" nodeType="mainSeq">
                <p:childTnLst>
                  <p:par>
                    <p:cTn id="201" fill="hold">
                      <p:stCondLst>
                        <p:cond evt="onBegin" delay="indefinite"/>
                      </p:stCondLst>
                      <p:childTnLst>
                        <p:par>
                          <p:cTn id="202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3" dur="1" fill="hold"/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4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5" dur="1" fill="hold"/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06" fill="hold">
                      <p:stCondLst>
                        <p:cond evt="onBegin" delay="indefinite"/>
                      </p:stCondLst>
                      <p:childTnLst>
                        <p:par>
                          <p:cTn id="207" presetID="1" presetClass="entr" presetSubtype="0" fill="hold" grpId="1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8" dur="1" fill="hold"/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9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0" dur="1" fill="hold"/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evt="onBegin" delay="indefinite"/>
                      </p:stCondLst>
                      <p:childTnLst>
                        <p:par>
                          <p:cTn id="212" presetID="1" presetClass="entr" presetSubtype="0" fill="hold" grpId="2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3" dur="1" fill="hold"/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4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5" dur="1" fill="hold"/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6" fill="hold">
                      <p:stCondLst>
                        <p:cond evt="onBegin" delay="indefinite"/>
                      </p:stCondLst>
                      <p:childTnLst>
                        <p:par>
                          <p:cTn id="217" presetID="1" presetClass="entr" presetSubtype="0" fill="hold" grpId="3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8" dur="1" fill="hold"/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9" presetID="1" presetClass="entr" presetSubtype="0" fill="hold" grpId="3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0" dur="1" fill="hold"/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21" fill="hold">
                      <p:stCondLst>
                        <p:cond evt="onBegin" delay="indefinite"/>
                      </p:stCondLst>
                      <p:childTnLst>
                        <p:par>
                          <p:cTn id="222" presetID="1" presetClass="entr" presetSubtype="0" fill="hold" grpId="4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3" dur="1" fill="hold"/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24" fill="hold">
                      <p:stCondLst>
                        <p:cond evt="onBegin" delay="indefinite"/>
                      </p:stCondLst>
                      <p:childTnLst>
                        <p:par>
                          <p:cTn id="225" presetID="1" presetClass="entr" presetSubtype="0" fill="hold" grpId="5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6" dur="1" fill="hold"/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Begin" delay="indefinite"/>
              </p:prevCondLst>
            </p:seq>
          </p:childTnLst>
        </p:cTn>
      </p:par>
    </p:tnLst>
    <p:bldLst>
      <p:bldP spid="5" grpId="0" uiExpand="1" build="allAtOnce"/>
      <p:bldP spid="6" grpId="0" uiExpand="1" build="allAtOnce"/>
      <p:bldP spid="7" grpId="1" uiExpand="1" build="allAtOnce"/>
      <p:bldP spid="8" grpId="1" uiExpand="1" build="allAtOnce"/>
      <p:bldP spid="9" grpId="2" uiExpand="1" build="allAtOnce"/>
      <p:bldP spid="10" grpId="2" uiExpand="1" build="allAtOnce"/>
      <p:bldP spid="11" grpId="3" uiExpand="1" build="allAtOnce"/>
      <p:bldP spid="12" grpId="3" uiExpand="1" build="allAtOnce"/>
      <p:bldP spid="14" grpId="4" uiExpand="1" build="allAtOnce"/>
      <p:bldP spid="15" grpId="5" uiExpand="1" build="allAtOnce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5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ata-logo-yel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2200000"/>
            <a:ext cx="1219200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DM Sans"/>
              </a:rPr>
              <a:t>PART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620000"/>
            <a:ext cx="12192000" cy="1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1A1A1A"/>
                </a:solidFill>
                <a:latin typeface="Geist ExtraBold"/>
              </a:rPr>
              <a:t>90-Day GTM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50000"/>
            <a:ext cx="1219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1A1A"/>
                </a:solidFill>
                <a:latin typeface="Geist"/>
              </a:rPr>
              <a:t>DevRel earns developer trust. PMM turns it into pipeline. These are different jobs.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ata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628" y="340000"/>
            <a:ext cx="58035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DM Sans"/>
              </a:rPr>
              <a:t>COMPETITIVE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628" y="544550"/>
            <a:ext cx="5803500" cy="15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000000"/>
                </a:solidFill>
                <a:latin typeface="Geist ExtraBold"/>
              </a:rPr>
              <a:t>The competitor that matters isn't Fivetran.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628" y="1780000"/>
            <a:ext cx="10820744" cy="42000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5628" y="1890000"/>
            <a:ext cx="21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DM Sans"/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45628" y="1890000"/>
            <a:ext cx="4200372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DM Sans"/>
              </a:rPr>
              <a:t>CDATA CONNECT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6000" y="1890000"/>
            <a:ext cx="4200372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DM Sans"/>
              </a:rPr>
              <a:t>COMPOSIO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628" y="2200000"/>
            <a:ext cx="10820744" cy="470000"/>
          </a:xfrm>
          <a:prstGeom prst="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628" y="2200000"/>
            <a:ext cx="10820744" cy="18000"/>
          </a:xfrm>
          <a:prstGeom prst="rect">
            <a:avLst/>
          </a:prstGeom>
          <a:solidFill>
            <a:srgbClr val="D0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628" y="2310000"/>
            <a:ext cx="214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Geist ExtraBold"/>
              </a:rPr>
              <a:t>Connectivity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5628" y="2300000"/>
            <a:ext cx="414037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Geist"/>
              </a:rPr>
              <a:t>350+  —  ERP, databases, SaaS, financial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6000" y="2300000"/>
            <a:ext cx="414037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080"/>
                </a:solidFill>
                <a:latin typeface="Geist"/>
              </a:rPr>
              <a:t>500+  —  SaaS-heavy: Slack, Jira, GitHub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628" y="2670000"/>
            <a:ext cx="10820744" cy="470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628" y="2670000"/>
            <a:ext cx="10820744" cy="18000"/>
          </a:xfrm>
          <a:prstGeom prst="rect">
            <a:avLst/>
          </a:prstGeom>
          <a:solidFill>
            <a:srgbClr val="D0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628" y="2780000"/>
            <a:ext cx="214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Geist ExtraBold"/>
              </a:rPr>
              <a:t>Context — interface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5628" y="2770000"/>
            <a:ext cx="414037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Geist"/>
              </a:rPr>
              <a:t>SQL-queryable live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06000" y="2770000"/>
            <a:ext cx="414037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080"/>
                </a:solidFill>
                <a:latin typeface="Geist"/>
              </a:rPr>
              <a:t>Action-based tool calls  —  no SQL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628" y="3140000"/>
            <a:ext cx="10820744" cy="470000"/>
          </a:xfrm>
          <a:prstGeom prst="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628" y="3140000"/>
            <a:ext cx="10820744" cy="18000"/>
          </a:xfrm>
          <a:prstGeom prst="rect">
            <a:avLst/>
          </a:prstGeom>
          <a:solidFill>
            <a:srgbClr val="D0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628" y="3250000"/>
            <a:ext cx="214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Geist ExtraBold"/>
              </a:rPr>
              <a:t>Context —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5628" y="3240000"/>
            <a:ext cx="414037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Geist"/>
              </a:rPr>
              <a:t>JDBC/ODBC, pandas, SQLAlchemy, BI 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00" y="3240000"/>
            <a:ext cx="414037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080"/>
                </a:solidFill>
                <a:latin typeface="Geist"/>
              </a:rPr>
              <a:t>✗  Not supported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628" y="3610000"/>
            <a:ext cx="10820744" cy="470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628" y="3610000"/>
            <a:ext cx="10820744" cy="18000"/>
          </a:xfrm>
          <a:prstGeom prst="rect">
            <a:avLst/>
          </a:prstGeom>
          <a:solidFill>
            <a:srgbClr val="D0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628" y="3720000"/>
            <a:ext cx="214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Geist ExtraBold"/>
              </a:rPr>
              <a:t>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45628" y="3710000"/>
            <a:ext cx="414037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Geist"/>
              </a:rPr>
              <a:t>SAP, NetSuite, Workday, Oracle  +  SOC2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6000" y="3710000"/>
            <a:ext cx="414037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080"/>
                </a:solidFill>
                <a:latin typeface="Geist"/>
              </a:rPr>
              <a:t>Weak enterprise depth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628" y="4080000"/>
            <a:ext cx="10820744" cy="470000"/>
          </a:xfrm>
          <a:prstGeom prst="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628" y="4080000"/>
            <a:ext cx="10820744" cy="18000"/>
          </a:xfrm>
          <a:prstGeom prst="rect">
            <a:avLst/>
          </a:prstGeom>
          <a:solidFill>
            <a:srgbClr val="D0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5628" y="4190000"/>
            <a:ext cx="214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Geist ExtraBold"/>
              </a:rPr>
              <a:t>Developer awareness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45628" y="4180000"/>
            <a:ext cx="414037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4A4A"/>
                </a:solidFill>
                <a:latin typeface="Geist"/>
              </a:rPr>
              <a:t>Low  —  absent from AEO responses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06000" y="4180000"/>
            <a:ext cx="414037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080"/>
                </a:solidFill>
                <a:latin typeface="Geist"/>
              </a:rPr>
              <a:t>High  —  named "best overall" by Claude</a:t>
            </a:r>
          </a:p>
        </p:txBody>
      </p:sp>
    </p:spTree>
  </p:cSld>
  <p:clrMapOvr>
    <a:masterClrMapping/>
  </p:clrMapOvr>
  <p:timing>
    <p:tnLst>
      <p:par>
        <p:cTn id="256" dur="indefinite" restart="whenNotActive" nodeType="tmRoot">
          <p:childTnLst>
            <p:seq concurrent="1" nextAc="seek">
              <p:cTn id="257" dur="indefinite" nodeType="mainSeq">
                <p:childTnLst>
                  <p:par>
                    <p:cTn id="201" fill="hold">
                      <p:stCondLst>
                        <p:cond evt="onBegin" delay="indefinite"/>
                      </p:stCondLst>
                      <p:childTnLst>
                        <p:par>
                          <p:cTn id="202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3" dur="1" fill="hold"/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4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5" dur="1" fill="hold"/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6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7" dur="1" fill="hold"/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8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9" dur="1" fill="hold"/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0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1" dur="1" fill="hold"/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2" fill="hold">
                      <p:stCondLst>
                        <p:cond evt="onBegin" delay="indefinite"/>
                      </p:stCondLst>
                      <p:childTnLst>
                        <p:par>
                          <p:cTn id="213" presetID="1" presetClass="entr" presetSubtype="0" fill="hold" grpId="1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4" dur="1" fill="hold"/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5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6" dur="1" fill="hold"/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7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8" dur="1" fill="hold"/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9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0" dur="1" fill="hold"/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1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2" dur="1" fill="hold"/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23" fill="hold">
                      <p:stCondLst>
                        <p:cond evt="onBegin" delay="indefinite"/>
                      </p:stCondLst>
                      <p:childTnLst>
                        <p:par>
                          <p:cTn id="224" presetID="1" presetClass="entr" presetSubtype="0" fill="hold" grpId="2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5" dur="1" fill="hold"/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6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7" dur="1" fill="hold"/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8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9" dur="1" fill="hold"/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30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1" dur="1" fill="hold"/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32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3" dur="1" fill="hold"/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34" fill="hold">
                      <p:stCondLst>
                        <p:cond evt="onBegin" delay="indefinite"/>
                      </p:stCondLst>
                      <p:childTnLst>
                        <p:par>
                          <p:cTn id="235" presetID="1" presetClass="entr" presetSubtype="0" fill="hold" grpId="3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6" dur="1" fill="hold"/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37" presetID="1" presetClass="entr" presetSubtype="0" fill="hold" grpId="3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8" dur="1" fill="hold"/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39" presetID="1" presetClass="entr" presetSubtype="0" fill="hold" grpId="3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0" dur="1" fill="hold"/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41" presetID="1" presetClass="entr" presetSubtype="0" fill="hold" grpId="3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2" dur="1" fill="hold"/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43" presetID="1" presetClass="entr" presetSubtype="0" fill="hold" grpId="3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4" dur="1" fill="hold"/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5" fill="hold">
                      <p:stCondLst>
                        <p:cond evt="onBegin" delay="indefinite"/>
                      </p:stCondLst>
                      <p:childTnLst>
                        <p:par>
                          <p:cTn id="246" presetID="1" presetClass="entr" presetSubtype="0" fill="hold" grpId="4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7" dur="1" fill="hold"/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48" presetID="1" presetClass="entr" presetSubtype="0" fill="hold" grpId="4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9" dur="1" fill="hold"/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50" presetID="1" presetClass="entr" presetSubtype="0" fill="hold" grpId="4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1" dur="1" fill="hold"/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52" presetID="1" presetClass="entr" presetSubtype="0" fill="hold" grpId="4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3" dur="1" fill="hold"/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54" presetID="1" presetClass="entr" presetSubtype="0" fill="hold" grpId="4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5" dur="1" fill="hold"/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Begin" delay="indefinite"/>
              </p:prevCondLst>
            </p:seq>
          </p:childTnLst>
        </p:cTn>
      </p:par>
    </p:tnLst>
    <p:bldLst>
      <p:bldP spid="9" grpId="0" uiExpand="1" build="allAtOnce"/>
      <p:bldP spid="10" grpId="0" uiExpand="1" build="allAtOnce"/>
      <p:bldP spid="11" grpId="0" uiExpand="1" build="allAtOnce"/>
      <p:bldP spid="12" grpId="0" uiExpand="1" build="allAtOnce"/>
      <p:bldP spid="13" grpId="0" uiExpand="1" build="allAtOnce"/>
      <p:bldP spid="14" grpId="1" uiExpand="1" build="allAtOnce"/>
      <p:bldP spid="15" grpId="1" uiExpand="1" build="allAtOnce"/>
      <p:bldP spid="16" grpId="1" uiExpand="1" build="allAtOnce"/>
      <p:bldP spid="17" grpId="1" uiExpand="1" build="allAtOnce"/>
      <p:bldP spid="18" grpId="1" uiExpand="1" build="allAtOnce"/>
      <p:bldP spid="19" grpId="2" uiExpand="1" build="allAtOnce"/>
      <p:bldP spid="20" grpId="2" uiExpand="1" build="allAtOnce"/>
      <p:bldP spid="21" grpId="2" uiExpand="1" build="allAtOnce"/>
      <p:bldP spid="22" grpId="2" uiExpand="1" build="allAtOnce"/>
      <p:bldP spid="23" grpId="2" uiExpand="1" build="allAtOnce"/>
      <p:bldP spid="24" grpId="3" uiExpand="1" build="allAtOnce"/>
      <p:bldP spid="25" grpId="3" uiExpand="1" build="allAtOnce"/>
      <p:bldP spid="26" grpId="3" uiExpand="1" build="allAtOnce"/>
      <p:bldP spid="27" grpId="3" uiExpand="1" build="allAtOnce"/>
      <p:bldP spid="28" grpId="3" uiExpand="1" build="allAtOnce"/>
      <p:bldP spid="29" grpId="4" uiExpand="1" build="allAtOnce"/>
      <p:bldP spid="30" grpId="4" uiExpand="1" build="allAtOnce"/>
      <p:bldP spid="31" grpId="4" uiExpand="1" build="allAtOnce"/>
      <p:bldP spid="32" grpId="4" uiExpand="1" build="allAtOnce"/>
      <p:bldP spid="33" grpId="4" uiExpand="1" build="allAtOnce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5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ata-logo-yel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80000"/>
            <a:ext cx="12192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DM Sans"/>
              </a:rPr>
              <a:t>THE DISCOVERABILITY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628" y="1080000"/>
            <a:ext cx="10820744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1A1A1A"/>
                </a:solidFill>
                <a:latin typeface="Geist ExtraBold"/>
              </a:rPr>
              <a:t>CData is absent.
Across every channel developers use.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5628" y="3200000"/>
            <a:ext cx="3420744" cy="34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5628" y="3400000"/>
            <a:ext cx="22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DM Sans"/>
              </a:rPr>
              <a:t>SEARCH (SEO)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85628" y="3400000"/>
            <a:ext cx="8320744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Geist"/>
              </a:rPr>
              <a:t>Not ranking for "Python DB-API Salesforce," "MCP server enterprise data," or any high-intent query.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5628" y="3780000"/>
            <a:ext cx="22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DM Sans"/>
              </a:rPr>
              <a:t>AI RESPONSES (AEO)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85628" y="3780000"/>
            <a:ext cx="8320744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Geist"/>
              </a:rPr>
              <a:t>Claude, Perplexity, GPT-4o return Composio, Zapier, MuleSoft — CData absent from every test query.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628" y="4160000"/>
            <a:ext cx="22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DM Sans"/>
              </a:rPr>
              <a:t>COMMUNITY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5628" y="4160000"/>
            <a:ext cx="8320744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Geist"/>
              </a:rPr>
              <a:t>~150K developers write Composio READMEs, Stack Overflow answers, GitHub repos. CData has almost none of this.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628" y="4900000"/>
            <a:ext cx="10820744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1A"/>
                </a:solidFill>
                <a:latin typeface="Geist ExtraBold"/>
              </a:rPr>
              <a:t>Same fix for all three: ship specific, runnable, factual content where engineers actually look.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685628" y="6300000"/>
            <a:ext cx="10820744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Geist"/>
              </a:rPr>
              <a:t>SOURCE  Baseline run 2026-05-08  ·  Claude Sonnet 4.6  ·  All three surfaces re-audited quarterly</a:t>
            </a:r>
          </a:p>
        </p:txBody>
      </p:sp>
    </p:spTree>
  </p:cSld>
  <p:clrMapOvr>
    <a:masterClrMapping/>
  </p:clrMapOvr>
  <p:timing>
    <p:tnLst>
      <p:par>
        <p:cTn id="219" dur="indefinite" restart="whenNotActive" nodeType="tmRoot">
          <p:childTnLst>
            <p:seq concurrent="1" nextAc="seek">
              <p:cTn id="220" dur="indefinite" nodeType="mainSeq">
                <p:childTnLst>
                  <p:par>
                    <p:cTn id="201" fill="hold">
                      <p:stCondLst>
                        <p:cond evt="onBegin" delay="indefinite"/>
                      </p:stCondLst>
                      <p:childTnLst>
                        <p:par>
                          <p:cTn id="202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3" dur="1" fill="hold"/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evt="onBegin" delay="indefinite"/>
                      </p:stCondLst>
                      <p:childTnLst>
                        <p:par>
                          <p:cTn id="205" presetID="1" presetClass="entr" presetSubtype="0" fill="hold" grpId="1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6" dur="1" fill="hold"/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7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8" dur="1" fill="hold"/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9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0" dur="1" fill="hold"/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1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2" dur="1" fill="hold"/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3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4" dur="1" fill="hold"/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5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6" dur="1" fill="hold"/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7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8" dur="1" fill="hold"/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Begin" delay="indefinite"/>
              </p:prevCondLst>
            </p:seq>
          </p:childTnLst>
        </p:cTn>
      </p:par>
    </p:tnLst>
    <p:bldLst>
      <p:bldP spid="4" grpId="0" uiExpand="1" build="allAtOnce"/>
      <p:bldP spid="6" grpId="1" uiExpand="1" build="allAtOnce"/>
      <p:bldP spid="7" grpId="1" uiExpand="1" build="allAtOnce"/>
      <p:bldP spid="8" grpId="1" uiExpand="1" build="allAtOnce"/>
      <p:bldP spid="9" grpId="1" uiExpand="1" build="allAtOnce"/>
      <p:bldP spid="10" grpId="1" uiExpand="1" build="allAtOnce"/>
      <p:bldP spid="11" grpId="1" uiExpand="1" build="allAtOnce"/>
      <p:bldP spid="12" grpId="1" uiExpand="1" build="allAtOnce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ata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628" y="340000"/>
            <a:ext cx="58035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DM Sans"/>
              </a:rPr>
              <a:t>DAYS 1–30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628" y="544550"/>
            <a:ext cx="5803500" cy="15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Geist ExtraBold"/>
              </a:rPr>
              <a:t>Test the integration flows. Log what breaks. Fix it before prospects find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628" y="2140000"/>
            <a:ext cx="58035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808080"/>
                </a:solidFill>
                <a:latin typeface="Geist"/>
              </a:rPr>
              <a:t>Already started. Live artifact: dx-audit.md.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628" y="3520000"/>
            <a:ext cx="3483581" cy="308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0628" y="3705000"/>
            <a:ext cx="3113581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01  Audit in 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628" y="4165000"/>
            <a:ext cx="3113581" cy="2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Built with the product. Time-to-first-API-call: ~15 min ✅
· Positioning — website vs. what engineers need
· Content gaps — friction points = unanswered questions
· Discoverability — Search, AI, Community (May 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4209" y="3520000"/>
            <a:ext cx="3483581" cy="308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9209" y="3705000"/>
            <a:ext cx="3113581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02  First session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209" y="4165000"/>
            <a:ext cx="3113581" cy="2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· Accept header bug: every copy-pasted example returns 406
· Misleading 401: says "token" failed — username is wrong
· Setup guide shows steps you already completed
Filed as Product roadmap input — not a slide deck.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2790" y="3520000"/>
            <a:ext cx="3483581" cy="308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790" y="3705000"/>
            <a:ext cx="3113581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03  Audit + fix concurrently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790" y="4165000"/>
            <a:ext cx="3113581" cy="2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High-severity fixes ship immediately — don't wait for day 30.
· Product + Eng: walk the journey live, cold
· Sales + CS: recurring objections = content gaps
· Leadership: developer + enterprise tracks named separately</a:t>
            </a:r>
          </a:p>
        </p:txBody>
      </p:sp>
    </p:spTree>
  </p:cSld>
  <p:clrMapOvr>
    <a:masterClrMapping/>
  </p:clrMapOvr>
  <p:timing>
    <p:tnLst>
      <p:par>
        <p:cTn id="222" dur="indefinite" restart="whenNotActive" nodeType="tmRoot">
          <p:childTnLst>
            <p:seq concurrent="1" nextAc="seek">
              <p:cTn id="223" dur="indefinite" nodeType="mainSeq">
                <p:childTnLst>
                  <p:par>
                    <p:cTn id="201" fill="hold">
                      <p:stCondLst>
                        <p:cond evt="onBegin" delay="indefinite"/>
                      </p:stCondLst>
                      <p:childTnLst>
                        <p:par>
                          <p:cTn id="202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3" dur="1" fill="hold"/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4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5" dur="1" fill="hold"/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6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7" dur="1" fill="hold"/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evt="onBegin" delay="indefinite"/>
                      </p:stCondLst>
                      <p:childTnLst>
                        <p:par>
                          <p:cTn id="209" presetID="1" presetClass="entr" presetSubtype="0" fill="hold" grpId="1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0" dur="1" fill="hold"/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1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2" dur="1" fill="hold"/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3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4" dur="1" fill="hold"/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evt="onBegin" delay="indefinite"/>
                      </p:stCondLst>
                      <p:childTnLst>
                        <p:par>
                          <p:cTn id="216" presetID="1" presetClass="entr" presetSubtype="0" fill="hold" grpId="2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7" dur="1" fill="hold"/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8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9" dur="1" fill="hold"/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0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1" dur="1" fill="hold"/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Begin" delay="indefinite"/>
              </p:prevCondLst>
            </p:seq>
          </p:childTnLst>
        </p:cTn>
      </p:par>
    </p:tnLst>
    <p:bldLst>
      <p:bldP spid="6" grpId="0" uiExpand="1" build="allAtOnce"/>
      <p:bldP spid="7" grpId="0" uiExpand="1" build="allAtOnce"/>
      <p:bldP spid="8" grpId="0" uiExpand="1" build="allAtOnce"/>
      <p:bldP spid="9" grpId="1" uiExpand="1" build="allAtOnce"/>
      <p:bldP spid="10" grpId="1" uiExpand="1" build="allAtOnce"/>
      <p:bldP spid="11" grpId="1" uiExpand="1" build="allAtOnce"/>
      <p:bldP spid="12" grpId="2" uiExpand="1" build="allAtOnce"/>
      <p:bldP spid="13" grpId="2" uiExpand="1" build="allAtOnce"/>
      <p:bldP spid="14" grpId="2" uiExpand="1" build="allAtOnce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ata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628" y="340000"/>
            <a:ext cx="58035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DM Sans"/>
              </a:rPr>
              <a:t>CONTENT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628" y="544550"/>
            <a:ext cx="10820744" cy="15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1A1A1A"/>
                </a:solidFill>
                <a:latin typeface="Geist ExtraBold"/>
              </a:rPr>
              <a:t>Developers evaluate. Enterprises buy. Content has to serve both.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628" y="2500000"/>
            <a:ext cx="3483581" cy="308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0628" y="2685000"/>
            <a:ext cx="3113581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Developer evaluation 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0628" y="3145000"/>
            <a:ext cx="3113581" cy="2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"Does this work in under 20 minutes?"
· Quickstart guides + sample repos to clone and run
· Integration tutorials: MCP, DB-API, pandas, SQLAlchemy
· Auth reference: OAuth, API keys, SSO patterns
· Demo videos for YouTube and developer channels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4209" y="2500000"/>
            <a:ext cx="3483581" cy="308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9209" y="2685000"/>
            <a:ext cx="3113581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The bridge: technical decision-maker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9209" y="3145000"/>
            <a:ext cx="3113581" cy="2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"Can I justify this to my org?"
· CData vs. Composio vs. DIY — honest, reproducible benchmarks
· Architecture doc: live queries vs. batch ELT for AI
· ROI case: managed vs. building + maintaining connectors
Technical enough for leads. Legible enough for executives.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2790" y="2500000"/>
            <a:ext cx="3483581" cy="308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790" y="2685000"/>
            <a:ext cx="3113581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Enterprise buying track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790" y="3145000"/>
            <a:ext cx="3113581" cy="2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"Can we trust this at scale? Who else uses it?"
· Security + compliance: SOC2, high-volume, auth at scale
· Customer references: Anthropic, Databricks, Palantir, Microsoft
· Sales battlecard + code example for follow-ups
PMM owns this — Sales shouldn't have to build it.</a:t>
            </a:r>
          </a:p>
        </p:txBody>
      </p:sp>
    </p:spTree>
  </p:cSld>
  <p:clrMapOvr>
    <a:masterClrMapping/>
  </p:clrMapOvr>
  <p:timing>
    <p:tnLst>
      <p:par>
        <p:cTn id="222" dur="indefinite" restart="whenNotActive" nodeType="tmRoot">
          <p:childTnLst>
            <p:seq concurrent="1" nextAc="seek">
              <p:cTn id="223" dur="indefinite" nodeType="mainSeq">
                <p:childTnLst>
                  <p:par>
                    <p:cTn id="201" fill="hold">
                      <p:stCondLst>
                        <p:cond evt="onBegin" delay="indefinite"/>
                      </p:stCondLst>
                      <p:childTnLst>
                        <p:par>
                          <p:cTn id="202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3" dur="1" fill="hold"/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4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5" dur="1" fill="hold"/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6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7" dur="1" fill="hold"/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evt="onBegin" delay="indefinite"/>
                      </p:stCondLst>
                      <p:childTnLst>
                        <p:par>
                          <p:cTn id="209" presetID="1" presetClass="entr" presetSubtype="0" fill="hold" grpId="1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0" dur="1" fill="hold"/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1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2" dur="1" fill="hold"/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3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4" dur="1" fill="hold"/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evt="onBegin" delay="indefinite"/>
                      </p:stCondLst>
                      <p:childTnLst>
                        <p:par>
                          <p:cTn id="216" presetID="1" presetClass="entr" presetSubtype="0" fill="hold" grpId="2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7" dur="1" fill="hold"/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8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9" dur="1" fill="hold"/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0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1" dur="1" fill="hold"/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Begin" delay="indefinite"/>
              </p:prevCondLst>
            </p:seq>
          </p:childTnLst>
        </p:cTn>
      </p:par>
    </p:tnLst>
    <p:bldLst>
      <p:bldP spid="5" grpId="0" uiExpand="1" build="allAtOnce"/>
      <p:bldP spid="6" grpId="0" uiExpand="1" build="allAtOnce"/>
      <p:bldP spid="7" grpId="0" uiExpand="1" build="allAtOnce"/>
      <p:bldP spid="8" grpId="1" uiExpand="1" build="allAtOnce"/>
      <p:bldP spid="9" grpId="1" uiExpand="1" build="allAtOnce"/>
      <p:bldP spid="10" grpId="1" uiExpand="1" build="allAtOnce"/>
      <p:bldP spid="11" grpId="2" uiExpand="1" build="allAtOnce"/>
      <p:bldP spid="12" grpId="2" uiExpand="1" build="allAtOnce"/>
      <p:bldP spid="13" grpId="2" uiExpand="1" build="allAtOnce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ata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628" y="340000"/>
            <a:ext cx="58035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DM Sans"/>
              </a:rPr>
              <a:t>DAYS 31–60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628" y="544550"/>
            <a:ext cx="5803500" cy="15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0" i="0">
                <a:solidFill>
                  <a:srgbClr val="000000"/>
                </a:solidFill>
                <a:latin typeface="Geist ExtraBold"/>
              </a:rPr>
              <a:t>Fix before you publish.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628" y="2140000"/>
            <a:ext cx="58035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808080"/>
                </a:solidFill>
                <a:latin typeface="Geist"/>
              </a:rPr>
              <a:t>Messaging architecture. Product launches. Website copy. Sales enablement.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628" y="3520000"/>
            <a:ext cx="3483581" cy="308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0628" y="3705000"/>
            <a:ext cx="3113581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01  Messaging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628" y="4165000"/>
            <a:ext cx="3113581" cy="2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Positioning brief: three audience segments, key messages per segment, how the 3 Cs (Connectivity, Context, Control) translate to each persona. Competitive differentiation one-pager: DIY vs. Composio vs. CData — grounded in technical accuracy, built for Sales conversations.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4209" y="3520000"/>
            <a:ext cx="3483581" cy="308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9209" y="3705000"/>
            <a:ext cx="3113581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02  Product launch GTM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209" y="4165000"/>
            <a:ext cx="3113581" cy="2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Developer Edition + Python SDK: launch together, same week — complementary paths to the same data layer. CLI: launch as beta with explicit GA criteria stated publicly. Coordinate across Product, Engineering, Sales, and Marketing. PMM owns launch copy, assets, and the Sales brief.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2790" y="3520000"/>
            <a:ext cx="3483581" cy="308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790" y="3705000"/>
            <a:ext cx="3113581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03  Website + Sales enablement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790" y="4165000"/>
            <a:ext cx="3113581" cy="2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Write the developer-facing pages directly — product pages, use case pages, technical landing pages. PMM writes this copy; it doesn't get briefed out. Sales battlecard: Composio comparison, MCP vs. SDK decision guide, one working code example reps can paste into follow-up emails.</a:t>
            </a:r>
          </a:p>
        </p:txBody>
      </p:sp>
    </p:spTree>
  </p:cSld>
  <p:clrMapOvr>
    <a:masterClrMapping/>
  </p:clrMapOvr>
  <p:timing>
    <p:tnLst>
      <p:par>
        <p:cTn id="222" dur="indefinite" restart="whenNotActive" nodeType="tmRoot">
          <p:childTnLst>
            <p:seq concurrent="1" nextAc="seek">
              <p:cTn id="223" dur="indefinite" nodeType="mainSeq">
                <p:childTnLst>
                  <p:par>
                    <p:cTn id="201" fill="hold">
                      <p:stCondLst>
                        <p:cond evt="onBegin" delay="indefinite"/>
                      </p:stCondLst>
                      <p:childTnLst>
                        <p:par>
                          <p:cTn id="202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3" dur="1" fill="hold"/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4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5" dur="1" fill="hold"/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6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7" dur="1" fill="hold"/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evt="onBegin" delay="indefinite"/>
                      </p:stCondLst>
                      <p:childTnLst>
                        <p:par>
                          <p:cTn id="209" presetID="1" presetClass="entr" presetSubtype="0" fill="hold" grpId="1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0" dur="1" fill="hold"/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1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2" dur="1" fill="hold"/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3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4" dur="1" fill="hold"/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evt="onBegin" delay="indefinite"/>
                      </p:stCondLst>
                      <p:childTnLst>
                        <p:par>
                          <p:cTn id="216" presetID="1" presetClass="entr" presetSubtype="0" fill="hold" grpId="2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7" dur="1" fill="hold"/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8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9" dur="1" fill="hold"/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0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1" dur="1" fill="hold"/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Begin" delay="indefinite"/>
              </p:prevCondLst>
            </p:seq>
          </p:childTnLst>
        </p:cTn>
      </p:par>
    </p:tnLst>
    <p:bldLst>
      <p:bldP spid="6" grpId="0" uiExpand="1" build="allAtOnce"/>
      <p:bldP spid="7" grpId="0" uiExpand="1" build="allAtOnce"/>
      <p:bldP spid="8" grpId="0" uiExpand="1" build="allAtOnce"/>
      <p:bldP spid="9" grpId="1" uiExpand="1" build="allAtOnce"/>
      <p:bldP spid="10" grpId="1" uiExpand="1" build="allAtOnce"/>
      <p:bldP spid="11" grpId="1" uiExpand="1" build="allAtOnce"/>
      <p:bldP spid="12" grpId="2" uiExpand="1" build="allAtOnce"/>
      <p:bldP spid="13" grpId="2" uiExpand="1" build="allAtOnce"/>
      <p:bldP spid="14" grpId="2" uiExpand="1" build="allAtOnce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ata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628" y="340000"/>
            <a:ext cx="58035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DM Sans"/>
              </a:rPr>
              <a:t>DAYS 61–90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628" y="544550"/>
            <a:ext cx="5803500" cy="15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Geist ExtraBold"/>
              </a:rPr>
              <a:t>Set the standard. Build the machine that scales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628" y="2140000"/>
            <a:ext cx="58035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808080"/>
                </a:solidFill>
                <a:latin typeface="Geist"/>
              </a:rPr>
              <a:t>First output sets the quality bar. The program runs after day 90.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628" y="3520000"/>
            <a:ext cx="3483581" cy="308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0628" y="3705000"/>
            <a:ext cx="3113581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01  Content program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628" y="4165000"/>
            <a:ext cx="3113581" cy="2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PMM writes: positioning, competitive, launch content.
DevRel writes: community, tutorials, hands-on code.
Content types: quickstarts, architecture docs, auth references, comparison pages, demo videos.
Distribution: blog, docs, GitHub, YouTube, developer channels.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4209" y="3520000"/>
            <a:ext cx="3483581" cy="308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9209" y="3705000"/>
            <a:ext cx="3113581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02  First output: benchmark pieces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209" y="4165000"/>
            <a:ext cx="3113581" cy="2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"CData vs. Composio: when SQL beats action-based tools" — sets the competitive content bar.
MCP quickstart video + written guide — sets the tutorial bar.
"Building vs. buying data connectivity for AI agents" — the ROI case with reproducible numbers.
Three pieces. One per content type. Each one a template for what follows.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2790" y="3520000"/>
            <a:ext cx="3483581" cy="308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7790" y="3705000"/>
            <a:ext cx="3113581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Geist ExtraBold"/>
              </a:rPr>
              <a:t>03  Day 90 deliverable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790" y="4165000"/>
            <a:ext cx="3113581" cy="2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4A4A"/>
                </a:solidFill>
                <a:latin typeface="Geist"/>
              </a:rPr>
              <a:t>A content program, not a content list: editorial calendar, content types, distribution channels, ownership map, and attribution model — all running.
Evidence-first review: what shipped, what moved, what we'd do differently.</a:t>
            </a:r>
          </a:p>
        </p:txBody>
      </p:sp>
    </p:spTree>
  </p:cSld>
  <p:clrMapOvr>
    <a:masterClrMapping/>
  </p:clrMapOvr>
  <p:timing>
    <p:tnLst>
      <p:par>
        <p:cTn id="222" dur="indefinite" restart="whenNotActive" nodeType="tmRoot">
          <p:childTnLst>
            <p:seq concurrent="1" nextAc="seek">
              <p:cTn id="223" dur="indefinite" nodeType="mainSeq">
                <p:childTnLst>
                  <p:par>
                    <p:cTn id="201" fill="hold">
                      <p:stCondLst>
                        <p:cond evt="onBegin" delay="indefinite"/>
                      </p:stCondLst>
                      <p:childTnLst>
                        <p:par>
                          <p:cTn id="202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3" dur="1" fill="hold"/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4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5" dur="1" fill="hold"/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6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7" dur="1" fill="hold"/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evt="onBegin" delay="indefinite"/>
                      </p:stCondLst>
                      <p:childTnLst>
                        <p:par>
                          <p:cTn id="209" presetID="1" presetClass="entr" presetSubtype="0" fill="hold" grpId="1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0" dur="1" fill="hold"/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1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2" dur="1" fill="hold"/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3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4" dur="1" fill="hold"/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evt="onBegin" delay="indefinite"/>
                      </p:stCondLst>
                      <p:childTnLst>
                        <p:par>
                          <p:cTn id="216" presetID="1" presetClass="entr" presetSubtype="0" fill="hold" grpId="2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7" dur="1" fill="hold"/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8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9" dur="1" fill="hold"/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0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1" dur="1" fill="hold"/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Begin" delay="indefinite"/>
              </p:prevCondLst>
            </p:seq>
          </p:childTnLst>
        </p:cTn>
      </p:par>
    </p:tnLst>
    <p:bldLst>
      <p:bldP spid="6" grpId="0" uiExpand="1" build="allAtOnce"/>
      <p:bldP spid="7" grpId="0" uiExpand="1" build="allAtOnce"/>
      <p:bldP spid="8" grpId="0" uiExpand="1" build="allAtOnce"/>
      <p:bldP spid="9" grpId="1" uiExpand="1" build="allAtOnce"/>
      <p:bldP spid="10" grpId="1" uiExpand="1" build="allAtOnce"/>
      <p:bldP spid="11" grpId="1" uiExpand="1" build="allAtOnce"/>
      <p:bldP spid="12" grpId="2" uiExpand="1" build="allAtOnce"/>
      <p:bldP spid="13" grpId="2" uiExpand="1" build="allAtOnce"/>
      <p:bldP spid="14" grpId="2" uiExpand="1" build="allAtOnce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ata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628" y="340000"/>
            <a:ext cx="58035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DM Sans"/>
              </a:rPr>
              <a:t>GOALS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628" y="544550"/>
            <a:ext cx="10820744" cy="15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1A1A1A"/>
                </a:solidFill>
                <a:latin typeface="Geist ExtraBold"/>
              </a:rPr>
              <a:t>Developer adoption converts to pipeline. Here's how we measure both.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628" y="1650000"/>
            <a:ext cx="10820744" cy="69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628" y="1650000"/>
            <a:ext cx="45000" cy="69000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628" y="1850000"/>
            <a:ext cx="248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Geist ExtraBold"/>
              </a:rPr>
              <a:t>Developer → pipeline attribution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5628" y="1850000"/>
            <a:ext cx="33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Geist"/>
              </a:rPr>
              <a:t>UTM + first-touch from day 1  ·  baseline by day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5628" y="1850000"/>
            <a:ext cx="454074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080"/>
                </a:solidFill>
                <a:latin typeface="Geist"/>
              </a:rPr>
              <a:t>Proves PMM contributes to revenue — miss the first 30 days, lose the attribution forever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628" y="2395000"/>
            <a:ext cx="10820744" cy="69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628" y="2395000"/>
            <a:ext cx="45000" cy="69000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628" y="2595000"/>
            <a:ext cx="248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Geist ExtraBold"/>
              </a:rPr>
              <a:t>Developer discoverability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5628" y="2595000"/>
            <a:ext cx="33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Geist"/>
              </a:rPr>
              <a:t>Top 3 for 3–5 key queries by Q3 (SEO + AEO)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5628" y="2595000"/>
            <a:ext cx="454074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080"/>
                </a:solidFill>
                <a:latin typeface="Geist"/>
              </a:rPr>
              <a:t>Discoverability gap is closing across Search and AI channels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628" y="3140000"/>
            <a:ext cx="10820744" cy="69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628" y="3140000"/>
            <a:ext cx="45000" cy="69000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628" y="3340000"/>
            <a:ext cx="248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Geist ExtraBold"/>
              </a:rPr>
              <a:t>Developer activation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5628" y="3340000"/>
            <a:ext cx="33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Geist"/>
              </a:rPr>
              <a:t>Funnel baseline → 20% improvement by 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85628" y="3340000"/>
            <a:ext cx="454074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080"/>
                </a:solidFill>
                <a:latin typeface="Geist"/>
              </a:rPr>
              <a:t>Evaluation journey is working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628" y="3885000"/>
            <a:ext cx="10820744" cy="69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628" y="3885000"/>
            <a:ext cx="45000" cy="69000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628" y="4085000"/>
            <a:ext cx="248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Geist ExtraBold"/>
              </a:rPr>
              <a:t>Time-to-first-API-call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5628" y="4085000"/>
            <a:ext cx="33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Geist"/>
              </a:rPr>
              <a:t>Under 15 min vs. Composio benchmark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5628" y="4085000"/>
            <a:ext cx="454074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080"/>
                </a:solidFill>
                <a:latin typeface="Geist"/>
              </a:rPr>
              <a:t>DX is competitive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628" y="4630000"/>
            <a:ext cx="10820744" cy="690000"/>
          </a:xfrm>
          <a:prstGeom prst="roundRect">
            <a:avLst/>
          </a:prstGeom>
          <a:solidFill>
            <a:srgbClr val="ECED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628" y="4630000"/>
            <a:ext cx="45000" cy="69000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628" y="4830000"/>
            <a:ext cx="248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Geist ExtraBold"/>
              </a:rPr>
              <a:t>Competitive win rate vs. Composio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85628" y="4830000"/>
            <a:ext cx="332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Geist"/>
              </a:rPr>
              <a:t>Track in CRM from day 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85628" y="4830000"/>
            <a:ext cx="454074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8080"/>
                </a:solidFill>
                <a:latin typeface="Geist"/>
              </a:rPr>
              <a:t>Messaging is landing in engineering conversations</a:t>
            </a:r>
          </a:p>
        </p:txBody>
      </p:sp>
    </p:spTree>
  </p:cSld>
  <p:clrMapOvr>
    <a:masterClrMapping/>
  </p:clrMapOvr>
  <p:timing>
    <p:tnLst>
      <p:par>
        <p:cTn id="256" dur="indefinite" restart="whenNotActive" nodeType="tmRoot">
          <p:childTnLst>
            <p:seq concurrent="1" nextAc="seek">
              <p:cTn id="257" dur="indefinite" nodeType="mainSeq">
                <p:childTnLst>
                  <p:par>
                    <p:cTn id="201" fill="hold">
                      <p:stCondLst>
                        <p:cond evt="onBegin" delay="indefinite"/>
                      </p:stCondLst>
                      <p:childTnLst>
                        <p:par>
                          <p:cTn id="202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3" dur="1" fill="hold"/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4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5" dur="1" fill="hold"/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6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7" dur="1" fill="hold"/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8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9" dur="1" fill="hold"/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0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1" dur="1" fill="hold"/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2" fill="hold">
                      <p:stCondLst>
                        <p:cond evt="onBegin" delay="indefinite"/>
                      </p:stCondLst>
                      <p:childTnLst>
                        <p:par>
                          <p:cTn id="213" presetID="1" presetClass="entr" presetSubtype="0" fill="hold" grpId="1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4" dur="1" fill="hold"/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5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6" dur="1" fill="hold"/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7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8" dur="1" fill="hold"/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9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0" dur="1" fill="hold"/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1" presetID="1" presetClass="entr" presetSubtype="0" fill="hold" grpId="1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2" dur="1" fill="hold"/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23" fill="hold">
                      <p:stCondLst>
                        <p:cond evt="onBegin" delay="indefinite"/>
                      </p:stCondLst>
                      <p:childTnLst>
                        <p:par>
                          <p:cTn id="224" presetID="1" presetClass="entr" presetSubtype="0" fill="hold" grpId="2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5" dur="1" fill="hold"/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6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7" dur="1" fill="hold"/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8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9" dur="1" fill="hold"/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30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1" dur="1" fill="hold"/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32" presetID="1" presetClass="entr" presetSubtype="0" fill="hold" grpId="2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3" dur="1" fill="hold"/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34" fill="hold">
                      <p:stCondLst>
                        <p:cond evt="onBegin" delay="indefinite"/>
                      </p:stCondLst>
                      <p:childTnLst>
                        <p:par>
                          <p:cTn id="235" presetID="1" presetClass="entr" presetSubtype="0" fill="hold" grpId="3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6" dur="1" fill="hold"/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37" presetID="1" presetClass="entr" presetSubtype="0" fill="hold" grpId="3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8" dur="1" fill="hold"/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39" presetID="1" presetClass="entr" presetSubtype="0" fill="hold" grpId="3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0" dur="1" fill="hold"/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41" presetID="1" presetClass="entr" presetSubtype="0" fill="hold" grpId="3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2" dur="1" fill="hold"/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43" presetID="1" presetClass="entr" presetSubtype="0" fill="hold" grpId="3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4" dur="1" fill="hold"/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5" fill="hold">
                      <p:stCondLst>
                        <p:cond evt="onBegin" delay="indefinite"/>
                      </p:stCondLst>
                      <p:childTnLst>
                        <p:par>
                          <p:cTn id="246" presetID="1" presetClass="entr" presetSubtype="0" fill="hold" grpId="4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7" dur="1" fill="hold"/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48" presetID="1" presetClass="entr" presetSubtype="0" fill="hold" grpId="4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9" dur="1" fill="hold"/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50" presetID="1" presetClass="entr" presetSubtype="0" fill="hold" grpId="4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1" dur="1" fill="hold"/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52" presetID="1" presetClass="entr" presetSubtype="0" fill="hold" grpId="4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3" dur="1" fill="hold"/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54" presetID="1" presetClass="entr" presetSubtype="0" fill="hold" grpId="4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5" dur="1" fill="hold"/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Begin" delay="indefinite"/>
              </p:prevCondLst>
            </p:seq>
          </p:childTnLst>
        </p:cTn>
      </p:par>
    </p:tnLst>
    <p:bldLst>
      <p:bldP spid="5" grpId="0" uiExpand="1" build="allAtOnce"/>
      <p:bldP spid="6" grpId="0" uiExpand="1" build="allAtOnce"/>
      <p:bldP spid="7" grpId="0" uiExpand="1" build="allAtOnce"/>
      <p:bldP spid="8" grpId="0" uiExpand="1" build="allAtOnce"/>
      <p:bldP spid="9" grpId="0" uiExpand="1" build="allAtOnce"/>
      <p:bldP spid="10" grpId="1" uiExpand="1" build="allAtOnce"/>
      <p:bldP spid="11" grpId="1" uiExpand="1" build="allAtOnce"/>
      <p:bldP spid="12" grpId="1" uiExpand="1" build="allAtOnce"/>
      <p:bldP spid="13" grpId="1" uiExpand="1" build="allAtOnce"/>
      <p:bldP spid="14" grpId="1" uiExpand="1" build="allAtOnce"/>
      <p:bldP spid="15" grpId="2" uiExpand="1" build="allAtOnce"/>
      <p:bldP spid="16" grpId="2" uiExpand="1" build="allAtOnce"/>
      <p:bldP spid="17" grpId="2" uiExpand="1" build="allAtOnce"/>
      <p:bldP spid="18" grpId="2" uiExpand="1" build="allAtOnce"/>
      <p:bldP spid="19" grpId="2" uiExpand="1" build="allAtOnce"/>
      <p:bldP spid="20" grpId="3" uiExpand="1" build="allAtOnce"/>
      <p:bldP spid="21" grpId="3" uiExpand="1" build="allAtOnce"/>
      <p:bldP spid="22" grpId="3" uiExpand="1" build="allAtOnce"/>
      <p:bldP spid="23" grpId="3" uiExpand="1" build="allAtOnce"/>
      <p:bldP spid="24" grpId="3" uiExpand="1" build="allAtOnce"/>
      <p:bldP spid="25" grpId="4" uiExpand="1" build="allAtOnce"/>
      <p:bldP spid="26" grpId="4" uiExpand="1" build="allAtOnce"/>
      <p:bldP spid="27" grpId="4" uiExpand="1" build="allAtOnce"/>
      <p:bldP spid="28" grpId="4" uiExpand="1" build="allAtOnce"/>
      <p:bldP spid="29" grpId="4" uiExpand="1" build="allAtOnce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67681" y="5400"/>
            <a:ext cx="4121400" cy="685800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data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628" y="580000"/>
            <a:ext cx="58035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DM Sans"/>
              </a:rPr>
              <a:t>THE ARTIFACTS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628" y="900000"/>
            <a:ext cx="58035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1A1A1A"/>
                </a:solidFill>
                <a:latin typeface="Geist ExtraBold"/>
              </a:rPr>
              <a:t>Built this week. Ready to use on day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628" y="2150000"/>
            <a:ext cx="5803500" cy="3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Geist"/>
              </a:rPr>
              <a:t>✓  Working demo — Claude agent querying enterprise data through CData MCP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628" y="2510000"/>
            <a:ext cx="5803500" cy="3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Geist"/>
              </a:rPr>
              <a:t>✓  DX audit — 6 friction points, root causes, and recommended fixes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628" y="2870000"/>
            <a:ext cx="5803500" cy="3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Geist"/>
              </a:rPr>
              <a:t>✓  Discoverability baseline — Search, AI, and Community channels documented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628" y="3300000"/>
            <a:ext cx="4800000" cy="34000"/>
          </a:xfrm>
          <a:prstGeom prst="rect">
            <a:avLst/>
          </a:prstGeom>
          <a:solidFill>
            <a:srgbClr val="D0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628" y="3460000"/>
            <a:ext cx="58035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Geist"/>
              </a:rPr>
              <a:t>That's what I'd share on day 30 — not a strategy deck. Data.
The goal is qualified pipeline Sales can close.</a:t>
            </a:r>
          </a:p>
        </p:txBody>
      </p:sp>
      <p:pic>
        <p:nvPicPr>
          <p:cNvPr id="11" name="Picture 10" descr="repo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5628" y="4350000"/>
            <a:ext cx="1250000" cy="125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85628" y="5660000"/>
            <a:ext cx="12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08080"/>
                </a:solidFill>
                <a:latin typeface="Geist"/>
              </a:rPr>
              <a:t>Scan for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628" y="4400000"/>
            <a:ext cx="265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Geist"/>
                <a:hlinkClick r:id="rId4"/>
              </a:rPr>
              <a:t>github.com/JoeKarlsson/connect-ai-agent-demo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628" y="4820000"/>
            <a:ext cx="265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Geist"/>
                <a:hlinkClick r:id="rId5"/>
              </a:rPr>
              <a:t>linkedin.com/in/joekarlsson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628" y="5240000"/>
            <a:ext cx="265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Geist"/>
                <a:hlinkClick r:id="rId6"/>
              </a:rPr>
              <a:t>joekarlsson.com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5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ata-logo-yel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2300000"/>
            <a:ext cx="12192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0" i="0">
                <a:solidFill>
                  <a:srgbClr val="1A1A1A"/>
                </a:solidFill>
                <a:latin typeface="Geist ExtraBold"/>
              </a:rPr>
              <a:t>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000000"/>
            <a:ext cx="12192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1A1A1A"/>
                </a:solidFill>
                <a:latin typeface="Geist"/>
                <a:hlinkClick r:id="rId3"/>
              </a:rPr>
              <a:t>github.com/JoeKarlsson/connect-ai-agent-demo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67681" y="5400"/>
            <a:ext cx="4121400" cy="685800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data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9706" y="260000"/>
            <a:ext cx="1406666" cy="38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628" y="2100000"/>
            <a:ext cx="58035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A1A1A"/>
                </a:solidFill>
                <a:latin typeface="Geist ExtraBold"/>
              </a:rPr>
              <a:t>Thank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628" y="3350000"/>
            <a:ext cx="58035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Geist ExtraBold"/>
              </a:rPr>
              <a:t>Joe Karlsson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628" y="3820000"/>
            <a:ext cx="58035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Geist"/>
                <a:hlinkClick r:id="rId3"/>
              </a:rPr>
              <a:t>linkedin.com/in/joekarlsson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628" y="4220000"/>
            <a:ext cx="58035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u="none">
                <a:solidFill>
                  <a:srgbClr val="1A1A1A"/>
                </a:solidFill>
                <a:latin typeface="Geist"/>
                <a:hlinkClick r:id="rId4"/>
              </a:rPr>
              <a:t>joekarlsson.com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628" y="4620000"/>
            <a:ext cx="58035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u="none">
                <a:solidFill>
                  <a:srgbClr val="1A1A1A"/>
                </a:solidFill>
                <a:latin typeface="Geist"/>
                <a:hlinkClick r:id="rId5"/>
              </a:rPr>
              <a:t>github.com/JoeKarlsson/connect-ai-agent-demo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nv0">
      <a:majorFont>
        <a:latin typeface="Geist"/>
        <a:ea typeface=""/>
        <a:cs typeface=""/>
      </a:majorFont>
      <a:minorFont>
        <a:latin typeface="Geis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nv0">
      <a:majorFont>
        <a:latin typeface="Geist"/>
        <a:ea typeface=""/>
        <a:cs typeface=""/>
      </a:majorFont>
      <a:minorFont>
        <a:latin typeface="Geis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